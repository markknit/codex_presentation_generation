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834"/>
  </p:normalViewPr>
  <p:slideViewPr>
    <p:cSldViewPr snapToGrid="0" snapToObjects="1">
      <p:cViewPr varScale="1">
        <p:scale>
          <a:sx n="60" d="100"/>
          <a:sy n="60" d="100"/>
        </p:scale>
        <p:origin x="432"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804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 WHAT IS A CELL? (80 minutes, double lesson)
PURPOSE OF THIS LESSON
Students learn the three ideas of cell theory and the difference between prokaryotic and eukaryotic cells. They start their own cell model (Version 1), which they will revise in later lessons. Everything links back to Amina’s healing finger from Lesson 1.
BEFORE CLASS (full checklist on hidden slide 3)
• Put the Lesson 1 Driving Question Board where everyone can see it.
• Print one set of 12 feature cards per group of four (print slide 13 and cut it up), or write the cards on paper.
• Diagrams: show slides 9–11, or print them on A3, or use the ARES resource cards.
• Coloured pencils: green, blue, red — at least one set per group.
• Sticky notes: yellow and green, one each per student. Star stickers, or students draw a star with a pen.
• Bring the Version 0 drawings back from Lesson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ONLY — HIDDEN SLIDE
HOW TO USE THE NOTES
Every slide has notes written for you, in the same order:
• TIME — how long to spend.
• DO — what to do, step by step.
• SAY — words you can read aloud. Change them to suit your class.
• WAIT TIME — how long to stay silent after a question.
• LOOK FOR — what to listen and look for. This is your formative assessment.
• IF… — what to do when students are stuck or something goes wrong.
• WHY THIS WORKS — the reason behind the strategy, so you can use it in other lessons too.
Tip: In PowerPoint, use Presenter View (Slide Show → Use Presenter View) so you can read these notes while students see only the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ONLY — HIDDEN SLIDE
RESOURCES FROM THE SCHEME OF WORK
Good matches for this lesson:
• “Prokaryotic and eukaryotic cells” (Khan Academy video). Good for you to watch before class, or to show at the start of the Explain phase.
• “Prokaryotic and Eukaryotic Cells” (CK-12 FlexBook reading) and “Prokaryotic and Eukaryotic Cells Practice” (CK-12).
• “The Cell Theory Practice” (CK-12) and “Introduction to cells” (Khan Academy exercise): good for homework.
Marked “not an exact match” — preview before use:
• “Organelles in eukaryotic cells” — better for Lessons 4–5.
• “Comparing animal and plant cells” — better for Lesson 5.
• “Endosymbiosis theory” — beyond this lesson. Do not use it today.
Click a button to open the resource in ARES. If a button does not open, search ARES for the title.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DO
• Point to Lesson 1 (done) and Lesson 2 (today). Read the driving question aloud together.
SAY
• “Last lesson we asked questions. Today we start to find answers — beginning with the most basic question of all: what is a cell?”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DO
• Read the goals. Students copy the key words into their notebooks (they can finish this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PHASE (8 minutes total)
TIME: 5 minutes
DO
• Have this slide showing as students come in.
• 3 minutes of silent writing. Then 90 seconds of pair-share.
SAY
• “Before we learn anything new today, I want you to predict. Look at Amina’s finger. All those different cells working together — what do you think every single one of them has in common? Write three sentences starting with: I think all cells share… because…”
WAIT TIME
• Do not speak for the full 3 minutes.
LOOK FOR (formative check)
• Do students mention a membrane? Genetic material (DNA)? A “control centre”?
• Common misconception: “all cells have a nucleus”. Note it — today’s lesson will challenge it.
• Note any student who writes “I don’t know”. Support them in the Observe phase.
WHY THIS WORKS
• When students commit to a prediction BEFORE instruction, they want to find out if they were right. They pay closer attention to evidence that supports or challenges their idea.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DO
• Cold-call 3 pairs. Choose a mix — not only raised hands.
• Write their key words on the board in a column headed OUR PREDICTIONS. Keep it up all lesson.
• Do not correct errors.
SAY
• “Pair at the window table — what did you agree on?”
• After each answer: “Interesting — let’s hold that idea and test it today.”
LOOK FOR (formative check)
• Which ideas are common? You will return to this column at the end of the Explain phase and ask: “Which of our predictions were supported?”
WHY THIS WORKS
• Writing predictions publicly creates accountability: students want to check their own words against the evidence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 PHASE (40 minutes total: A 12 min, B 18 min, C 10 min)
TIME: Part A — 12 minutes
DO
• Sketch a simple kitchen on the board as you talk.
• Groups of four copy the two-column Analogy Mapping Table into their notebooks: Kitchen feature → Cell feature.
• Ask the membrane question on the slide. Wait. Cold-call 2 students.
• Groups complete the rest of the table (6–7 minutes). Then take answers.
SAY
• “Every kitchen in Nairobi — whether in a Kibera home or a Westlands restaurant — has these basics. But the kitchen in a hospital canteen is set up differently from a home kitchen in Kericho. Same tools, different arrangement, different job. That is exactly what we will discover about cells.”
• Ask: “Which part of the kitchen is like the cell membrane — the thing that controls what comes in and out?”
WAIT TIME
• 12 seconds after the membrane question.
LOOK FOR (formative check)
• Check two tables per group. Aim for at least 5 sensible mappings per table.
IF…
• If a group gives a different mapping with a good reason, accept it. The reasoning matters more than one “right” match.
WHY THIS WORKS
• An analogy links new words to something students know well, so the new vocabulary is easier to hold in mind. Finish by asking: “Where does this analogy break down?” (For example: a kitchen cannot make a copy of itself, but a cell can divide.) Discussing the limits of an analogy is itself good science thinking.
ANSWER KEY
• Walls and door → cell membrane (controls what goes in and out)
• Recipe book → DNA, kept in the nucleus (the instructions)
• Jiko (stove) → mitochondria (release energy)
• Sufuria, mwiko, chopping board → other organelles (each tool has its own job)
• Space where the cook works → cytoplasm (where the work happens)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Part B — 18 minutes for slides 9–12
DO
• Show the three diagrams (slides 9–11), or hand out the A3 sheets or ARES resource cards.
• Students study the diagrams, then read about cell theory and fill in the Evidence Table (slide 12).
NOTE: These diagrams are simplified, labelled drawings. Ribosomes are shown as small black dots in all three cells.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
• Keep this diagram up while students work, or let them flip between slides 9–11.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
• Keep this diagram up while students work, or let them flip between slides 9–11.
The flagellum and plasmid are features of many bacteria. Students do not need to learn them today; they will see a flagellum again on sperm cells in Lesson 8.</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continues Part B
DO
• Students copy the table, read about the three scientists (ARES reading, textbook or printed text), and fill it in.
• Circulate. Use the prompt below with students who are stuck on the last column.
SAY
• “You will now read about three scientists — Schleiden, Schwann and Virchow — who each added one piece to the cell theory puzzle. As you read, fill in your Evidence Table. Most importantly: for each scientist, write one sentence connecting their idea to Amina’s healing finger.”
• Prompt: “Virchow said all cells come from pre-existing cells — how does that explain where the new skin cells on Amina’s finger came from?”
WAIT TIME
• 10 seconds after each prompt before you help.
LOOK FOR (formative check)
• Every row should have a completed last column. A blank last column means the student cannot yet connect the theory to the phenomenon — support them now.
ANSWER KEY
• Schleiden — Germany, 1838 (botanist) — all plants are made of cells. → Amina is a living thing, so her finger is made of cells too.
• Schwann — Germany, 1839 (studied animals) — animals are made of cells too; the cell is the basic unit of living things. → Her skin and blood are made of cells.
• Virchow — Germany, 1855 (doctor) — all cells come from pre-existing cells (“Omnis cellula e cellula”). → The new skin cells came from existing skin cells near the cut dividing.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Part C — 10 minutes (8 minutes sorting + 2 minutes on the next slide)
DO
• Each group of four gets one set of 12 cards. (Print this slide and cut along the dashed lines, or copy the cards onto paper.)
• Groups sort the cards into two columns on their desk: PROKARYOTE and EUKARYOTE.
• Groups photograph or sketch their sort.
• Some cards belong in BOTH columns. Do not tell groups this. Let them argue. If a group asks “can a card go in both?”, answer: “What does your evidence say?”
SAY
• “Sort these into Prokaryote or Eukaryote. You have 8 minutes. Be ready to justify every card.”
LOOK FOR (formative check)
• Which cards are misplaced across many groups? “Has ribosomes” is the most common error (usually put under Eukaryote only). Note the errors — they are the focus of your Explain teaching.
WHY THIS WORKS
• Physically moving cards makes thinking visible. When group members disagree about a card, they have to explain their reasoning to each other — that talk is where the learning happens.
ANSWER KEY
• PROKARYOTE only: DNA floats freely in the cytoplasm; Found in bacteria; Usually 1–5 micrometres long; DNA is one loop (circular).
• EUKARYOTE only: Has a nucleus; Has mitochondria; Has organelles with membranes around them; Usually 10–100 micrometres across; Found in plants, animals and fungi.
• BOTH: Has ribosomes; Has a cell membrane; Has cytoplasm.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DO
• Cold-call one group per card. Ask for their reason, then ask another group if they agree.
• Do not give the answer yet — you will settle it in the Explain phase with the diagrams.
SAY
• “Group by the door — where did you put ‘Has ribosomes’, and why?”
LOOK FOR (formative check)
• How many groups put “Has ribosomes” in Eukaryote only? Start your Explain teaching there.
WHY THIS WORKS
• This is a quick formative check: you find out what the whole class thinks before you teach, so your teaching targets the real misconceptions.
ANSWER KEY
• Ribosomes: BOTH. Cell membrane: BOTH. DNA floats freely: PROKARYOTE only.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PHASE (16 minutes total)
TIME: 3 minutes
DO
• Students write the three ideas word for word in their notebooks.
• Link each scientist back to their Evidence Table.
SAY
• “These three ideas apply to every living thing — a bean plant, a bacterium, and Amina. Idea 3 is the one that explains how her finger healed.”
WHY THIS WORKS
• Now — after students have predicted, read and sorted — is the right time for direct teaching. Students have questions in their heads, so the explanation answers something they want to know.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DO
• Start with the card-sort error you saw most often (usually ribosomes).
• Point to the ribosomes (black dots) on the bacterium diagram (slide 11), then on the animal cell (slide 9).
• Go through each row of the table.
SAY
• “Let me address what I saw during the card sort. Ribosomes — almost every group put these under Eukaryote only. Let’s look at the diagram together… Ribosomes are actually present in BOTH. This matters — it means even the simplest bacteria can make proteins. That’s why bacteria in an infected wound can be so dangerous.”
LOOK FOR (formative check)
• Go back to the OUR PREDICTIONS column from slide 7: “Was ‘all cells have a nucleus’ supported? What is our evidence?”
WHY THIS WORKS
• You correct misconceptions using evidence the students have already seen, not just by telling them. This is how the Explain phase differs from a lecture.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(students finish while you circulate)
DO
• Students colour the labels on their diagrams (A3 sheets, ARES cards, or their own copies).
• Circulate. Check ribosomes are GREEN (not blue).
LOOK FOR (formative check)
• Ribosomes GREEN; nucleus BLUE; chloroplasts and large vacuole RED; cell wall RED on the plant cell, with a star on the bacterium. Fix individual errors as you circulate.
WHY THIS WORKS
• Colour-coding turns looking at a diagram into sorting it. The patterns (what is shared, what is unique) become visible and easier to remember.
ANSWER KEY
• GREEN (both): cell membrane, cytoplasm, ribosomes, DNA.
• BLUE (eukaryotes only): nucleus, mitochondria, endoplasmic reticulum, Golgi body, lysosome.
• RED (plant cells only): chloroplast, large central vacuole, cell wall (★ bacteria also have a wall, made of a different material; fungi have walls too).
• Plasmid and flagellum (on the bacterium): leave uncoloured. Note: some eukaryotic cells also have a flagellum — students will meet the sperm cell in Lesson 8.</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DO
• 8 minutes of silent writing. Circulate.
• Then cold-call 2 students to read their paragraph aloud.
• After each one, ask the class to show thumbs up/down.
• Collect 6 notebooks (two from each ability group) to read after class.
SAY
• “Your CLAIM answers: How did Amina’s body make new skin cells? Your EVIDENCE comes from Virchow. Your REASONING explains the mechanism.”
• If a student is stuck: “What did Virchow say about where new cells come from? Start there.”
• After reading aloud: “Thumbs up if their reasoning clearly connects cell theory to Amina’s finger.”
LOOK FOR (formative check)
• A clear CLAIM sentence.
• At least one piece of EVIDENCE that names a scientist or an idea of cell theory.
• A REASONING sentence using “because” or “therefore” that connects to Amina’s healing.
WHY THIS WORKS
• CER moves students from repeating facts (“Virchow said…”) to using them to explain something real (“therefore Amina’s body could…”). Explaining is the core skill of this whole unit.
ANSWER KEY
• Example: “Amina’s body made new skin cells when existing skin cells near the cut divided. Virchow found that all cells come from cells that already exist. Therefore the new skin cells could not appear from nothing; they were made when the skin cells around the cut divided to fill the gap. This is why the cut closed with new skin over a few days.”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QUESTION BOARD (4 minutes)
TIME: 4 minutes
DO
• Read the driving question aloud together.
• Hand out yellow and green sticky notes. 4 minutes of silent reflection, then students post.
• Read 3–4 notes aloud. Do not say who wrote them.
• After class: photograph the board.
SAY
• “Look at our Driving Question Board. Has today’s lesson answered any of the questions we put up in Lesson 1? If so, put a star on it. Then write your own note — either a new question or a sentence that shows your thinking has grown.”
• If someone asks where the FIRST cell came from: “That is a brilliant scientific question that researchers still study.”
• Close: “We still haven’t answered the big one. Hold it. We’ll get there.”
LOOK FOR (formative check)
• Every student posts at least one note. No note may mean disengagement or confusion — follow up.
• Check green notes for accuracy. A note like “I now understand that all cells are the same” is a misconception to fix at the start of Lesson 3.
• Count yellow vs green notes. Many more yellow than green? Plan a short review before Lesson 3.
WHY THIS WORKS
• The board shows students their thinking growing. The ratio of questions to understandings is a quick signal for you about the whole class.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BUILDING PHASE (12 minutes)
TIME: 12 minutes (10 drawing + 2 partner share)
DO
• Students work silently and alone. Show the checklist.
• Circulate and comment on what you see, using names.
• In the last 2 minutes, partners read each other’s limitation statements.
• Collect the models at the end (or photograph them) and return them next lesson.
SAY
• “Every scientist who studies cells uses models. Models are never perfect — but they capture what we know right now. Today you will draw Version 1 of YOUR cell model. By Lesson 12, this same page will be full of revisions, additions, and corrections. That’s what science looks like.”
• While circulating: “I see Wanjiku has labelled the mitochondria and written that it produces energy — excellent. I see Otieno has drawn a cell wall on an animal cell — let’s check: do animal cells have cell walls?”
• Last 2 minutes: “Read your partner’s limitation. Do you agree those are real gaps? Add one of their gaps to your own list if you hadn’t thought of it.”
WAIT TIME
• 10 seconds after you point out an error, so the student can correct it themselves.
LOOK FOR (formative check)
• All 8 labels? If not, prompt without telling: “Count your labels — how many do you have?”
• Key sentences must give structure AND function. “Nucleus: it’s in the middle” is not enough — prompt for the job.
• At least 2 honest gaps in the limitation statement (e.g. “I don’t know how the membrane decides what to let in”).
WHY THIS WORKS
• A dated model that students revise (not replace) becomes a record of their own learning. Writing what the model CANNOT yet explain stops students thinking they are “finished”, and gives them reasons to keep investigating.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at the end, or as homework
ANSWER KEY
• Observe: Labelled diagrams of animal, plant and prokaryotic cells; the prokaryote/eukaryote card sort; the ugali-kitchen analogy.
• Learn: The three ideas of cell theory (all living things are made of cells; the cell is the basic unit of life; all cells come from pre-existing cells) and the work of Schleiden, Schwann and Virchow. Prokaryotes have no nucleus and no membrane-bound organelles; eukaryotes have both.
• Explain: Virchow’s idea that all cells come from existing cells explains how new skin cells were made to heal Amina’s finger.
TEACHER REFLECTION (after the lesson)
1. Which card-sort features were most often misplaced? Does your Lesson 3 plan address them?
2. In the 6 CER paragraphs you collected, did students link Virchow directly to new skin cells, or write generally about cells? If generally, plan a 5-minute CER revisit at the start of Lesson 3.
3. Yellow vs green notes: if questions far outnumber understandings, consolidate before Lesson 3.
4. In the Version 1 models: are animal cells drawn with cell walls? Is the nucleus shown with a membrane? Plan your Lesson 3 opening around the patterns.
5. Wait time: did you hold the full 10–12 seconds, or answer for students? Longer wait time gives fuller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ares.local/REPLACE-WITH-REAL-ARES-LINK" TargetMode="External"/><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731520" y="1005840"/>
            <a:ext cx="7589520" cy="365760"/>
          </a:xfrm>
          <a:prstGeom prst="rect">
            <a:avLst/>
          </a:prstGeom>
          <a:noFill/>
          <a:ln/>
        </p:spPr>
        <p:txBody>
          <a:bodyPr wrap="square" lIns="0" tIns="0" rIns="0" bIns="0" rtlCol="0" anchor="ctr"/>
          <a:lstStyle/>
          <a:p>
            <a:pPr marL="0" indent="0">
              <a:buNone/>
            </a:pPr>
            <a:r>
              <a:rPr lang="en-US" sz="1300" b="1" kern="0" spc="150" dirty="0">
                <a:solidFill>
                  <a:srgbClr val="D7DF23"/>
                </a:solidFill>
                <a:latin typeface="Calibri" pitchFamily="34" charset="0"/>
                <a:ea typeface="Calibri" pitchFamily="34" charset="-122"/>
                <a:cs typeface="Calibri" pitchFamily="34" charset="-120"/>
              </a:rPr>
              <a:t>GRADE 10 BIOLOGY  ·  CELL STRUCTURE  ·  LESSON 2 OF 12  ·  80 MINUTES</a:t>
            </a:r>
            <a:endParaRPr lang="en-US" sz="1300" dirty="0"/>
          </a:p>
        </p:txBody>
      </p:sp>
      <p:sp>
        <p:nvSpPr>
          <p:cNvPr id="3" name="Text 1"/>
          <p:cNvSpPr txBox="1"/>
          <p:nvPr/>
        </p:nvSpPr>
        <p:spPr>
          <a:xfrm>
            <a:off x="731520" y="1554480"/>
            <a:ext cx="7132320" cy="1828800"/>
          </a:xfrm>
          <a:prstGeom prst="rect">
            <a:avLst/>
          </a:prstGeom>
          <a:noFill/>
          <a:ln/>
        </p:spPr>
        <p:txBody>
          <a:bodyPr wrap="square" lIns="0" tIns="0" rIns="0" bIns="0" rtlCol="0" anchor="t"/>
          <a:lstStyle/>
          <a:p>
            <a:pPr marL="0" indent="0">
              <a:buNone/>
            </a:pPr>
            <a:r>
              <a:rPr lang="en-US" sz="5000" b="1" dirty="0">
                <a:solidFill>
                  <a:srgbClr val="FFFFFF"/>
                </a:solidFill>
                <a:latin typeface="Calibri" pitchFamily="34" charset="0"/>
                <a:ea typeface="Calibri" pitchFamily="34" charset="-122"/>
                <a:cs typeface="Calibri" pitchFamily="34" charset="-120"/>
              </a:rPr>
              <a:t>What Is a Cell?</a:t>
            </a:r>
            <a:endParaRPr lang="en-US" sz="5000" dirty="0"/>
          </a:p>
        </p:txBody>
      </p:sp>
      <p:sp>
        <p:nvSpPr>
          <p:cNvPr id="4" name="Text 2"/>
          <p:cNvSpPr txBox="1"/>
          <p:nvPr/>
        </p:nvSpPr>
        <p:spPr>
          <a:xfrm>
            <a:off x="731520" y="3520440"/>
            <a:ext cx="6858000" cy="1188720"/>
          </a:xfrm>
          <a:prstGeom prst="rect">
            <a:avLst/>
          </a:prstGeom>
          <a:noFill/>
          <a:ln/>
        </p:spPr>
        <p:txBody>
          <a:bodyPr wrap="square" lIns="0" tIns="0" rIns="0" bIns="0" rtlCol="0" anchor="t"/>
          <a:lstStyle/>
          <a:p>
            <a:pPr marL="0" indent="0">
              <a:buNone/>
            </a:pPr>
            <a:r>
              <a:rPr lang="en-US" sz="2000" dirty="0">
                <a:solidFill>
                  <a:srgbClr val="C8CBD2"/>
                </a:solidFill>
                <a:latin typeface="Calibri" pitchFamily="34" charset="0"/>
                <a:ea typeface="Calibri" pitchFamily="34" charset="-122"/>
                <a:cs typeface="Calibri" pitchFamily="34" charset="-120"/>
              </a:rPr>
              <a:t>Introduction to cell theory — and what ALL cells have in common.</a:t>
            </a:r>
            <a:endParaRPr lang="en-US" sz="2000" dirty="0"/>
          </a:p>
        </p:txBody>
      </p:sp>
      <p:sp>
        <p:nvSpPr>
          <p:cNvPr id="5" name="Text 3"/>
          <p:cNvSpPr txBox="1"/>
          <p:nvPr/>
        </p:nvSpPr>
        <p:spPr>
          <a:xfrm>
            <a:off x="8595360" y="1005840"/>
            <a:ext cx="3017520" cy="365760"/>
          </a:xfrm>
          <a:prstGeom prst="rect">
            <a:avLst/>
          </a:prstGeom>
          <a:noFill/>
          <a:ln/>
        </p:spPr>
        <p:txBody>
          <a:bodyPr wrap="square" lIns="0" tIns="0" rIns="0" bIns="0" rtlCol="0" anchor="ctr"/>
          <a:lstStyle/>
          <a:p>
            <a:pPr marL="0" indent="0">
              <a:buNone/>
            </a:pPr>
            <a:r>
              <a:rPr lang="en-US" sz="1200" b="1" kern="0" spc="300" dirty="0">
                <a:solidFill>
                  <a:srgbClr val="A0A4AD"/>
                </a:solidFill>
                <a:latin typeface="Calibri" pitchFamily="34" charset="0"/>
                <a:ea typeface="Calibri" pitchFamily="34" charset="-122"/>
                <a:cs typeface="Calibri" pitchFamily="34" charset="-120"/>
              </a:rPr>
              <a:t>TODAY’S LESSON</a:t>
            </a:r>
            <a:endParaRPr lang="en-US" sz="1200" dirty="0"/>
          </a:p>
        </p:txBody>
      </p:sp>
      <p:sp>
        <p:nvSpPr>
          <p:cNvPr id="6" name="Shape 4"/>
          <p:cNvSpPr/>
          <p:nvPr/>
        </p:nvSpPr>
        <p:spPr>
          <a:xfrm>
            <a:off x="8595360" y="1554480"/>
            <a:ext cx="420624" cy="420624"/>
          </a:xfrm>
          <a:prstGeom prst="ellipse">
            <a:avLst/>
          </a:prstGeom>
          <a:solidFill>
            <a:srgbClr val="47C6E4"/>
          </a:solidFill>
          <a:ln w="12700">
            <a:solidFill>
              <a:srgbClr val="47C6E4"/>
            </a:solidFill>
            <a:prstDash val="solid"/>
          </a:ln>
        </p:spPr>
        <p:txBody>
          <a:bodyPr/>
          <a:lstStyle/>
          <a:p>
            <a:endParaRPr lang="en-US"/>
          </a:p>
        </p:txBody>
      </p:sp>
      <p:sp>
        <p:nvSpPr>
          <p:cNvPr id="7" name="Text 5"/>
          <p:cNvSpPr txBox="1"/>
          <p:nvPr/>
        </p:nvSpPr>
        <p:spPr>
          <a:xfrm>
            <a:off x="9189720" y="1554480"/>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Predict</a:t>
            </a:r>
            <a:endParaRPr lang="en-US" sz="2000" dirty="0"/>
          </a:p>
        </p:txBody>
      </p:sp>
      <p:sp>
        <p:nvSpPr>
          <p:cNvPr id="8" name="Shape 6"/>
          <p:cNvSpPr/>
          <p:nvPr/>
        </p:nvSpPr>
        <p:spPr>
          <a:xfrm>
            <a:off x="8595360" y="2212848"/>
            <a:ext cx="420624" cy="420624"/>
          </a:xfrm>
          <a:prstGeom prst="ellipse">
            <a:avLst/>
          </a:prstGeom>
          <a:solidFill>
            <a:srgbClr val="D7DF23"/>
          </a:solidFill>
          <a:ln w="12700">
            <a:solidFill>
              <a:srgbClr val="D7DF23"/>
            </a:solidFill>
            <a:prstDash val="solid"/>
          </a:ln>
        </p:spPr>
        <p:txBody>
          <a:bodyPr/>
          <a:lstStyle/>
          <a:p>
            <a:endParaRPr lang="en-US"/>
          </a:p>
        </p:txBody>
      </p:sp>
      <p:sp>
        <p:nvSpPr>
          <p:cNvPr id="9" name="Text 7"/>
          <p:cNvSpPr txBox="1"/>
          <p:nvPr/>
        </p:nvSpPr>
        <p:spPr>
          <a:xfrm>
            <a:off x="9189720" y="2212848"/>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Observe</a:t>
            </a:r>
            <a:endParaRPr lang="en-US" sz="2000" dirty="0"/>
          </a:p>
        </p:txBody>
      </p:sp>
      <p:sp>
        <p:nvSpPr>
          <p:cNvPr id="10" name="Shape 8"/>
          <p:cNvSpPr/>
          <p:nvPr/>
        </p:nvSpPr>
        <p:spPr>
          <a:xfrm>
            <a:off x="8595360" y="2871216"/>
            <a:ext cx="420624" cy="420624"/>
          </a:xfrm>
          <a:prstGeom prst="ellipse">
            <a:avLst/>
          </a:prstGeom>
          <a:solidFill>
            <a:srgbClr val="CF128C"/>
          </a:solidFill>
          <a:ln w="12700">
            <a:solidFill>
              <a:srgbClr val="CF128C"/>
            </a:solidFill>
            <a:prstDash val="solid"/>
          </a:ln>
        </p:spPr>
        <p:txBody>
          <a:bodyPr/>
          <a:lstStyle/>
          <a:p>
            <a:endParaRPr lang="en-US"/>
          </a:p>
        </p:txBody>
      </p:sp>
      <p:sp>
        <p:nvSpPr>
          <p:cNvPr id="11" name="Text 9"/>
          <p:cNvSpPr txBox="1"/>
          <p:nvPr/>
        </p:nvSpPr>
        <p:spPr>
          <a:xfrm>
            <a:off x="9189720" y="2871216"/>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Explain</a:t>
            </a:r>
            <a:endParaRPr lang="en-US" sz="2000" dirty="0"/>
          </a:p>
        </p:txBody>
      </p:sp>
      <p:sp>
        <p:nvSpPr>
          <p:cNvPr id="12" name="Shape 10"/>
          <p:cNvSpPr/>
          <p:nvPr/>
        </p:nvSpPr>
        <p:spPr>
          <a:xfrm>
            <a:off x="8595360" y="3529584"/>
            <a:ext cx="420624" cy="420624"/>
          </a:xfrm>
          <a:prstGeom prst="ellipse">
            <a:avLst/>
          </a:prstGeom>
          <a:solidFill>
            <a:srgbClr val="FCBA63"/>
          </a:solidFill>
          <a:ln w="12700">
            <a:solidFill>
              <a:srgbClr val="FCBA63"/>
            </a:solidFill>
            <a:prstDash val="solid"/>
          </a:ln>
        </p:spPr>
        <p:txBody>
          <a:bodyPr/>
          <a:lstStyle/>
          <a:p>
            <a:endParaRPr lang="en-US"/>
          </a:p>
        </p:txBody>
      </p:sp>
      <p:sp>
        <p:nvSpPr>
          <p:cNvPr id="13" name="Text 11"/>
          <p:cNvSpPr txBox="1"/>
          <p:nvPr/>
        </p:nvSpPr>
        <p:spPr>
          <a:xfrm>
            <a:off x="9189720" y="3529584"/>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Question Board</a:t>
            </a:r>
            <a:endParaRPr lang="en-US" sz="2000" dirty="0"/>
          </a:p>
        </p:txBody>
      </p:sp>
      <p:sp>
        <p:nvSpPr>
          <p:cNvPr id="14" name="Shape 12"/>
          <p:cNvSpPr/>
          <p:nvPr/>
        </p:nvSpPr>
        <p:spPr>
          <a:xfrm>
            <a:off x="8595360" y="4187952"/>
            <a:ext cx="420624" cy="420624"/>
          </a:xfrm>
          <a:prstGeom prst="ellipse">
            <a:avLst/>
          </a:prstGeom>
          <a:solidFill>
            <a:srgbClr val="E44145"/>
          </a:solidFill>
          <a:ln w="12700">
            <a:solidFill>
              <a:srgbClr val="E44145"/>
            </a:solidFill>
            <a:prstDash val="solid"/>
          </a:ln>
        </p:spPr>
        <p:txBody>
          <a:bodyPr/>
          <a:lstStyle/>
          <a:p>
            <a:endParaRPr lang="en-US"/>
          </a:p>
        </p:txBody>
      </p:sp>
      <p:sp>
        <p:nvSpPr>
          <p:cNvPr id="15" name="Text 13"/>
          <p:cNvSpPr txBox="1"/>
          <p:nvPr/>
        </p:nvSpPr>
        <p:spPr>
          <a:xfrm>
            <a:off x="9189720" y="4187952"/>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Model Building</a:t>
            </a:r>
            <a:endParaRPr lang="en-US" sz="2000" dirty="0"/>
          </a:p>
        </p:txBody>
      </p:sp>
      <p:sp>
        <p:nvSpPr>
          <p:cNvPr id="16" name="Text 14"/>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17" name="Shape 15"/>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19" name="Shape 16"/>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0"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3236976"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3236976"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How these lessons work: one routine, five phases</a:t>
            </a:r>
            <a:endParaRPr lang="en-US" sz="3400" dirty="0"/>
          </a:p>
        </p:txBody>
      </p:sp>
      <p:sp>
        <p:nvSpPr>
          <p:cNvPr id="5" name="Text 3"/>
          <p:cNvSpPr txBox="1"/>
          <p:nvPr/>
        </p:nvSpPr>
        <p:spPr>
          <a:xfrm>
            <a:off x="548640" y="1508760"/>
            <a:ext cx="9144000" cy="320040"/>
          </a:xfrm>
          <a:prstGeom prst="rect">
            <a:avLst/>
          </a:prstGeom>
          <a:noFill/>
          <a:ln/>
        </p:spPr>
        <p:txBody>
          <a:bodyPr wrap="square" lIns="0" tIns="0" rIns="0" bIns="0" rtlCol="0" anchor="ctr"/>
          <a:lstStyle/>
          <a:p>
            <a:pPr marL="0" indent="0">
              <a:buNone/>
            </a:pPr>
            <a:r>
              <a:rPr lang="en-US" sz="1400" i="1" dirty="0">
                <a:solidFill>
                  <a:srgbClr val="5B6172"/>
                </a:solidFill>
                <a:latin typeface="Calibri" pitchFamily="34" charset="0"/>
                <a:ea typeface="Calibri" pitchFamily="34" charset="-122"/>
                <a:cs typeface="Calibri" pitchFamily="34" charset="-120"/>
              </a:rPr>
              <a:t>This slide is hidden. It will not show when you present.</a:t>
            </a:r>
            <a:endParaRPr lang="en-US" sz="1400" dirty="0"/>
          </a:p>
        </p:txBody>
      </p:sp>
      <p:sp>
        <p:nvSpPr>
          <p:cNvPr id="6" name="Shape 4"/>
          <p:cNvSpPr/>
          <p:nvPr/>
        </p:nvSpPr>
        <p:spPr>
          <a:xfrm>
            <a:off x="548640" y="2011680"/>
            <a:ext cx="2286000" cy="548640"/>
          </a:xfrm>
          <a:prstGeom prst="roundRect">
            <a:avLst>
              <a:gd name="adj" fmla="val 20000"/>
            </a:avLst>
          </a:prstGeom>
          <a:solidFill>
            <a:srgbClr val="47C6E4"/>
          </a:solidFill>
          <a:ln w="12700">
            <a:solidFill>
              <a:srgbClr val="47C6E4"/>
            </a:solidFill>
            <a:prstDash val="solid"/>
          </a:ln>
        </p:spPr>
        <p:txBody>
          <a:bodyPr/>
          <a:lstStyle/>
          <a:p>
            <a:endParaRPr lang="en-US"/>
          </a:p>
        </p:txBody>
      </p:sp>
      <p:sp>
        <p:nvSpPr>
          <p:cNvPr id="7" name="Text 5"/>
          <p:cNvSpPr txBox="1"/>
          <p:nvPr/>
        </p:nvSpPr>
        <p:spPr>
          <a:xfrm>
            <a:off x="548640" y="2011680"/>
            <a:ext cx="2286000" cy="548640"/>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Predict</a:t>
            </a:r>
            <a:endParaRPr lang="en-US" sz="1500" dirty="0"/>
          </a:p>
        </p:txBody>
      </p:sp>
      <p:sp>
        <p:nvSpPr>
          <p:cNvPr id="8" name="Text 6"/>
          <p:cNvSpPr txBox="1"/>
          <p:nvPr/>
        </p:nvSpPr>
        <p:spPr>
          <a:xfrm>
            <a:off x="3017520" y="2011680"/>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Students write their own idea BEFORE anyone teaches. Writing first gives every student a starting point.</a:t>
            </a:r>
            <a:endParaRPr lang="en-US" sz="1350" dirty="0"/>
          </a:p>
        </p:txBody>
      </p:sp>
      <p:sp>
        <p:nvSpPr>
          <p:cNvPr id="9" name="Shape 7"/>
          <p:cNvSpPr/>
          <p:nvPr/>
        </p:nvSpPr>
        <p:spPr>
          <a:xfrm>
            <a:off x="548640" y="2724912"/>
            <a:ext cx="2286000" cy="548640"/>
          </a:xfrm>
          <a:prstGeom prst="roundRect">
            <a:avLst>
              <a:gd name="adj" fmla="val 20000"/>
            </a:avLst>
          </a:prstGeom>
          <a:solidFill>
            <a:srgbClr val="D7DF23"/>
          </a:solidFill>
          <a:ln w="12700">
            <a:solidFill>
              <a:srgbClr val="D7DF23"/>
            </a:solidFill>
            <a:prstDash val="solid"/>
          </a:ln>
        </p:spPr>
        <p:txBody>
          <a:bodyPr/>
          <a:lstStyle/>
          <a:p>
            <a:endParaRPr lang="en-US"/>
          </a:p>
        </p:txBody>
      </p:sp>
      <p:sp>
        <p:nvSpPr>
          <p:cNvPr id="10" name="Text 8"/>
          <p:cNvSpPr txBox="1"/>
          <p:nvPr/>
        </p:nvSpPr>
        <p:spPr>
          <a:xfrm>
            <a:off x="548640" y="2724912"/>
            <a:ext cx="2286000" cy="548640"/>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Observe</a:t>
            </a:r>
            <a:endParaRPr lang="en-US" sz="1500" dirty="0"/>
          </a:p>
        </p:txBody>
      </p:sp>
      <p:sp>
        <p:nvSpPr>
          <p:cNvPr id="11" name="Text 9"/>
          <p:cNvSpPr txBox="1"/>
          <p:nvPr/>
        </p:nvSpPr>
        <p:spPr>
          <a:xfrm>
            <a:off x="3017520" y="2724912"/>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Students look at evidence: a story, pictures, diagrams, a practical. They record what they see.</a:t>
            </a:r>
            <a:endParaRPr lang="en-US" sz="1350" dirty="0"/>
          </a:p>
        </p:txBody>
      </p:sp>
      <p:sp>
        <p:nvSpPr>
          <p:cNvPr id="12" name="Shape 10"/>
          <p:cNvSpPr/>
          <p:nvPr/>
        </p:nvSpPr>
        <p:spPr>
          <a:xfrm>
            <a:off x="548640" y="3438144"/>
            <a:ext cx="2286000" cy="548640"/>
          </a:xfrm>
          <a:prstGeom prst="roundRect">
            <a:avLst>
              <a:gd name="adj" fmla="val 20000"/>
            </a:avLst>
          </a:prstGeom>
          <a:solidFill>
            <a:srgbClr val="CF128C"/>
          </a:solidFill>
          <a:ln w="12700">
            <a:solidFill>
              <a:srgbClr val="CF128C"/>
            </a:solidFill>
            <a:prstDash val="solid"/>
          </a:ln>
        </p:spPr>
        <p:txBody>
          <a:bodyPr/>
          <a:lstStyle/>
          <a:p>
            <a:endParaRPr lang="en-US"/>
          </a:p>
        </p:txBody>
      </p:sp>
      <p:sp>
        <p:nvSpPr>
          <p:cNvPr id="13" name="Text 11"/>
          <p:cNvSpPr txBox="1"/>
          <p:nvPr/>
        </p:nvSpPr>
        <p:spPr>
          <a:xfrm>
            <a:off x="548640" y="3438144"/>
            <a:ext cx="22860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Explain</a:t>
            </a:r>
            <a:endParaRPr lang="en-US" sz="1500" dirty="0"/>
          </a:p>
        </p:txBody>
      </p:sp>
      <p:sp>
        <p:nvSpPr>
          <p:cNvPr id="14" name="Text 12"/>
          <p:cNvSpPr txBox="1"/>
          <p:nvPr/>
        </p:nvSpPr>
        <p:spPr>
          <a:xfrm>
            <a:off x="3017520" y="3438144"/>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You help students make sense of the evidence. Now you correct ideas — using the evidence.</a:t>
            </a:r>
            <a:endParaRPr lang="en-US" sz="1350" dirty="0"/>
          </a:p>
        </p:txBody>
      </p:sp>
      <p:sp>
        <p:nvSpPr>
          <p:cNvPr id="15" name="Shape 13"/>
          <p:cNvSpPr/>
          <p:nvPr/>
        </p:nvSpPr>
        <p:spPr>
          <a:xfrm>
            <a:off x="548640" y="4151376"/>
            <a:ext cx="2286000" cy="548640"/>
          </a:xfrm>
          <a:prstGeom prst="roundRect">
            <a:avLst>
              <a:gd name="adj" fmla="val 20000"/>
            </a:avLst>
          </a:prstGeom>
          <a:solidFill>
            <a:srgbClr val="FCBA63"/>
          </a:solidFill>
          <a:ln w="12700">
            <a:solidFill>
              <a:srgbClr val="FCBA63"/>
            </a:solidFill>
            <a:prstDash val="solid"/>
          </a:ln>
        </p:spPr>
        <p:txBody>
          <a:bodyPr/>
          <a:lstStyle/>
          <a:p>
            <a:endParaRPr lang="en-US"/>
          </a:p>
        </p:txBody>
      </p:sp>
      <p:sp>
        <p:nvSpPr>
          <p:cNvPr id="16" name="Text 14"/>
          <p:cNvSpPr txBox="1"/>
          <p:nvPr/>
        </p:nvSpPr>
        <p:spPr>
          <a:xfrm>
            <a:off x="548640" y="4151376"/>
            <a:ext cx="2286000" cy="548640"/>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Question Board</a:t>
            </a:r>
            <a:endParaRPr lang="en-US" sz="1500" dirty="0"/>
          </a:p>
        </p:txBody>
      </p:sp>
      <p:sp>
        <p:nvSpPr>
          <p:cNvPr id="17" name="Text 15"/>
          <p:cNvSpPr txBox="1"/>
          <p:nvPr/>
        </p:nvSpPr>
        <p:spPr>
          <a:xfrm>
            <a:off x="3017520" y="4151376"/>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The Driving Question Board shows what the class knows and still wonders. Update it every lesson.</a:t>
            </a:r>
            <a:endParaRPr lang="en-US" sz="1350" dirty="0"/>
          </a:p>
        </p:txBody>
      </p:sp>
      <p:sp>
        <p:nvSpPr>
          <p:cNvPr id="18" name="Shape 16"/>
          <p:cNvSpPr/>
          <p:nvPr/>
        </p:nvSpPr>
        <p:spPr>
          <a:xfrm>
            <a:off x="548640" y="4864608"/>
            <a:ext cx="2286000" cy="548640"/>
          </a:xfrm>
          <a:prstGeom prst="roundRect">
            <a:avLst>
              <a:gd name="adj" fmla="val 20000"/>
            </a:avLst>
          </a:prstGeom>
          <a:solidFill>
            <a:srgbClr val="E44145"/>
          </a:solidFill>
          <a:ln w="12700">
            <a:solidFill>
              <a:srgbClr val="E44145"/>
            </a:solidFill>
            <a:prstDash val="solid"/>
          </a:ln>
        </p:spPr>
        <p:txBody>
          <a:bodyPr/>
          <a:lstStyle/>
          <a:p>
            <a:endParaRPr lang="en-US"/>
          </a:p>
        </p:txBody>
      </p:sp>
      <p:sp>
        <p:nvSpPr>
          <p:cNvPr id="19" name="Text 17"/>
          <p:cNvSpPr txBox="1"/>
          <p:nvPr/>
        </p:nvSpPr>
        <p:spPr>
          <a:xfrm>
            <a:off x="548640" y="4864608"/>
            <a:ext cx="22860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Model Building</a:t>
            </a:r>
            <a:endParaRPr lang="en-US" sz="1500" dirty="0"/>
          </a:p>
        </p:txBody>
      </p:sp>
      <p:sp>
        <p:nvSpPr>
          <p:cNvPr id="20" name="Text 18"/>
          <p:cNvSpPr txBox="1"/>
          <p:nvPr/>
        </p:nvSpPr>
        <p:spPr>
          <a:xfrm>
            <a:off x="3017520" y="4864608"/>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Each student keeps one model that they revise across the unit. Revising IS the learning.</a:t>
            </a:r>
            <a:endParaRPr lang="en-US" sz="1350" dirty="0"/>
          </a:p>
        </p:txBody>
      </p:sp>
      <p:sp>
        <p:nvSpPr>
          <p:cNvPr id="21" name="Shape 19"/>
          <p:cNvSpPr/>
          <p:nvPr/>
        </p:nvSpPr>
        <p:spPr>
          <a:xfrm>
            <a:off x="8229600" y="2011680"/>
            <a:ext cx="3410712" cy="3429000"/>
          </a:xfrm>
          <a:prstGeom prst="roundRect">
            <a:avLst>
              <a:gd name="adj" fmla="val 3217"/>
            </a:avLst>
          </a:prstGeom>
          <a:solidFill>
            <a:srgbClr val="F5F6F9"/>
          </a:solidFill>
          <a:ln w="9525">
            <a:solidFill>
              <a:srgbClr val="E3E6ED"/>
            </a:solidFill>
            <a:prstDash val="solid"/>
          </a:ln>
        </p:spPr>
        <p:txBody>
          <a:bodyPr/>
          <a:lstStyle/>
          <a:p>
            <a:endParaRPr lang="en-US"/>
          </a:p>
        </p:txBody>
      </p:sp>
      <p:sp>
        <p:nvSpPr>
          <p:cNvPr id="22" name="Text 20"/>
          <p:cNvSpPr txBox="1"/>
          <p:nvPr/>
        </p:nvSpPr>
        <p:spPr>
          <a:xfrm>
            <a:off x="8458200" y="2194560"/>
            <a:ext cx="3017520" cy="31089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Three habits, every lesson</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Wait time. </a:t>
            </a:r>
            <a:r>
              <a:rPr lang="en-US" sz="1300" dirty="0">
                <a:solidFill>
                  <a:srgbClr val="111111"/>
                </a:solidFill>
                <a:latin typeface="Calibri" pitchFamily="34" charset="0"/>
                <a:ea typeface="Calibri" pitchFamily="34" charset="-122"/>
                <a:cs typeface="Calibri" pitchFamily="34" charset="-120"/>
              </a:rPr>
              <a:t>Count silently to 5–10 seconds after a question. Do not rephrase.</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Do not correct yet. </a:t>
            </a:r>
            <a:r>
              <a:rPr lang="en-US" sz="1300" dirty="0">
                <a:solidFill>
                  <a:srgbClr val="111111"/>
                </a:solidFill>
                <a:latin typeface="Calibri" pitchFamily="34" charset="0"/>
                <a:ea typeface="Calibri" pitchFamily="34" charset="-122"/>
                <a:cs typeface="Calibri" pitchFamily="34" charset="-120"/>
              </a:rPr>
              <a:t>In Predict and Observe, record ideas exactly as students say them.</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Call on everyone. </a:t>
            </a:r>
            <a:r>
              <a:rPr lang="en-US" sz="1300" dirty="0">
                <a:solidFill>
                  <a:srgbClr val="111111"/>
                </a:solidFill>
                <a:latin typeface="Calibri" pitchFamily="34" charset="0"/>
                <a:ea typeface="Calibri" pitchFamily="34" charset="-122"/>
                <a:cs typeface="Calibri" pitchFamily="34" charset="-120"/>
              </a:rPr>
              <a:t>Choose students who do not usually raise a hand.</a:t>
            </a:r>
            <a:endParaRPr lang="en-US" sz="1300" dirty="0"/>
          </a:p>
        </p:txBody>
      </p:sp>
      <p:sp>
        <p:nvSpPr>
          <p:cNvPr id="23" name="Shape 21"/>
          <p:cNvSpPr/>
          <p:nvPr/>
        </p:nvSpPr>
        <p:spPr>
          <a:xfrm>
            <a:off x="548640" y="5715000"/>
            <a:ext cx="274320" cy="274320"/>
          </a:xfrm>
          <a:prstGeom prst="ellipse">
            <a:avLst/>
          </a:prstGeom>
          <a:solidFill>
            <a:srgbClr val="FFFFFF"/>
          </a:solidFill>
          <a:ln w="15875">
            <a:solidFill>
              <a:srgbClr val="111111"/>
            </a:solidFill>
            <a:prstDash val="solid"/>
          </a:ln>
        </p:spPr>
        <p:txBody>
          <a:bodyPr/>
          <a:lstStyle/>
          <a:p>
            <a:endParaRPr lang="en-US"/>
          </a:p>
        </p:txBody>
      </p:sp>
      <p:pic>
        <p:nvPicPr>
          <p:cNvPr id="24" name="Image 0" descr="preencoded.png"/>
          <p:cNvPicPr>
            <a:picLocks noChangeAspect="1"/>
          </p:cNvPicPr>
          <p:nvPr/>
        </p:nvPicPr>
        <p:blipFill>
          <a:blip r:embed="rId3"/>
          <a:stretch>
            <a:fillRect/>
          </a:stretch>
        </p:blipFill>
        <p:spPr>
          <a:xfrm>
            <a:off x="612648" y="5779008"/>
            <a:ext cx="146304" cy="146304"/>
          </a:xfrm>
          <a:prstGeom prst="rect">
            <a:avLst/>
          </a:prstGeom>
        </p:spPr>
      </p:pic>
      <p:sp>
        <p:nvSpPr>
          <p:cNvPr id="25" name="Text 22"/>
          <p:cNvSpPr txBox="1"/>
          <p:nvPr/>
        </p:nvSpPr>
        <p:spPr>
          <a:xfrm>
            <a:off x="960120" y="5669280"/>
            <a:ext cx="10058400" cy="36576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A “Check for understanding” label means this slide includes a formative check. The Notes tell you what to look for.</a:t>
            </a:r>
            <a:endParaRPr lang="en-US" sz="1250" dirty="0"/>
          </a:p>
        </p:txBody>
      </p:sp>
      <p:sp>
        <p:nvSpPr>
          <p:cNvPr id="26" name="Text 2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27" name="Shape 2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28"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29" name="Shape 2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30" name="Image 2" descr="preencoded.png"/>
          <p:cNvPicPr>
            <a:picLocks noChangeAspect="1"/>
          </p:cNvPicPr>
          <p:nvPr/>
        </p:nvPicPr>
        <p:blipFill>
          <a:blip r:embed="rId5"/>
          <a:stretch>
            <a:fillRect/>
          </a:stretch>
        </p:blipFill>
        <p:spPr>
          <a:xfrm>
            <a:off x="10106863" y="6350508"/>
            <a:ext cx="1417320" cy="2651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3236976"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3236976"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Lesson 2 at a glance</a:t>
            </a:r>
            <a:endParaRPr lang="en-US" sz="3400" dirty="0"/>
          </a:p>
        </p:txBody>
      </p:sp>
      <p:sp>
        <p:nvSpPr>
          <p:cNvPr id="5" name="Text 3"/>
          <p:cNvSpPr txBox="1"/>
          <p:nvPr/>
        </p:nvSpPr>
        <p:spPr>
          <a:xfrm>
            <a:off x="548640" y="1600200"/>
            <a:ext cx="187452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PHASE</a:t>
            </a:r>
            <a:endParaRPr lang="en-US" sz="1050" dirty="0"/>
          </a:p>
        </p:txBody>
      </p:sp>
      <p:sp>
        <p:nvSpPr>
          <p:cNvPr id="6" name="Text 4"/>
          <p:cNvSpPr txBox="1"/>
          <p:nvPr/>
        </p:nvSpPr>
        <p:spPr>
          <a:xfrm>
            <a:off x="2514600" y="1600200"/>
            <a:ext cx="77724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TIME</a:t>
            </a:r>
            <a:endParaRPr lang="en-US" sz="1050" dirty="0"/>
          </a:p>
        </p:txBody>
      </p:sp>
      <p:sp>
        <p:nvSpPr>
          <p:cNvPr id="7" name="Text 5"/>
          <p:cNvSpPr txBox="1"/>
          <p:nvPr/>
        </p:nvSpPr>
        <p:spPr>
          <a:xfrm>
            <a:off x="3337560" y="1600200"/>
            <a:ext cx="448056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WHAT STUDENTS DO</a:t>
            </a:r>
            <a:endParaRPr lang="en-US" sz="1050" dirty="0"/>
          </a:p>
        </p:txBody>
      </p:sp>
      <p:sp>
        <p:nvSpPr>
          <p:cNvPr id="8" name="Shape 6"/>
          <p:cNvSpPr/>
          <p:nvPr/>
        </p:nvSpPr>
        <p:spPr>
          <a:xfrm>
            <a:off x="548640" y="1975104"/>
            <a:ext cx="1783080" cy="399723"/>
          </a:xfrm>
          <a:prstGeom prst="roundRect">
            <a:avLst>
              <a:gd name="adj" fmla="val 18301"/>
            </a:avLst>
          </a:prstGeom>
          <a:solidFill>
            <a:srgbClr val="47C6E4"/>
          </a:solidFill>
          <a:ln w="12700">
            <a:solidFill>
              <a:srgbClr val="47C6E4"/>
            </a:solidFill>
            <a:prstDash val="solid"/>
          </a:ln>
        </p:spPr>
        <p:txBody>
          <a:bodyPr/>
          <a:lstStyle/>
          <a:p>
            <a:endParaRPr lang="en-US"/>
          </a:p>
        </p:txBody>
      </p:sp>
      <p:sp>
        <p:nvSpPr>
          <p:cNvPr id="9" name="Text 7"/>
          <p:cNvSpPr txBox="1"/>
          <p:nvPr/>
        </p:nvSpPr>
        <p:spPr>
          <a:xfrm>
            <a:off x="548640" y="1975104"/>
            <a:ext cx="1783080" cy="399723"/>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Predict</a:t>
            </a:r>
            <a:endParaRPr lang="en-US" sz="1200" dirty="0"/>
          </a:p>
        </p:txBody>
      </p:sp>
      <p:sp>
        <p:nvSpPr>
          <p:cNvPr id="10" name="Text 8"/>
          <p:cNvSpPr txBox="1"/>
          <p:nvPr/>
        </p:nvSpPr>
        <p:spPr>
          <a:xfrm>
            <a:off x="2514600" y="1920240"/>
            <a:ext cx="777240" cy="509451"/>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8 min</a:t>
            </a:r>
            <a:endParaRPr lang="en-US" sz="1250" dirty="0"/>
          </a:p>
        </p:txBody>
      </p:sp>
      <p:sp>
        <p:nvSpPr>
          <p:cNvPr id="11" name="Text 9"/>
          <p:cNvSpPr txBox="1"/>
          <p:nvPr/>
        </p:nvSpPr>
        <p:spPr>
          <a:xfrm>
            <a:off x="3337560" y="1920240"/>
            <a:ext cx="4480560" cy="509451"/>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Write 3 sentences: “I think all cells share… because…”. Pair-share. You record predictions.</a:t>
            </a:r>
            <a:endParaRPr lang="en-US" sz="1150" dirty="0"/>
          </a:p>
        </p:txBody>
      </p:sp>
      <p:sp>
        <p:nvSpPr>
          <p:cNvPr id="12" name="Shape 10"/>
          <p:cNvSpPr/>
          <p:nvPr/>
        </p:nvSpPr>
        <p:spPr>
          <a:xfrm>
            <a:off x="548640" y="2484555"/>
            <a:ext cx="1783080" cy="399723"/>
          </a:xfrm>
          <a:prstGeom prst="roundRect">
            <a:avLst>
              <a:gd name="adj" fmla="val 18301"/>
            </a:avLst>
          </a:prstGeom>
          <a:solidFill>
            <a:srgbClr val="D7DF23"/>
          </a:solidFill>
          <a:ln w="12700">
            <a:solidFill>
              <a:srgbClr val="D7DF23"/>
            </a:solidFill>
            <a:prstDash val="solid"/>
          </a:ln>
        </p:spPr>
        <p:txBody>
          <a:bodyPr/>
          <a:lstStyle/>
          <a:p>
            <a:endParaRPr lang="en-US"/>
          </a:p>
        </p:txBody>
      </p:sp>
      <p:sp>
        <p:nvSpPr>
          <p:cNvPr id="13" name="Text 11"/>
          <p:cNvSpPr txBox="1"/>
          <p:nvPr/>
        </p:nvSpPr>
        <p:spPr>
          <a:xfrm>
            <a:off x="548640" y="2484555"/>
            <a:ext cx="1783080" cy="399723"/>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Observe</a:t>
            </a:r>
            <a:endParaRPr lang="en-US" sz="1200" dirty="0"/>
          </a:p>
        </p:txBody>
      </p:sp>
      <p:sp>
        <p:nvSpPr>
          <p:cNvPr id="14" name="Text 12"/>
          <p:cNvSpPr txBox="1"/>
          <p:nvPr/>
        </p:nvSpPr>
        <p:spPr>
          <a:xfrm>
            <a:off x="2514600" y="2429691"/>
            <a:ext cx="777240" cy="509451"/>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12 min</a:t>
            </a:r>
            <a:endParaRPr lang="en-US" sz="1250" dirty="0"/>
          </a:p>
        </p:txBody>
      </p:sp>
      <p:sp>
        <p:nvSpPr>
          <p:cNvPr id="15" name="Text 13"/>
          <p:cNvSpPr txBox="1"/>
          <p:nvPr/>
        </p:nvSpPr>
        <p:spPr>
          <a:xfrm>
            <a:off x="3337560" y="2429691"/>
            <a:ext cx="4480560" cy="509451"/>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A. The ugali kitchen analogy: map kitchen features to cell features.</a:t>
            </a:r>
            <a:endParaRPr lang="en-US" sz="1150" dirty="0"/>
          </a:p>
        </p:txBody>
      </p:sp>
      <p:sp>
        <p:nvSpPr>
          <p:cNvPr id="16" name="Shape 14"/>
          <p:cNvSpPr/>
          <p:nvPr/>
        </p:nvSpPr>
        <p:spPr>
          <a:xfrm>
            <a:off x="548640" y="2994007"/>
            <a:ext cx="1783080" cy="399723"/>
          </a:xfrm>
          <a:prstGeom prst="roundRect">
            <a:avLst>
              <a:gd name="adj" fmla="val 18301"/>
            </a:avLst>
          </a:prstGeom>
          <a:solidFill>
            <a:srgbClr val="D7DF23"/>
          </a:solidFill>
          <a:ln w="12700">
            <a:solidFill>
              <a:srgbClr val="D7DF23"/>
            </a:solidFill>
            <a:prstDash val="solid"/>
          </a:ln>
        </p:spPr>
        <p:txBody>
          <a:bodyPr/>
          <a:lstStyle/>
          <a:p>
            <a:endParaRPr lang="en-US"/>
          </a:p>
        </p:txBody>
      </p:sp>
      <p:sp>
        <p:nvSpPr>
          <p:cNvPr id="17" name="Text 15"/>
          <p:cNvSpPr txBox="1"/>
          <p:nvPr/>
        </p:nvSpPr>
        <p:spPr>
          <a:xfrm>
            <a:off x="548640" y="2994007"/>
            <a:ext cx="1783080" cy="399723"/>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Observe</a:t>
            </a:r>
            <a:endParaRPr lang="en-US" sz="1200" dirty="0"/>
          </a:p>
        </p:txBody>
      </p:sp>
      <p:sp>
        <p:nvSpPr>
          <p:cNvPr id="18" name="Text 16"/>
          <p:cNvSpPr txBox="1"/>
          <p:nvPr/>
        </p:nvSpPr>
        <p:spPr>
          <a:xfrm>
            <a:off x="2514600" y="2939143"/>
            <a:ext cx="777240" cy="509451"/>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18 min</a:t>
            </a:r>
            <a:endParaRPr lang="en-US" sz="1250" dirty="0"/>
          </a:p>
        </p:txBody>
      </p:sp>
      <p:sp>
        <p:nvSpPr>
          <p:cNvPr id="19" name="Text 17"/>
          <p:cNvSpPr txBox="1"/>
          <p:nvPr/>
        </p:nvSpPr>
        <p:spPr>
          <a:xfrm>
            <a:off x="3337560" y="2939143"/>
            <a:ext cx="4480560" cy="509451"/>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B. Study three cell diagrams. Fill in the Cell Theory Evidence Table.</a:t>
            </a:r>
            <a:endParaRPr lang="en-US" sz="1150" dirty="0"/>
          </a:p>
        </p:txBody>
      </p:sp>
      <p:sp>
        <p:nvSpPr>
          <p:cNvPr id="20" name="Shape 18"/>
          <p:cNvSpPr/>
          <p:nvPr/>
        </p:nvSpPr>
        <p:spPr>
          <a:xfrm>
            <a:off x="548640" y="3503458"/>
            <a:ext cx="1783080" cy="399723"/>
          </a:xfrm>
          <a:prstGeom prst="roundRect">
            <a:avLst>
              <a:gd name="adj" fmla="val 18301"/>
            </a:avLst>
          </a:prstGeom>
          <a:solidFill>
            <a:srgbClr val="D7DF23"/>
          </a:solidFill>
          <a:ln w="12700">
            <a:solidFill>
              <a:srgbClr val="D7DF23"/>
            </a:solidFill>
            <a:prstDash val="solid"/>
          </a:ln>
        </p:spPr>
        <p:txBody>
          <a:bodyPr/>
          <a:lstStyle/>
          <a:p>
            <a:endParaRPr lang="en-US"/>
          </a:p>
        </p:txBody>
      </p:sp>
      <p:sp>
        <p:nvSpPr>
          <p:cNvPr id="21" name="Text 19"/>
          <p:cNvSpPr txBox="1"/>
          <p:nvPr/>
        </p:nvSpPr>
        <p:spPr>
          <a:xfrm>
            <a:off x="548640" y="3503458"/>
            <a:ext cx="1783080" cy="399723"/>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Observe</a:t>
            </a:r>
            <a:endParaRPr lang="en-US" sz="1200" dirty="0"/>
          </a:p>
        </p:txBody>
      </p:sp>
      <p:sp>
        <p:nvSpPr>
          <p:cNvPr id="22" name="Text 20"/>
          <p:cNvSpPr txBox="1"/>
          <p:nvPr/>
        </p:nvSpPr>
        <p:spPr>
          <a:xfrm>
            <a:off x="2514600" y="3448594"/>
            <a:ext cx="777240" cy="509451"/>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10 min</a:t>
            </a:r>
            <a:endParaRPr lang="en-US" sz="1250" dirty="0"/>
          </a:p>
        </p:txBody>
      </p:sp>
      <p:sp>
        <p:nvSpPr>
          <p:cNvPr id="23" name="Text 21"/>
          <p:cNvSpPr txBox="1"/>
          <p:nvPr/>
        </p:nvSpPr>
        <p:spPr>
          <a:xfrm>
            <a:off x="3337560" y="3448594"/>
            <a:ext cx="4480560" cy="509451"/>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C. Sort 12 feature cards: prokaryote or eukaryote? Justify.</a:t>
            </a:r>
            <a:endParaRPr lang="en-US" sz="1150" dirty="0"/>
          </a:p>
        </p:txBody>
      </p:sp>
      <p:sp>
        <p:nvSpPr>
          <p:cNvPr id="24" name="Shape 22"/>
          <p:cNvSpPr/>
          <p:nvPr/>
        </p:nvSpPr>
        <p:spPr>
          <a:xfrm>
            <a:off x="548640" y="4012910"/>
            <a:ext cx="1783080" cy="399723"/>
          </a:xfrm>
          <a:prstGeom prst="roundRect">
            <a:avLst>
              <a:gd name="adj" fmla="val 18301"/>
            </a:avLst>
          </a:prstGeom>
          <a:solidFill>
            <a:srgbClr val="CF128C"/>
          </a:solidFill>
          <a:ln w="12700">
            <a:solidFill>
              <a:srgbClr val="CF128C"/>
            </a:solidFill>
            <a:prstDash val="solid"/>
          </a:ln>
        </p:spPr>
        <p:txBody>
          <a:bodyPr/>
          <a:lstStyle/>
          <a:p>
            <a:endParaRPr lang="en-US"/>
          </a:p>
        </p:txBody>
      </p:sp>
      <p:sp>
        <p:nvSpPr>
          <p:cNvPr id="25" name="Text 23"/>
          <p:cNvSpPr txBox="1"/>
          <p:nvPr/>
        </p:nvSpPr>
        <p:spPr>
          <a:xfrm>
            <a:off x="548640" y="4012910"/>
            <a:ext cx="1783080" cy="399723"/>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Explain</a:t>
            </a:r>
            <a:endParaRPr lang="en-US" sz="1200" dirty="0"/>
          </a:p>
        </p:txBody>
      </p:sp>
      <p:sp>
        <p:nvSpPr>
          <p:cNvPr id="26" name="Text 24"/>
          <p:cNvSpPr txBox="1"/>
          <p:nvPr/>
        </p:nvSpPr>
        <p:spPr>
          <a:xfrm>
            <a:off x="2514600" y="3958046"/>
            <a:ext cx="777240" cy="509451"/>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16 min</a:t>
            </a:r>
            <a:endParaRPr lang="en-US" sz="1250" dirty="0"/>
          </a:p>
        </p:txBody>
      </p:sp>
      <p:sp>
        <p:nvSpPr>
          <p:cNvPr id="27" name="Text 25"/>
          <p:cNvSpPr txBox="1"/>
          <p:nvPr/>
        </p:nvSpPr>
        <p:spPr>
          <a:xfrm>
            <a:off x="3337560" y="3958046"/>
            <a:ext cx="4480560" cy="509451"/>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Short teaching on cell theory and cell types. Colour-code the diagrams. Write a CER paragraph.</a:t>
            </a:r>
            <a:endParaRPr lang="en-US" sz="1150" dirty="0"/>
          </a:p>
        </p:txBody>
      </p:sp>
      <p:sp>
        <p:nvSpPr>
          <p:cNvPr id="28" name="Shape 26"/>
          <p:cNvSpPr/>
          <p:nvPr/>
        </p:nvSpPr>
        <p:spPr>
          <a:xfrm>
            <a:off x="548640" y="4522361"/>
            <a:ext cx="1783080" cy="399723"/>
          </a:xfrm>
          <a:prstGeom prst="roundRect">
            <a:avLst>
              <a:gd name="adj" fmla="val 18301"/>
            </a:avLst>
          </a:prstGeom>
          <a:solidFill>
            <a:srgbClr val="FCBA63"/>
          </a:solidFill>
          <a:ln w="12700">
            <a:solidFill>
              <a:srgbClr val="FCBA63"/>
            </a:solidFill>
            <a:prstDash val="solid"/>
          </a:ln>
        </p:spPr>
        <p:txBody>
          <a:bodyPr/>
          <a:lstStyle/>
          <a:p>
            <a:endParaRPr lang="en-US"/>
          </a:p>
        </p:txBody>
      </p:sp>
      <p:sp>
        <p:nvSpPr>
          <p:cNvPr id="29" name="Text 27"/>
          <p:cNvSpPr txBox="1"/>
          <p:nvPr/>
        </p:nvSpPr>
        <p:spPr>
          <a:xfrm>
            <a:off x="548640" y="4522361"/>
            <a:ext cx="1783080" cy="399723"/>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Question Board</a:t>
            </a:r>
            <a:endParaRPr lang="en-US" sz="1200" dirty="0"/>
          </a:p>
        </p:txBody>
      </p:sp>
      <p:sp>
        <p:nvSpPr>
          <p:cNvPr id="30" name="Text 28"/>
          <p:cNvSpPr txBox="1"/>
          <p:nvPr/>
        </p:nvSpPr>
        <p:spPr>
          <a:xfrm>
            <a:off x="2514600" y="4467497"/>
            <a:ext cx="777240" cy="509451"/>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4 min</a:t>
            </a:r>
            <a:endParaRPr lang="en-US" sz="1250" dirty="0"/>
          </a:p>
        </p:txBody>
      </p:sp>
      <p:sp>
        <p:nvSpPr>
          <p:cNvPr id="31" name="Text 29"/>
          <p:cNvSpPr txBox="1"/>
          <p:nvPr/>
        </p:nvSpPr>
        <p:spPr>
          <a:xfrm>
            <a:off x="3337560" y="4467497"/>
            <a:ext cx="4480560" cy="509451"/>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Star answered questions. Post one new question or new understanding.</a:t>
            </a:r>
            <a:endParaRPr lang="en-US" sz="1150" dirty="0"/>
          </a:p>
        </p:txBody>
      </p:sp>
      <p:sp>
        <p:nvSpPr>
          <p:cNvPr id="32" name="Shape 30"/>
          <p:cNvSpPr/>
          <p:nvPr/>
        </p:nvSpPr>
        <p:spPr>
          <a:xfrm>
            <a:off x="548640" y="5031813"/>
            <a:ext cx="1783080" cy="399723"/>
          </a:xfrm>
          <a:prstGeom prst="roundRect">
            <a:avLst>
              <a:gd name="adj" fmla="val 18301"/>
            </a:avLst>
          </a:prstGeom>
          <a:solidFill>
            <a:srgbClr val="E44145"/>
          </a:solidFill>
          <a:ln w="12700">
            <a:solidFill>
              <a:srgbClr val="E44145"/>
            </a:solidFill>
            <a:prstDash val="solid"/>
          </a:ln>
        </p:spPr>
        <p:txBody>
          <a:bodyPr/>
          <a:lstStyle/>
          <a:p>
            <a:endParaRPr lang="en-US"/>
          </a:p>
        </p:txBody>
      </p:sp>
      <p:sp>
        <p:nvSpPr>
          <p:cNvPr id="33" name="Text 31"/>
          <p:cNvSpPr txBox="1"/>
          <p:nvPr/>
        </p:nvSpPr>
        <p:spPr>
          <a:xfrm>
            <a:off x="548640" y="5031813"/>
            <a:ext cx="1783080" cy="399723"/>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Building</a:t>
            </a:r>
            <a:endParaRPr lang="en-US" sz="1200" dirty="0"/>
          </a:p>
        </p:txBody>
      </p:sp>
      <p:sp>
        <p:nvSpPr>
          <p:cNvPr id="34" name="Text 32"/>
          <p:cNvSpPr txBox="1"/>
          <p:nvPr/>
        </p:nvSpPr>
        <p:spPr>
          <a:xfrm>
            <a:off x="2514600" y="4976949"/>
            <a:ext cx="777240" cy="509451"/>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12 min</a:t>
            </a:r>
            <a:endParaRPr lang="en-US" sz="1250" dirty="0"/>
          </a:p>
        </p:txBody>
      </p:sp>
      <p:sp>
        <p:nvSpPr>
          <p:cNvPr id="35" name="Text 33"/>
          <p:cNvSpPr txBox="1"/>
          <p:nvPr/>
        </p:nvSpPr>
        <p:spPr>
          <a:xfrm>
            <a:off x="3337560" y="4976949"/>
            <a:ext cx="4480560" cy="509451"/>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Draw Version 1 of the cell model, with a key and a limitation statement.</a:t>
            </a:r>
            <a:endParaRPr lang="en-US" sz="1150" dirty="0"/>
          </a:p>
        </p:txBody>
      </p:sp>
      <p:sp>
        <p:nvSpPr>
          <p:cNvPr id="36" name="Shape 34"/>
          <p:cNvSpPr/>
          <p:nvPr/>
        </p:nvSpPr>
        <p:spPr>
          <a:xfrm>
            <a:off x="8092440" y="1600200"/>
            <a:ext cx="3547872" cy="2057400"/>
          </a:xfrm>
          <a:prstGeom prst="roundRect">
            <a:avLst>
              <a:gd name="adj" fmla="val 5333"/>
            </a:avLst>
          </a:prstGeom>
          <a:solidFill>
            <a:srgbClr val="F5F6F9"/>
          </a:solidFill>
          <a:ln w="9525">
            <a:solidFill>
              <a:srgbClr val="E3E6ED"/>
            </a:solidFill>
            <a:prstDash val="solid"/>
          </a:ln>
        </p:spPr>
        <p:txBody>
          <a:bodyPr/>
          <a:lstStyle/>
          <a:p>
            <a:endParaRPr lang="en-US"/>
          </a:p>
        </p:txBody>
      </p:sp>
      <p:sp>
        <p:nvSpPr>
          <p:cNvPr id="37" name="Text 35"/>
          <p:cNvSpPr txBox="1"/>
          <p:nvPr/>
        </p:nvSpPr>
        <p:spPr>
          <a:xfrm>
            <a:off x="8275320" y="1737360"/>
            <a:ext cx="3246120" cy="1828800"/>
          </a:xfrm>
          <a:prstGeom prst="rect">
            <a:avLst/>
          </a:prstGeom>
          <a:noFill/>
          <a:ln/>
        </p:spPr>
        <p:txBody>
          <a:bodyPr wrap="square" lIns="0" tIns="0" rIns="0" bIns="0" rtlCol="0" anchor="t"/>
          <a:lstStyle/>
          <a:p>
            <a:pPr marL="0" indent="0">
              <a:spcAft>
                <a:spcPts val="200"/>
              </a:spcAft>
              <a:buNone/>
            </a:pPr>
            <a:r>
              <a:rPr lang="en-US" sz="1400" b="1" dirty="0">
                <a:solidFill>
                  <a:srgbClr val="111111"/>
                </a:solidFill>
                <a:latin typeface="Calibri" pitchFamily="34" charset="0"/>
                <a:ea typeface="Calibri" pitchFamily="34" charset="-122"/>
                <a:cs typeface="Calibri" pitchFamily="34" charset="-120"/>
              </a:rPr>
              <a:t>Prepare before class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Lesson 1 Question Board on display</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12 feature cards per group (print slide 13)</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Cell diagrams: projected, A3 or ARES cards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Green, blue, red pencils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Yellow + green sticky notes; stars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Version 0 drawings from Lesson 1</a:t>
            </a:r>
            <a:endParaRPr lang="en-US" sz="1100" dirty="0"/>
          </a:p>
        </p:txBody>
      </p:sp>
      <p:sp>
        <p:nvSpPr>
          <p:cNvPr id="38" name="Text 36"/>
          <p:cNvSpPr txBox="1"/>
          <p:nvPr/>
        </p:nvSpPr>
        <p:spPr>
          <a:xfrm>
            <a:off x="8092440" y="3794760"/>
            <a:ext cx="347472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ARES RESOURCES</a:t>
            </a:r>
            <a:endParaRPr lang="en-US" sz="1050" dirty="0"/>
          </a:p>
        </p:txBody>
      </p:sp>
      <p:sp>
        <p:nvSpPr>
          <p:cNvPr id="39" name="Shape 37">
            <a:hlinkClick r:id="rId3" tooltip="Opens in ARES"/>
          </p:cNvPr>
          <p:cNvSpPr/>
          <p:nvPr/>
        </p:nvSpPr>
        <p:spPr>
          <a:xfrm>
            <a:off x="8092440" y="41148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40" name="Image 0" descr="preencoded.png"/>
          <p:cNvPicPr>
            <a:picLocks noChangeAspect="1"/>
          </p:cNvPicPr>
          <p:nvPr/>
        </p:nvPicPr>
        <p:blipFill>
          <a:blip r:embed="rId4"/>
          <a:stretch>
            <a:fillRect/>
          </a:stretch>
        </p:blipFill>
        <p:spPr>
          <a:xfrm>
            <a:off x="8257032" y="4215384"/>
            <a:ext cx="182880" cy="182880"/>
          </a:xfrm>
          <a:prstGeom prst="rect">
            <a:avLst/>
          </a:prstGeom>
        </p:spPr>
      </p:pic>
      <p:sp>
        <p:nvSpPr>
          <p:cNvPr id="41" name="Text 38">
            <a:hlinkClick r:id="rId3" tooltip="Opens in ARES"/>
          </p:cNvPr>
          <p:cNvSpPr txBox="1"/>
          <p:nvPr/>
        </p:nvSpPr>
        <p:spPr>
          <a:xfrm>
            <a:off x="8549640" y="41148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Prokaryotic &amp; eukaryotic cells — Khan video</a:t>
            </a:r>
            <a:endParaRPr lang="en-US" sz="1200" dirty="0"/>
          </a:p>
        </p:txBody>
      </p:sp>
      <p:sp>
        <p:nvSpPr>
          <p:cNvPr id="42" name="Shape 39">
            <a:hlinkClick r:id="rId3" tooltip="Opens in ARES"/>
          </p:cNvPr>
          <p:cNvSpPr/>
          <p:nvPr/>
        </p:nvSpPr>
        <p:spPr>
          <a:xfrm>
            <a:off x="8092440" y="45720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43" name="Image 1" descr="preencoded.png"/>
          <p:cNvPicPr>
            <a:picLocks noChangeAspect="1"/>
          </p:cNvPicPr>
          <p:nvPr/>
        </p:nvPicPr>
        <p:blipFill>
          <a:blip r:embed="rId5"/>
          <a:stretch>
            <a:fillRect/>
          </a:stretch>
        </p:blipFill>
        <p:spPr>
          <a:xfrm>
            <a:off x="8257032" y="4672584"/>
            <a:ext cx="182880" cy="182880"/>
          </a:xfrm>
          <a:prstGeom prst="rect">
            <a:avLst/>
          </a:prstGeom>
        </p:spPr>
      </p:pic>
      <p:sp>
        <p:nvSpPr>
          <p:cNvPr id="44" name="Text 40">
            <a:hlinkClick r:id="rId3" tooltip="Opens in ARES"/>
          </p:cNvPr>
          <p:cNvSpPr txBox="1"/>
          <p:nvPr/>
        </p:nvSpPr>
        <p:spPr>
          <a:xfrm>
            <a:off x="8549640" y="45720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Prokaryotic &amp; Eukaryotic Cells — CK-12</a:t>
            </a:r>
            <a:endParaRPr lang="en-US" sz="1200" dirty="0"/>
          </a:p>
        </p:txBody>
      </p:sp>
      <p:sp>
        <p:nvSpPr>
          <p:cNvPr id="45" name="Shape 41">
            <a:hlinkClick r:id="rId3" tooltip="Opens in ARES"/>
          </p:cNvPr>
          <p:cNvSpPr/>
          <p:nvPr/>
        </p:nvSpPr>
        <p:spPr>
          <a:xfrm>
            <a:off x="8092440" y="50292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46" name="Image 2" descr="preencoded.png"/>
          <p:cNvPicPr>
            <a:picLocks noChangeAspect="1"/>
          </p:cNvPicPr>
          <p:nvPr/>
        </p:nvPicPr>
        <p:blipFill>
          <a:blip r:embed="rId5"/>
          <a:stretch>
            <a:fillRect/>
          </a:stretch>
        </p:blipFill>
        <p:spPr>
          <a:xfrm>
            <a:off x="8257032" y="5129784"/>
            <a:ext cx="182880" cy="182880"/>
          </a:xfrm>
          <a:prstGeom prst="rect">
            <a:avLst/>
          </a:prstGeom>
        </p:spPr>
      </p:pic>
      <p:sp>
        <p:nvSpPr>
          <p:cNvPr id="47" name="Text 42">
            <a:hlinkClick r:id="rId3" tooltip="Opens in ARES"/>
          </p:cNvPr>
          <p:cNvSpPr txBox="1"/>
          <p:nvPr/>
        </p:nvSpPr>
        <p:spPr>
          <a:xfrm>
            <a:off x="8549640" y="50292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The Cell Theory Practice — CK-12</a:t>
            </a:r>
            <a:endParaRPr lang="en-US" sz="1200" dirty="0"/>
          </a:p>
        </p:txBody>
      </p:sp>
      <p:sp>
        <p:nvSpPr>
          <p:cNvPr id="48" name="Text 4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49" name="Shape 4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50" name="Image 3" descr="preencoded.png"/>
          <p:cNvPicPr>
            <a:picLocks noChangeAspect="1"/>
          </p:cNvPicPr>
          <p:nvPr/>
        </p:nvPicPr>
        <p:blipFill>
          <a:blip r:embed="rId6"/>
          <a:stretch>
            <a:fillRect/>
          </a:stretch>
        </p:blipFill>
        <p:spPr>
          <a:xfrm>
            <a:off x="9219895" y="6291072"/>
            <a:ext cx="713232" cy="384048"/>
          </a:xfrm>
          <a:prstGeom prst="rect">
            <a:avLst/>
          </a:prstGeom>
        </p:spPr>
      </p:pic>
      <p:sp>
        <p:nvSpPr>
          <p:cNvPr id="51" name="Shape 4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52" name="Image 4" descr="preencoded.png"/>
          <p:cNvPicPr>
            <a:picLocks noChangeAspect="1"/>
          </p:cNvPicPr>
          <p:nvPr/>
        </p:nvPicPr>
        <p:blipFill>
          <a:blip r:embed="rId7"/>
          <a:stretch>
            <a:fillRect/>
          </a:stretch>
        </p:blipFill>
        <p:spPr>
          <a:xfrm>
            <a:off x="10106863" y="6350508"/>
            <a:ext cx="1417320" cy="2651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UNIT MAP</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Where we are in the unit</a:t>
            </a:r>
            <a:endParaRPr lang="en-US" sz="3400" dirty="0"/>
          </a:p>
        </p:txBody>
      </p:sp>
      <p:sp>
        <p:nvSpPr>
          <p:cNvPr id="5" name="Shape 3"/>
          <p:cNvSpPr/>
          <p:nvPr/>
        </p:nvSpPr>
        <p:spPr>
          <a:xfrm>
            <a:off x="914400" y="2743200"/>
            <a:ext cx="10362895" cy="0"/>
          </a:xfrm>
          <a:prstGeom prst="line">
            <a:avLst/>
          </a:prstGeom>
          <a:noFill/>
          <a:ln w="38100">
            <a:solidFill>
              <a:srgbClr val="E3E6ED"/>
            </a:solidFill>
            <a:prstDash val="solid"/>
          </a:ln>
        </p:spPr>
        <p:txBody>
          <a:bodyPr/>
          <a:lstStyle/>
          <a:p>
            <a:endParaRPr lang="en-US"/>
          </a:p>
        </p:txBody>
      </p:sp>
      <p:sp>
        <p:nvSpPr>
          <p:cNvPr id="6" name="Shape 4"/>
          <p:cNvSpPr/>
          <p:nvPr/>
        </p:nvSpPr>
        <p:spPr>
          <a:xfrm>
            <a:off x="914400" y="2743200"/>
            <a:ext cx="942081" cy="0"/>
          </a:xfrm>
          <a:prstGeom prst="line">
            <a:avLst/>
          </a:prstGeom>
          <a:noFill/>
          <a:ln w="38100">
            <a:solidFill>
              <a:srgbClr val="111111"/>
            </a:solidFill>
            <a:prstDash val="solid"/>
          </a:ln>
        </p:spPr>
        <p:txBody>
          <a:bodyPr/>
          <a:lstStyle/>
          <a:p>
            <a:endParaRPr lang="en-US"/>
          </a:p>
        </p:txBody>
      </p:sp>
      <p:sp>
        <p:nvSpPr>
          <p:cNvPr id="7" name="Shape 5"/>
          <p:cNvSpPr/>
          <p:nvPr/>
        </p:nvSpPr>
        <p:spPr>
          <a:xfrm>
            <a:off x="676656" y="2505456"/>
            <a:ext cx="475488" cy="475488"/>
          </a:xfrm>
          <a:prstGeom prst="ellipse">
            <a:avLst/>
          </a:prstGeom>
          <a:solidFill>
            <a:srgbClr val="111111"/>
          </a:solidFill>
          <a:ln w="19050">
            <a:solidFill>
              <a:srgbClr val="111111"/>
            </a:solidFill>
            <a:prstDash val="solid"/>
          </a:ln>
        </p:spPr>
        <p:txBody>
          <a:bodyPr/>
          <a:lstStyle/>
          <a:p>
            <a:endParaRPr lang="en-US"/>
          </a:p>
        </p:txBody>
      </p:sp>
      <p:sp>
        <p:nvSpPr>
          <p:cNvPr id="8" name="Text 6"/>
          <p:cNvSpPr txBox="1"/>
          <p:nvPr/>
        </p:nvSpPr>
        <p:spPr>
          <a:xfrm>
            <a:off x="676656" y="250545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470791"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The healing cut</a:t>
            </a:r>
            <a:endParaRPr lang="en-US" sz="1050" dirty="0"/>
          </a:p>
        </p:txBody>
      </p:sp>
      <p:sp>
        <p:nvSpPr>
          <p:cNvPr id="10" name="Shape 8"/>
          <p:cNvSpPr/>
          <p:nvPr/>
        </p:nvSpPr>
        <p:spPr>
          <a:xfrm>
            <a:off x="1490721" y="2377440"/>
            <a:ext cx="731520" cy="731520"/>
          </a:xfrm>
          <a:prstGeom prst="ellipse">
            <a:avLst/>
          </a:prstGeom>
          <a:solidFill>
            <a:srgbClr val="47C6E4"/>
          </a:solidFill>
          <a:ln w="19050">
            <a:solidFill>
              <a:srgbClr val="47C6E4"/>
            </a:solidFill>
            <a:prstDash val="solid"/>
          </a:ln>
        </p:spPr>
        <p:txBody>
          <a:bodyPr/>
          <a:lstStyle/>
          <a:p>
            <a:endParaRPr lang="en-US"/>
          </a:p>
        </p:txBody>
      </p:sp>
      <p:sp>
        <p:nvSpPr>
          <p:cNvPr id="11" name="Text 9"/>
          <p:cNvSpPr txBox="1"/>
          <p:nvPr/>
        </p:nvSpPr>
        <p:spPr>
          <a:xfrm>
            <a:off x="1490721" y="2377440"/>
            <a:ext cx="731520" cy="731520"/>
          </a:xfrm>
          <a:prstGeom prst="rect">
            <a:avLst/>
          </a:prstGeom>
          <a:noFill/>
          <a:ln/>
        </p:spPr>
        <p:txBody>
          <a:bodyPr wrap="square" lIns="0" tIns="0" rIns="0" bIns="0" rtlCol="0" anchor="ctr"/>
          <a:lstStyle/>
          <a:p>
            <a:pPr marL="0" indent="0" algn="ctr">
              <a:buNone/>
            </a:pPr>
            <a:r>
              <a:rPr lang="en-US" sz="2200" b="1" dirty="0">
                <a:solidFill>
                  <a:srgbClr val="111111"/>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1412873" y="3200400"/>
            <a:ext cx="887217" cy="685800"/>
          </a:xfrm>
          <a:prstGeom prst="rect">
            <a:avLst/>
          </a:prstGeom>
          <a:noFill/>
          <a:ln/>
        </p:spPr>
        <p:txBody>
          <a:bodyPr wrap="square" lIns="0" tIns="0" rIns="0" bIns="0" rtlCol="0" anchor="t"/>
          <a:lstStyle/>
          <a:p>
            <a:pPr marL="0" indent="0" algn="ctr">
              <a:buNone/>
            </a:pPr>
            <a:r>
              <a:rPr lang="en-US" sz="1050" b="1" dirty="0">
                <a:solidFill>
                  <a:srgbClr val="111111"/>
                </a:solidFill>
                <a:latin typeface="Calibri" pitchFamily="34" charset="0"/>
                <a:ea typeface="Calibri" pitchFamily="34" charset="-122"/>
                <a:cs typeface="Calibri" pitchFamily="34" charset="-120"/>
              </a:rPr>
              <a:t>What is a cell?</a:t>
            </a:r>
            <a:endParaRPr lang="en-US" sz="1050" dirty="0"/>
          </a:p>
        </p:txBody>
      </p:sp>
      <p:sp>
        <p:nvSpPr>
          <p:cNvPr id="13" name="Shape 11"/>
          <p:cNvSpPr/>
          <p:nvPr/>
        </p:nvSpPr>
        <p:spPr>
          <a:xfrm>
            <a:off x="2560819"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14" name="Text 12"/>
          <p:cNvSpPr txBox="1"/>
          <p:nvPr/>
        </p:nvSpPr>
        <p:spPr>
          <a:xfrm>
            <a:off x="2560819"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2354954"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Prokaryotes &amp; eukaryotes</a:t>
            </a:r>
            <a:endParaRPr lang="en-US" sz="1050" dirty="0"/>
          </a:p>
        </p:txBody>
      </p:sp>
      <p:sp>
        <p:nvSpPr>
          <p:cNvPr id="16" name="Shape 14"/>
          <p:cNvSpPr/>
          <p:nvPr/>
        </p:nvSpPr>
        <p:spPr>
          <a:xfrm>
            <a:off x="3502900"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17" name="Text 15"/>
          <p:cNvSpPr txBox="1"/>
          <p:nvPr/>
        </p:nvSpPr>
        <p:spPr>
          <a:xfrm>
            <a:off x="3502900"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3297035"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Plant cells</a:t>
            </a:r>
            <a:endParaRPr lang="en-US" sz="1050" dirty="0"/>
          </a:p>
        </p:txBody>
      </p:sp>
      <p:sp>
        <p:nvSpPr>
          <p:cNvPr id="19" name="Shape 17"/>
          <p:cNvSpPr/>
          <p:nvPr/>
        </p:nvSpPr>
        <p:spPr>
          <a:xfrm>
            <a:off x="4444982"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0" name="Text 18"/>
          <p:cNvSpPr txBox="1"/>
          <p:nvPr/>
        </p:nvSpPr>
        <p:spPr>
          <a:xfrm>
            <a:off x="4444982"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4239117"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Animal cells</a:t>
            </a:r>
            <a:endParaRPr lang="en-US" sz="1050" dirty="0"/>
          </a:p>
        </p:txBody>
      </p:sp>
      <p:sp>
        <p:nvSpPr>
          <p:cNvPr id="22" name="Shape 20"/>
          <p:cNvSpPr/>
          <p:nvPr/>
        </p:nvSpPr>
        <p:spPr>
          <a:xfrm>
            <a:off x="5387063"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3" name="Text 21"/>
          <p:cNvSpPr txBox="1"/>
          <p:nvPr/>
        </p:nvSpPr>
        <p:spPr>
          <a:xfrm>
            <a:off x="5387063"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6</a:t>
            </a:r>
            <a:endParaRPr lang="en-US" sz="1400" dirty="0"/>
          </a:p>
        </p:txBody>
      </p:sp>
      <p:sp>
        <p:nvSpPr>
          <p:cNvPr id="24" name="Text 22"/>
          <p:cNvSpPr txBox="1"/>
          <p:nvPr/>
        </p:nvSpPr>
        <p:spPr>
          <a:xfrm>
            <a:off x="5181198"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Onion cells (practical)</a:t>
            </a:r>
            <a:endParaRPr lang="en-US" sz="1050" dirty="0"/>
          </a:p>
        </p:txBody>
      </p:sp>
      <p:sp>
        <p:nvSpPr>
          <p:cNvPr id="25" name="Shape 23"/>
          <p:cNvSpPr/>
          <p:nvPr/>
        </p:nvSpPr>
        <p:spPr>
          <a:xfrm>
            <a:off x="6329144"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6" name="Text 24"/>
          <p:cNvSpPr txBox="1"/>
          <p:nvPr/>
        </p:nvSpPr>
        <p:spPr>
          <a:xfrm>
            <a:off x="6329144"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7</a:t>
            </a:r>
            <a:endParaRPr lang="en-US" sz="1400" dirty="0"/>
          </a:p>
        </p:txBody>
      </p:sp>
      <p:sp>
        <p:nvSpPr>
          <p:cNvPr id="27" name="Text 25"/>
          <p:cNvSpPr txBox="1"/>
          <p:nvPr/>
        </p:nvSpPr>
        <p:spPr>
          <a:xfrm>
            <a:off x="6123280"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Cheek cells (practical)</a:t>
            </a:r>
            <a:endParaRPr lang="en-US" sz="1050" dirty="0"/>
          </a:p>
        </p:txBody>
      </p:sp>
      <p:sp>
        <p:nvSpPr>
          <p:cNvPr id="28" name="Shape 26"/>
          <p:cNvSpPr/>
          <p:nvPr/>
        </p:nvSpPr>
        <p:spPr>
          <a:xfrm>
            <a:off x="7271226"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9" name="Text 27"/>
          <p:cNvSpPr txBox="1"/>
          <p:nvPr/>
        </p:nvSpPr>
        <p:spPr>
          <a:xfrm>
            <a:off x="7271226"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8</a:t>
            </a:r>
            <a:endParaRPr lang="en-US" sz="1400" dirty="0"/>
          </a:p>
        </p:txBody>
      </p:sp>
      <p:sp>
        <p:nvSpPr>
          <p:cNvPr id="30" name="Text 28"/>
          <p:cNvSpPr txBox="1"/>
          <p:nvPr/>
        </p:nvSpPr>
        <p:spPr>
          <a:xfrm>
            <a:off x="7065361"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Specialised animal cells</a:t>
            </a:r>
            <a:endParaRPr lang="en-US" sz="1050" dirty="0"/>
          </a:p>
        </p:txBody>
      </p:sp>
      <p:sp>
        <p:nvSpPr>
          <p:cNvPr id="31" name="Shape 29"/>
          <p:cNvSpPr/>
          <p:nvPr/>
        </p:nvSpPr>
        <p:spPr>
          <a:xfrm>
            <a:off x="8213307"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2" name="Text 30"/>
          <p:cNvSpPr txBox="1"/>
          <p:nvPr/>
        </p:nvSpPr>
        <p:spPr>
          <a:xfrm>
            <a:off x="8213307"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9</a:t>
            </a:r>
            <a:endParaRPr lang="en-US" sz="1400" dirty="0"/>
          </a:p>
        </p:txBody>
      </p:sp>
      <p:sp>
        <p:nvSpPr>
          <p:cNvPr id="33" name="Text 31"/>
          <p:cNvSpPr txBox="1"/>
          <p:nvPr/>
        </p:nvSpPr>
        <p:spPr>
          <a:xfrm>
            <a:off x="8007442"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Specialised plant cells</a:t>
            </a:r>
            <a:endParaRPr lang="en-US" sz="1050" dirty="0"/>
          </a:p>
        </p:txBody>
      </p:sp>
      <p:sp>
        <p:nvSpPr>
          <p:cNvPr id="34" name="Shape 32"/>
          <p:cNvSpPr/>
          <p:nvPr/>
        </p:nvSpPr>
        <p:spPr>
          <a:xfrm>
            <a:off x="9155388"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5" name="Text 33"/>
          <p:cNvSpPr txBox="1"/>
          <p:nvPr/>
        </p:nvSpPr>
        <p:spPr>
          <a:xfrm>
            <a:off x="9155388"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10</a:t>
            </a:r>
            <a:endParaRPr lang="en-US" sz="1400" dirty="0"/>
          </a:p>
        </p:txBody>
      </p:sp>
      <p:sp>
        <p:nvSpPr>
          <p:cNvPr id="36" name="Text 34"/>
          <p:cNvSpPr txBox="1"/>
          <p:nvPr/>
        </p:nvSpPr>
        <p:spPr>
          <a:xfrm>
            <a:off x="8949524"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Cell organisation</a:t>
            </a:r>
            <a:endParaRPr lang="en-US" sz="1050" dirty="0"/>
          </a:p>
        </p:txBody>
      </p:sp>
      <p:sp>
        <p:nvSpPr>
          <p:cNvPr id="37" name="Shape 35"/>
          <p:cNvSpPr/>
          <p:nvPr/>
        </p:nvSpPr>
        <p:spPr>
          <a:xfrm>
            <a:off x="10097470"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8" name="Text 36"/>
          <p:cNvSpPr txBox="1"/>
          <p:nvPr/>
        </p:nvSpPr>
        <p:spPr>
          <a:xfrm>
            <a:off x="10097470"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11</a:t>
            </a:r>
            <a:endParaRPr lang="en-US" sz="1400" dirty="0"/>
          </a:p>
        </p:txBody>
      </p:sp>
      <p:sp>
        <p:nvSpPr>
          <p:cNvPr id="39" name="Text 37"/>
          <p:cNvSpPr txBox="1"/>
          <p:nvPr/>
        </p:nvSpPr>
        <p:spPr>
          <a:xfrm>
            <a:off x="9891605"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Putting it together</a:t>
            </a:r>
            <a:endParaRPr lang="en-US" sz="1050" dirty="0"/>
          </a:p>
        </p:txBody>
      </p:sp>
      <p:sp>
        <p:nvSpPr>
          <p:cNvPr id="40" name="Shape 38"/>
          <p:cNvSpPr/>
          <p:nvPr/>
        </p:nvSpPr>
        <p:spPr>
          <a:xfrm>
            <a:off x="11039551"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41" name="Text 39"/>
          <p:cNvSpPr txBox="1"/>
          <p:nvPr/>
        </p:nvSpPr>
        <p:spPr>
          <a:xfrm>
            <a:off x="11039551"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12</a:t>
            </a:r>
            <a:endParaRPr lang="en-US" sz="1400" dirty="0"/>
          </a:p>
        </p:txBody>
      </p:sp>
      <p:sp>
        <p:nvSpPr>
          <p:cNvPr id="42" name="Text 40"/>
          <p:cNvSpPr txBox="1"/>
          <p:nvPr/>
        </p:nvSpPr>
        <p:spPr>
          <a:xfrm>
            <a:off x="10833687"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Final explanation</a:t>
            </a:r>
            <a:endParaRPr lang="en-US" sz="1050" dirty="0"/>
          </a:p>
        </p:txBody>
      </p:sp>
      <p:sp>
        <p:nvSpPr>
          <p:cNvPr id="43" name="Text 41"/>
          <p:cNvSpPr txBox="1"/>
          <p:nvPr/>
        </p:nvSpPr>
        <p:spPr>
          <a:xfrm>
            <a:off x="942081" y="1874520"/>
            <a:ext cx="1828800" cy="320040"/>
          </a:xfrm>
          <a:prstGeom prst="rect">
            <a:avLst/>
          </a:prstGeom>
          <a:noFill/>
          <a:ln/>
        </p:spPr>
        <p:txBody>
          <a:bodyPr wrap="square" lIns="0" tIns="0" rIns="0" bIns="0" rtlCol="0" anchor="ctr"/>
          <a:lstStyle/>
          <a:p>
            <a:pPr marL="0" indent="0" algn="ctr">
              <a:buNone/>
            </a:pPr>
            <a:r>
              <a:rPr lang="en-US" sz="1200" b="1" kern="0" spc="200" dirty="0">
                <a:solidFill>
                  <a:srgbClr val="0B6F87"/>
                </a:solidFill>
                <a:latin typeface="Calibri" pitchFamily="34" charset="0"/>
                <a:ea typeface="Calibri" pitchFamily="34" charset="-122"/>
                <a:cs typeface="Calibri" pitchFamily="34" charset="-120"/>
              </a:rPr>
              <a:t>YOU ARE HERE</a:t>
            </a:r>
            <a:endParaRPr lang="en-US" sz="1200" dirty="0"/>
          </a:p>
        </p:txBody>
      </p:sp>
      <p:sp>
        <p:nvSpPr>
          <p:cNvPr id="44" name="Shape 42"/>
          <p:cNvSpPr/>
          <p:nvPr/>
        </p:nvSpPr>
        <p:spPr>
          <a:xfrm>
            <a:off x="548640" y="4160520"/>
            <a:ext cx="5394960" cy="1874520"/>
          </a:xfrm>
          <a:prstGeom prst="roundRect">
            <a:avLst>
              <a:gd name="adj" fmla="val 5854"/>
            </a:avLst>
          </a:prstGeom>
          <a:solidFill>
            <a:srgbClr val="F5F6F9"/>
          </a:solidFill>
          <a:ln w="9525">
            <a:solidFill>
              <a:srgbClr val="E3E6ED"/>
            </a:solidFill>
            <a:prstDash val="solid"/>
          </a:ln>
        </p:spPr>
        <p:txBody>
          <a:bodyPr/>
          <a:lstStyle/>
          <a:p>
            <a:endParaRPr lang="en-US"/>
          </a:p>
        </p:txBody>
      </p:sp>
      <p:sp>
        <p:nvSpPr>
          <p:cNvPr id="45" name="Text 43"/>
          <p:cNvSpPr txBox="1"/>
          <p:nvPr/>
        </p:nvSpPr>
        <p:spPr>
          <a:xfrm>
            <a:off x="822960" y="4343400"/>
            <a:ext cx="4846320" cy="1554480"/>
          </a:xfrm>
          <a:prstGeom prst="rect">
            <a:avLst/>
          </a:prstGeom>
          <a:noFill/>
          <a:ln/>
        </p:spPr>
        <p:txBody>
          <a:bodyPr wrap="square" lIns="0" tIns="0" rIns="0" bIns="0" rtlCol="0" anchor="t"/>
          <a:lstStyle/>
          <a:p>
            <a:pPr marL="0" indent="0">
              <a:buNone/>
            </a:pPr>
            <a:r>
              <a:rPr lang="en-US" sz="1300" b="1" dirty="0">
                <a:solidFill>
                  <a:srgbClr val="5B6172"/>
                </a:solidFill>
                <a:latin typeface="Calibri" pitchFamily="34" charset="0"/>
                <a:ea typeface="Calibri" pitchFamily="34" charset="-122"/>
                <a:cs typeface="Calibri" pitchFamily="34" charset="-120"/>
              </a:rPr>
              <a:t>Last lesson</a:t>
            </a:r>
            <a:endParaRPr lang="en-US" sz="1300" dirty="0"/>
          </a:p>
          <a:p>
            <a:pPr marL="0" indent="0">
              <a:buNone/>
            </a:pPr>
            <a:r>
              <a:rPr lang="en-US" sz="1700" dirty="0">
                <a:solidFill>
                  <a:srgbClr val="111111"/>
                </a:solidFill>
                <a:latin typeface="Calibri" pitchFamily="34" charset="0"/>
                <a:ea typeface="Calibri" pitchFamily="34" charset="-122"/>
                <a:cs typeface="Calibri" pitchFamily="34" charset="-120"/>
              </a:rPr>
              <a:t>Amina cut her finger. We noticed, wondered, and drew our first idea of a cell (Version 0).</a:t>
            </a:r>
            <a:endParaRPr lang="en-US" sz="1300" dirty="0"/>
          </a:p>
        </p:txBody>
      </p:sp>
      <p:sp>
        <p:nvSpPr>
          <p:cNvPr id="46" name="Shape 44"/>
          <p:cNvSpPr/>
          <p:nvPr/>
        </p:nvSpPr>
        <p:spPr>
          <a:xfrm>
            <a:off x="6263640" y="4160520"/>
            <a:ext cx="5394960" cy="1874520"/>
          </a:xfrm>
          <a:prstGeom prst="roundRect">
            <a:avLst>
              <a:gd name="adj" fmla="val 5854"/>
            </a:avLst>
          </a:prstGeom>
          <a:solidFill>
            <a:srgbClr val="E3F6FB"/>
          </a:solidFill>
          <a:ln w="9525">
            <a:solidFill>
              <a:srgbClr val="E3F6FB"/>
            </a:solidFill>
            <a:prstDash val="solid"/>
          </a:ln>
        </p:spPr>
        <p:txBody>
          <a:bodyPr/>
          <a:lstStyle/>
          <a:p>
            <a:endParaRPr lang="en-US"/>
          </a:p>
        </p:txBody>
      </p:sp>
      <p:sp>
        <p:nvSpPr>
          <p:cNvPr id="47" name="Text 45"/>
          <p:cNvSpPr txBox="1"/>
          <p:nvPr/>
        </p:nvSpPr>
        <p:spPr>
          <a:xfrm>
            <a:off x="6537960" y="4343400"/>
            <a:ext cx="4846320" cy="1554480"/>
          </a:xfrm>
          <a:prstGeom prst="rect">
            <a:avLst/>
          </a:prstGeom>
          <a:noFill/>
          <a:ln/>
        </p:spPr>
        <p:txBody>
          <a:bodyPr wrap="square" lIns="0" tIns="0" rIns="0" bIns="0" rtlCol="0" anchor="t"/>
          <a:lstStyle/>
          <a:p>
            <a:pPr marL="0" indent="0">
              <a:buNone/>
            </a:pPr>
            <a:r>
              <a:rPr lang="en-US" sz="1300" b="1" dirty="0">
                <a:solidFill>
                  <a:srgbClr val="0B6F87"/>
                </a:solidFill>
                <a:latin typeface="Calibri" pitchFamily="34" charset="0"/>
                <a:ea typeface="Calibri" pitchFamily="34" charset="-122"/>
                <a:cs typeface="Calibri" pitchFamily="34" charset="-120"/>
              </a:rPr>
              <a:t>Driving question for the whole unit</a:t>
            </a:r>
            <a:endParaRPr lang="en-US" sz="1300" dirty="0"/>
          </a:p>
          <a:p>
            <a:pPr marL="0" indent="0">
              <a:buNone/>
            </a:pPr>
            <a:r>
              <a:rPr lang="en-US" sz="1700" b="1" dirty="0">
                <a:solidFill>
                  <a:srgbClr val="111111"/>
                </a:solidFill>
                <a:latin typeface="Calibri" pitchFamily="34" charset="0"/>
                <a:ea typeface="Calibri" pitchFamily="34" charset="-122"/>
                <a:cs typeface="Calibri" pitchFamily="34" charset="-120"/>
              </a:rPr>
              <a:t>Why do cells in our body look so different from each other — and how does the shape of a cell determine the job it can do?</a:t>
            </a:r>
            <a:endParaRPr lang="en-US" sz="1300" dirty="0"/>
          </a:p>
        </p:txBody>
      </p:sp>
      <p:sp>
        <p:nvSpPr>
          <p:cNvPr id="48" name="Text 46"/>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49" name="Shape 47"/>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50"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51" name="Shape 48"/>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52"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By the end of this lesson you can…</a:t>
            </a:r>
            <a:endParaRPr lang="en-US" sz="3400" dirty="0"/>
          </a:p>
        </p:txBody>
      </p:sp>
      <p:sp>
        <p:nvSpPr>
          <p:cNvPr id="5" name="Shape 3"/>
          <p:cNvSpPr/>
          <p:nvPr/>
        </p:nvSpPr>
        <p:spPr>
          <a:xfrm>
            <a:off x="548640" y="1920240"/>
            <a:ext cx="731520" cy="731520"/>
          </a:xfrm>
          <a:prstGeom prst="ellipse">
            <a:avLst/>
          </a:prstGeom>
          <a:solidFill>
            <a:srgbClr val="47C6E4"/>
          </a:solidFill>
          <a:ln w="12700">
            <a:solidFill>
              <a:srgbClr val="47C6E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46150" y="2117750"/>
            <a:ext cx="336499" cy="336499"/>
          </a:xfrm>
          <a:prstGeom prst="rect">
            <a:avLst/>
          </a:prstGeom>
        </p:spPr>
      </p:pic>
      <p:sp>
        <p:nvSpPr>
          <p:cNvPr id="7" name="Text 4"/>
          <p:cNvSpPr txBox="1"/>
          <p:nvPr/>
        </p:nvSpPr>
        <p:spPr>
          <a:xfrm>
            <a:off x="1508760" y="1920240"/>
            <a:ext cx="585216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State </a:t>
            </a:r>
            <a:r>
              <a:rPr lang="en-US" sz="2000" dirty="0">
                <a:solidFill>
                  <a:srgbClr val="111111"/>
                </a:solidFill>
                <a:latin typeface="Calibri" pitchFamily="34" charset="0"/>
                <a:ea typeface="Calibri" pitchFamily="34" charset="-122"/>
                <a:cs typeface="Calibri" pitchFamily="34" charset="-120"/>
              </a:rPr>
              <a:t>the three ideas of cell theory.</a:t>
            </a:r>
            <a:endParaRPr lang="en-US" sz="2000" dirty="0"/>
          </a:p>
        </p:txBody>
      </p:sp>
      <p:sp>
        <p:nvSpPr>
          <p:cNvPr id="8" name="Shape 5"/>
          <p:cNvSpPr/>
          <p:nvPr/>
        </p:nvSpPr>
        <p:spPr>
          <a:xfrm>
            <a:off x="548640" y="3108960"/>
            <a:ext cx="731520" cy="731520"/>
          </a:xfrm>
          <a:prstGeom prst="ellipse">
            <a:avLst/>
          </a:prstGeom>
          <a:solidFill>
            <a:srgbClr val="D7DF23"/>
          </a:solidFill>
          <a:ln w="12700">
            <a:solidFill>
              <a:srgbClr val="D7DF23"/>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746150" y="3306470"/>
            <a:ext cx="336499" cy="336499"/>
          </a:xfrm>
          <a:prstGeom prst="rect">
            <a:avLst/>
          </a:prstGeom>
        </p:spPr>
      </p:pic>
      <p:sp>
        <p:nvSpPr>
          <p:cNvPr id="10" name="Text 6"/>
          <p:cNvSpPr txBox="1"/>
          <p:nvPr/>
        </p:nvSpPr>
        <p:spPr>
          <a:xfrm>
            <a:off x="1508760" y="3108960"/>
            <a:ext cx="585216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Compare </a:t>
            </a:r>
            <a:r>
              <a:rPr lang="en-US" sz="2000" dirty="0">
                <a:solidFill>
                  <a:srgbClr val="111111"/>
                </a:solidFill>
                <a:latin typeface="Calibri" pitchFamily="34" charset="0"/>
                <a:ea typeface="Calibri" pitchFamily="34" charset="-122"/>
                <a:cs typeface="Calibri" pitchFamily="34" charset="-120"/>
              </a:rPr>
              <a:t>prokaryotic and eukaryotic cells.</a:t>
            </a:r>
            <a:endParaRPr lang="en-US" sz="2000" dirty="0"/>
          </a:p>
        </p:txBody>
      </p:sp>
      <p:sp>
        <p:nvSpPr>
          <p:cNvPr id="11" name="Shape 7"/>
          <p:cNvSpPr/>
          <p:nvPr/>
        </p:nvSpPr>
        <p:spPr>
          <a:xfrm>
            <a:off x="548640" y="4297680"/>
            <a:ext cx="731520" cy="731520"/>
          </a:xfrm>
          <a:prstGeom prst="ellipse">
            <a:avLst/>
          </a:prstGeom>
          <a:solidFill>
            <a:srgbClr val="CF128C"/>
          </a:solidFill>
          <a:ln w="12700">
            <a:solidFill>
              <a:srgbClr val="CF128C"/>
            </a:solidFill>
            <a:prstDash val="solid"/>
          </a:ln>
        </p:spPr>
        <p:txBody>
          <a:bodyPr/>
          <a:lstStyle/>
          <a:p>
            <a:endParaRPr lang="en-US"/>
          </a:p>
        </p:txBody>
      </p:sp>
      <p:pic>
        <p:nvPicPr>
          <p:cNvPr id="12" name="Image 2" descr="preencoded.png"/>
          <p:cNvPicPr>
            <a:picLocks noChangeAspect="1"/>
          </p:cNvPicPr>
          <p:nvPr/>
        </p:nvPicPr>
        <p:blipFill>
          <a:blip r:embed="rId4"/>
          <a:stretch>
            <a:fillRect/>
          </a:stretch>
        </p:blipFill>
        <p:spPr>
          <a:xfrm>
            <a:off x="746150" y="4495190"/>
            <a:ext cx="336499" cy="336499"/>
          </a:xfrm>
          <a:prstGeom prst="rect">
            <a:avLst/>
          </a:prstGeom>
        </p:spPr>
      </p:pic>
      <p:sp>
        <p:nvSpPr>
          <p:cNvPr id="13" name="Text 8"/>
          <p:cNvSpPr txBox="1"/>
          <p:nvPr/>
        </p:nvSpPr>
        <p:spPr>
          <a:xfrm>
            <a:off x="1508760" y="4297680"/>
            <a:ext cx="585216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Explain </a:t>
            </a:r>
            <a:r>
              <a:rPr lang="en-US" sz="2000" dirty="0">
                <a:solidFill>
                  <a:srgbClr val="111111"/>
                </a:solidFill>
                <a:latin typeface="Calibri" pitchFamily="34" charset="0"/>
                <a:ea typeface="Calibri" pitchFamily="34" charset="-122"/>
                <a:cs typeface="Calibri" pitchFamily="34" charset="-120"/>
              </a:rPr>
              <a:t>where Amina’s new skin cells came from.</a:t>
            </a:r>
            <a:endParaRPr lang="en-US" sz="2000" dirty="0"/>
          </a:p>
        </p:txBody>
      </p:sp>
      <p:sp>
        <p:nvSpPr>
          <p:cNvPr id="14" name="Shape 9"/>
          <p:cNvSpPr/>
          <p:nvPr/>
        </p:nvSpPr>
        <p:spPr>
          <a:xfrm>
            <a:off x="7680960" y="1874520"/>
            <a:ext cx="3959352" cy="3749040"/>
          </a:xfrm>
          <a:prstGeom prst="roundRect">
            <a:avLst>
              <a:gd name="adj" fmla="val 2927"/>
            </a:avLst>
          </a:prstGeom>
          <a:solidFill>
            <a:srgbClr val="F5F6F9"/>
          </a:solidFill>
          <a:ln w="9525">
            <a:solidFill>
              <a:srgbClr val="E3E6ED"/>
            </a:solidFill>
            <a:prstDash val="solid"/>
          </a:ln>
        </p:spPr>
        <p:txBody>
          <a:bodyPr/>
          <a:lstStyle/>
          <a:p>
            <a:endParaRPr lang="en-US"/>
          </a:p>
        </p:txBody>
      </p:sp>
      <p:pic>
        <p:nvPicPr>
          <p:cNvPr id="15" name="Image 3" descr="preencoded.png"/>
          <p:cNvPicPr>
            <a:picLocks noChangeAspect="1"/>
          </p:cNvPicPr>
          <p:nvPr/>
        </p:nvPicPr>
        <p:blipFill>
          <a:blip r:embed="rId5"/>
          <a:stretch>
            <a:fillRect/>
          </a:stretch>
        </p:blipFill>
        <p:spPr>
          <a:xfrm>
            <a:off x="7973568" y="2148840"/>
            <a:ext cx="329184" cy="329184"/>
          </a:xfrm>
          <a:prstGeom prst="rect">
            <a:avLst/>
          </a:prstGeom>
        </p:spPr>
      </p:pic>
      <p:sp>
        <p:nvSpPr>
          <p:cNvPr id="16" name="Text 10"/>
          <p:cNvSpPr txBox="1"/>
          <p:nvPr/>
        </p:nvSpPr>
        <p:spPr>
          <a:xfrm>
            <a:off x="8458200" y="2103120"/>
            <a:ext cx="2743200" cy="411480"/>
          </a:xfrm>
          <a:prstGeom prst="rect">
            <a:avLst/>
          </a:prstGeom>
          <a:noFill/>
          <a:ln/>
        </p:spPr>
        <p:txBody>
          <a:bodyPr wrap="square" lIns="0" tIns="0" rIns="0" bIns="0" rtlCol="0" anchor="ctr"/>
          <a:lstStyle/>
          <a:p>
            <a:pPr marL="0" indent="0">
              <a:buNone/>
            </a:pPr>
            <a:r>
              <a:rPr lang="en-US" sz="1800" b="1" dirty="0">
                <a:solidFill>
                  <a:srgbClr val="111111"/>
                </a:solidFill>
                <a:latin typeface="Calibri" pitchFamily="34" charset="0"/>
                <a:ea typeface="Calibri" pitchFamily="34" charset="-122"/>
                <a:cs typeface="Calibri" pitchFamily="34" charset="-120"/>
              </a:rPr>
              <a:t>Key words</a:t>
            </a:r>
            <a:endParaRPr lang="en-US" sz="1800" dirty="0"/>
          </a:p>
        </p:txBody>
      </p:sp>
      <p:sp>
        <p:nvSpPr>
          <p:cNvPr id="17" name="Text 11"/>
          <p:cNvSpPr txBox="1"/>
          <p:nvPr/>
        </p:nvSpPr>
        <p:spPr>
          <a:xfrm>
            <a:off x="7973568" y="2651760"/>
            <a:ext cx="3474720" cy="2834640"/>
          </a:xfrm>
          <a:prstGeom prst="rect">
            <a:avLst/>
          </a:prstGeom>
          <a:noFill/>
          <a:ln/>
        </p:spPr>
        <p:txBody>
          <a:bodyPr wrap="square" lIns="0" tIns="0" rIns="0" bIns="0" rtlCol="0" anchor="t"/>
          <a:lstStyle/>
          <a:p>
            <a:pPr marL="0" indent="0">
              <a:buNone/>
            </a:pPr>
            <a:r>
              <a:rPr lang="en-US" sz="1300" b="1" dirty="0">
                <a:solidFill>
                  <a:srgbClr val="111111"/>
                </a:solidFill>
                <a:latin typeface="Calibri" pitchFamily="34" charset="0"/>
                <a:ea typeface="Calibri" pitchFamily="34" charset="-122"/>
                <a:cs typeface="Calibri" pitchFamily="34" charset="-120"/>
              </a:rPr>
              <a:t>cell</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the basic unit of all living things</a:t>
            </a:r>
            <a:endParaRPr lang="en-US" sz="1300" dirty="0"/>
          </a:p>
          <a:p>
            <a:pPr marL="0" indent="0">
              <a:buNone/>
            </a:pPr>
            <a:r>
              <a:rPr lang="en-US" sz="4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cell theory</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three ideas about cells that apply to all life</a:t>
            </a:r>
            <a:endParaRPr lang="en-US" sz="1300" dirty="0"/>
          </a:p>
          <a:p>
            <a:pPr marL="0" indent="0">
              <a:buNone/>
            </a:pPr>
            <a:r>
              <a:rPr lang="en-US" sz="4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prokaryote</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a cell with no nucleus, e.g. bacteria</a:t>
            </a:r>
            <a:endParaRPr lang="en-US" sz="1300" dirty="0"/>
          </a:p>
          <a:p>
            <a:pPr marL="0" indent="0">
              <a:buNone/>
            </a:pPr>
            <a:r>
              <a:rPr lang="en-US" sz="4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eukaryote</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a cell whose DNA is inside a nucleus</a:t>
            </a:r>
            <a:endParaRPr lang="en-US" sz="1300" dirty="0"/>
          </a:p>
          <a:p>
            <a:pPr marL="0" indent="0">
              <a:buNone/>
            </a:pPr>
            <a:r>
              <a:rPr lang="en-US" sz="4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organelle</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a structure inside a cell with a job</a:t>
            </a:r>
            <a:endParaRPr lang="en-US" sz="1300" dirty="0"/>
          </a:p>
        </p:txBody>
      </p:sp>
      <p:sp>
        <p:nvSpPr>
          <p:cNvPr id="18" name="Text 12"/>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19" name="Shape 13"/>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20" name="Image 4" descr="preencoded.png"/>
          <p:cNvPicPr>
            <a:picLocks noChangeAspect="1"/>
          </p:cNvPicPr>
          <p:nvPr/>
        </p:nvPicPr>
        <p:blipFill>
          <a:blip r:embed="rId6"/>
          <a:stretch>
            <a:fillRect/>
          </a:stretch>
        </p:blipFill>
        <p:spPr>
          <a:xfrm>
            <a:off x="9219895" y="6291072"/>
            <a:ext cx="713232" cy="384048"/>
          </a:xfrm>
          <a:prstGeom prst="rect">
            <a:avLst/>
          </a:prstGeom>
        </p:spPr>
      </p:pic>
      <p:sp>
        <p:nvSpPr>
          <p:cNvPr id="21" name="Shape 14"/>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2" name="Image 5" descr="preencoded.png"/>
          <p:cNvPicPr>
            <a:picLocks noChangeAspect="1"/>
          </p:cNvPicPr>
          <p:nvPr/>
        </p:nvPicPr>
        <p:blipFill>
          <a:blip r:embed="rId7"/>
          <a:stretch>
            <a:fillRect/>
          </a:stretch>
        </p:blipFill>
        <p:spPr>
          <a:xfrm>
            <a:off x="10106863" y="6350508"/>
            <a:ext cx="1417320" cy="2651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47C6E4"/>
          </a:solidFill>
          <a:ln w="12700">
            <a:solidFill>
              <a:srgbClr val="47C6E4"/>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PREDICT</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What do ALL cells have in common?</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Text 6"/>
          <p:cNvSpPr txBox="1"/>
          <p:nvPr/>
        </p:nvSpPr>
        <p:spPr>
          <a:xfrm>
            <a:off x="548640" y="1600200"/>
            <a:ext cx="10972800" cy="731520"/>
          </a:xfrm>
          <a:prstGeom prst="rect">
            <a:avLst/>
          </a:prstGeom>
          <a:noFill/>
          <a:ln/>
        </p:spPr>
        <p:txBody>
          <a:bodyPr wrap="square" lIns="0" tIns="0" rIns="0" bIns="0" rtlCol="0" anchor="t"/>
          <a:lstStyle/>
          <a:p>
            <a:pPr marL="0" indent="0">
              <a:buNone/>
            </a:pPr>
            <a:r>
              <a:rPr lang="en-US" sz="1800" dirty="0">
                <a:solidFill>
                  <a:srgbClr val="5B6172"/>
                </a:solidFill>
                <a:latin typeface="Calibri" pitchFamily="34" charset="0"/>
                <a:ea typeface="Calibri" pitchFamily="34" charset="-122"/>
                <a:cs typeface="Calibri" pitchFamily="34" charset="-120"/>
              </a:rPr>
              <a:t>In Amina’s finger, many different cells — and tiny cell fragments called platelets — worked together to heal the cut. They all look different.</a:t>
            </a:r>
            <a:endParaRPr lang="en-US" sz="1800" dirty="0"/>
          </a:p>
        </p:txBody>
      </p:sp>
      <p:sp>
        <p:nvSpPr>
          <p:cNvPr id="11" name="Shape 7"/>
          <p:cNvSpPr/>
          <p:nvPr/>
        </p:nvSpPr>
        <p:spPr>
          <a:xfrm>
            <a:off x="548640" y="2468880"/>
            <a:ext cx="7223760" cy="2103120"/>
          </a:xfrm>
          <a:prstGeom prst="roundRect">
            <a:avLst>
              <a:gd name="adj" fmla="val 5217"/>
            </a:avLst>
          </a:prstGeom>
          <a:solidFill>
            <a:srgbClr val="E3F6FB"/>
          </a:solidFill>
          <a:ln w="9525">
            <a:solidFill>
              <a:srgbClr val="E3F6FB"/>
            </a:solidFill>
            <a:prstDash val="solid"/>
          </a:ln>
        </p:spPr>
        <p:txBody>
          <a:bodyPr/>
          <a:lstStyle/>
          <a:p>
            <a:endParaRPr lang="en-US"/>
          </a:p>
        </p:txBody>
      </p:sp>
      <p:sp>
        <p:nvSpPr>
          <p:cNvPr id="12" name="Shape 8"/>
          <p:cNvSpPr/>
          <p:nvPr/>
        </p:nvSpPr>
        <p:spPr>
          <a:xfrm>
            <a:off x="868680" y="2743200"/>
            <a:ext cx="731520" cy="731520"/>
          </a:xfrm>
          <a:prstGeom prst="ellipse">
            <a:avLst/>
          </a:prstGeom>
          <a:solidFill>
            <a:srgbClr val="47C6E4"/>
          </a:solidFill>
          <a:ln w="12700">
            <a:solidFill>
              <a:srgbClr val="47C6E4"/>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1066190" y="2940710"/>
            <a:ext cx="336499" cy="336499"/>
          </a:xfrm>
          <a:prstGeom prst="rect">
            <a:avLst/>
          </a:prstGeom>
        </p:spPr>
      </p:pic>
      <p:sp>
        <p:nvSpPr>
          <p:cNvPr id="14" name="Text 9"/>
          <p:cNvSpPr txBox="1"/>
          <p:nvPr/>
        </p:nvSpPr>
        <p:spPr>
          <a:xfrm>
            <a:off x="1828800" y="2743200"/>
            <a:ext cx="5760720" cy="2194560"/>
          </a:xfrm>
          <a:prstGeom prst="rect">
            <a:avLst/>
          </a:prstGeom>
          <a:noFill/>
          <a:ln/>
        </p:spPr>
        <p:txBody>
          <a:bodyPr wrap="square" lIns="0" tIns="0" rIns="0" bIns="0" rtlCol="0" anchor="t"/>
          <a:lstStyle/>
          <a:p>
            <a:pPr marL="0" indent="0">
              <a:buNone/>
            </a:pPr>
            <a:r>
              <a:rPr lang="en-US" sz="2000" dirty="0">
                <a:solidFill>
                  <a:srgbClr val="111111"/>
                </a:solidFill>
                <a:latin typeface="Calibri" pitchFamily="34" charset="0"/>
                <a:ea typeface="Calibri" pitchFamily="34" charset="-122"/>
                <a:cs typeface="Calibri" pitchFamily="34" charset="-120"/>
              </a:rPr>
              <a:t>Write 3 sentences in your notebook:</a:t>
            </a:r>
            <a:endParaRPr lang="en-US" sz="2000" dirty="0"/>
          </a:p>
          <a:p>
            <a:pPr marL="0" indent="0">
              <a:buNone/>
            </a:pPr>
            <a:r>
              <a:rPr lang="en-US" sz="800" dirty="0">
                <a:solidFill>
                  <a:srgbClr val="111111"/>
                </a:solidFill>
                <a:latin typeface="Calibri" pitchFamily="34" charset="0"/>
                <a:ea typeface="Calibri" pitchFamily="34" charset="-122"/>
                <a:cs typeface="Calibri" pitchFamily="34" charset="-120"/>
              </a:rPr>
              <a:t> </a:t>
            </a:r>
            <a:endParaRPr lang="en-US" sz="2000" dirty="0"/>
          </a:p>
          <a:p>
            <a:pPr marL="0" indent="0">
              <a:buNone/>
            </a:pPr>
            <a:r>
              <a:rPr lang="en-US" sz="2600" b="1" dirty="0">
                <a:solidFill>
                  <a:srgbClr val="111111"/>
                </a:solidFill>
                <a:latin typeface="Calibri" pitchFamily="34" charset="0"/>
                <a:ea typeface="Calibri" pitchFamily="34" charset="-122"/>
                <a:cs typeface="Calibri" pitchFamily="34" charset="-120"/>
              </a:rPr>
              <a:t>“I think all cells share… because…”</a:t>
            </a:r>
            <a:endParaRPr lang="en-US" sz="2000" dirty="0"/>
          </a:p>
        </p:txBody>
      </p:sp>
      <p:sp>
        <p:nvSpPr>
          <p:cNvPr id="15" name="Shape 10"/>
          <p:cNvSpPr/>
          <p:nvPr/>
        </p:nvSpPr>
        <p:spPr>
          <a:xfrm>
            <a:off x="8138160" y="246888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8321040" y="2624328"/>
            <a:ext cx="237744" cy="237744"/>
          </a:xfrm>
          <a:prstGeom prst="rect">
            <a:avLst/>
          </a:prstGeom>
        </p:spPr>
      </p:pic>
      <p:sp>
        <p:nvSpPr>
          <p:cNvPr id="17" name="Text 11"/>
          <p:cNvSpPr txBox="1"/>
          <p:nvPr/>
        </p:nvSpPr>
        <p:spPr>
          <a:xfrm>
            <a:off x="8641080" y="246888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3:00</a:t>
            </a:r>
            <a:endParaRPr lang="en-US" sz="2200" dirty="0"/>
          </a:p>
        </p:txBody>
      </p:sp>
      <p:sp>
        <p:nvSpPr>
          <p:cNvPr id="18" name="Text 12"/>
          <p:cNvSpPr txBox="1"/>
          <p:nvPr/>
        </p:nvSpPr>
        <p:spPr>
          <a:xfrm>
            <a:off x="8138160" y="3200400"/>
            <a:ext cx="3474720" cy="914400"/>
          </a:xfrm>
          <a:prstGeom prst="rect">
            <a:avLst/>
          </a:prstGeom>
          <a:noFill/>
          <a:ln/>
        </p:spPr>
        <p:txBody>
          <a:bodyPr wrap="square" lIns="0" tIns="0" rIns="0" bIns="0" rtlCol="0" anchor="t"/>
          <a:lstStyle/>
          <a:p>
            <a:pPr marL="0" indent="0">
              <a:buNone/>
            </a:pPr>
            <a:r>
              <a:rPr lang="en-US" sz="1600" dirty="0">
                <a:solidFill>
                  <a:srgbClr val="111111"/>
                </a:solidFill>
                <a:latin typeface="Calibri" pitchFamily="34" charset="0"/>
                <a:ea typeface="Calibri" pitchFamily="34" charset="-122"/>
                <a:cs typeface="Calibri" pitchFamily="34" charset="-120"/>
              </a:rPr>
              <a:t>Then share with a partner and agree on one idea.</a:t>
            </a:r>
            <a:endParaRPr lang="en-US" sz="1600" dirty="0"/>
          </a:p>
        </p:txBody>
      </p:sp>
      <p:sp>
        <p:nvSpPr>
          <p:cNvPr id="19" name="Shape 13"/>
          <p:cNvSpPr/>
          <p:nvPr/>
        </p:nvSpPr>
        <p:spPr>
          <a:xfrm>
            <a:off x="8138160" y="411480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20" name="Image 4" descr="preencoded.png"/>
          <p:cNvPicPr>
            <a:picLocks noChangeAspect="1"/>
          </p:cNvPicPr>
          <p:nvPr/>
        </p:nvPicPr>
        <p:blipFill>
          <a:blip r:embed="rId6"/>
          <a:stretch>
            <a:fillRect/>
          </a:stretch>
        </p:blipFill>
        <p:spPr>
          <a:xfrm>
            <a:off x="8321040" y="4270248"/>
            <a:ext cx="237744" cy="237744"/>
          </a:xfrm>
          <a:prstGeom prst="rect">
            <a:avLst/>
          </a:prstGeom>
        </p:spPr>
      </p:pic>
      <p:sp>
        <p:nvSpPr>
          <p:cNvPr id="21" name="Text 14"/>
          <p:cNvSpPr txBox="1"/>
          <p:nvPr/>
        </p:nvSpPr>
        <p:spPr>
          <a:xfrm>
            <a:off x="8641080" y="411480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1:30</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47C6E4"/>
          </a:solidFill>
          <a:ln w="12700">
            <a:solidFill>
              <a:srgbClr val="47C6E4"/>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PREDICT</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Our predictions</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783080"/>
            <a:ext cx="11091672" cy="2194560"/>
          </a:xfrm>
          <a:prstGeom prst="roundRect">
            <a:avLst>
              <a:gd name="adj" fmla="val 5000"/>
            </a:avLst>
          </a:prstGeom>
          <a:solidFill>
            <a:srgbClr val="E3F6FB"/>
          </a:solidFill>
          <a:ln w="9525">
            <a:solidFill>
              <a:srgbClr val="E3F6FB"/>
            </a:solidFill>
            <a:prstDash val="solid"/>
          </a:ln>
        </p:spPr>
        <p:txBody>
          <a:bodyPr/>
          <a:lstStyle/>
          <a:p>
            <a:endParaRPr lang="en-US"/>
          </a:p>
        </p:txBody>
      </p:sp>
      <p:sp>
        <p:nvSpPr>
          <p:cNvPr id="14" name="Shape 9"/>
          <p:cNvSpPr/>
          <p:nvPr/>
        </p:nvSpPr>
        <p:spPr>
          <a:xfrm>
            <a:off x="914400" y="2103120"/>
            <a:ext cx="914400" cy="914400"/>
          </a:xfrm>
          <a:prstGeom prst="ellipse">
            <a:avLst/>
          </a:prstGeom>
          <a:solidFill>
            <a:srgbClr val="47C6E4"/>
          </a:solidFill>
          <a:ln w="12700">
            <a:solidFill>
              <a:srgbClr val="47C6E4"/>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1161288" y="2350008"/>
            <a:ext cx="420624" cy="420624"/>
          </a:xfrm>
          <a:prstGeom prst="rect">
            <a:avLst/>
          </a:prstGeom>
        </p:spPr>
      </p:pic>
      <p:sp>
        <p:nvSpPr>
          <p:cNvPr id="16" name="Text 10"/>
          <p:cNvSpPr txBox="1"/>
          <p:nvPr/>
        </p:nvSpPr>
        <p:spPr>
          <a:xfrm>
            <a:off x="2103120" y="2103120"/>
            <a:ext cx="9144000" cy="1645920"/>
          </a:xfrm>
          <a:prstGeom prst="rect">
            <a:avLst/>
          </a:prstGeom>
          <a:noFill/>
          <a:ln/>
        </p:spPr>
        <p:txBody>
          <a:bodyPr wrap="square" lIns="0" tIns="0" rIns="0" bIns="0" rtlCol="0" anchor="t"/>
          <a:lstStyle/>
          <a:p>
            <a:pPr marL="0" indent="0">
              <a:buNone/>
            </a:pPr>
            <a:r>
              <a:rPr lang="en-US" sz="2400" b="1" dirty="0">
                <a:solidFill>
                  <a:srgbClr val="111111"/>
                </a:solidFill>
                <a:latin typeface="Calibri" pitchFamily="34" charset="0"/>
                <a:ea typeface="Calibri" pitchFamily="34" charset="-122"/>
                <a:cs typeface="Calibri" pitchFamily="34" charset="-120"/>
              </a:rPr>
              <a:t>What did you and your partner agree on?</a:t>
            </a:r>
            <a:endParaRPr lang="en-US" sz="2400" dirty="0"/>
          </a:p>
          <a:p>
            <a:pPr marL="0" indent="0">
              <a:buNone/>
            </a:pPr>
            <a:r>
              <a:rPr lang="en-US" sz="2400" dirty="0">
                <a:solidFill>
                  <a:srgbClr val="111111"/>
                </a:solidFill>
                <a:latin typeface="Calibri" pitchFamily="34" charset="0"/>
                <a:ea typeface="Calibri" pitchFamily="34" charset="-122"/>
                <a:cs typeface="Calibri" pitchFamily="34" charset="-120"/>
              </a:rPr>
              <a:t>Your teacher will write your key words on the board. We will test these ideas today.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The ugali kitchen: every kitchen has the same basics</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Text 6"/>
          <p:cNvSpPr txBox="1"/>
          <p:nvPr/>
        </p:nvSpPr>
        <p:spPr>
          <a:xfrm>
            <a:off x="548640" y="1508760"/>
            <a:ext cx="10972800" cy="640080"/>
          </a:xfrm>
          <a:prstGeom prst="rect">
            <a:avLst/>
          </a:prstGeom>
          <a:noFill/>
          <a:ln/>
        </p:spPr>
        <p:txBody>
          <a:bodyPr wrap="square" lIns="0" tIns="0" rIns="0" bIns="0" rtlCol="0" anchor="t"/>
          <a:lstStyle/>
          <a:p>
            <a:pPr marL="0" indent="0">
              <a:buNone/>
            </a:pPr>
            <a:r>
              <a:rPr lang="en-US" sz="1600" dirty="0">
                <a:solidFill>
                  <a:srgbClr val="5B6172"/>
                </a:solidFill>
                <a:latin typeface="Calibri" pitchFamily="34" charset="0"/>
                <a:ea typeface="Calibri" pitchFamily="34" charset="-122"/>
                <a:cs typeface="Calibri" pitchFamily="34" charset="-120"/>
              </a:rPr>
              <a:t>A home kitchen in Kericho and a hospital canteen in Nairobi have the same basic tools — set up differently, for a different job. Cells are like that too.</a:t>
            </a:r>
            <a:endParaRPr lang="en-US" sz="1600" dirty="0"/>
          </a:p>
        </p:txBody>
      </p:sp>
      <p:sp>
        <p:nvSpPr>
          <p:cNvPr id="11" name="Text 7"/>
          <p:cNvSpPr txBox="1"/>
          <p:nvPr/>
        </p:nvSpPr>
        <p:spPr>
          <a:xfrm>
            <a:off x="548640" y="2240280"/>
            <a:ext cx="4572000" cy="274320"/>
          </a:xfrm>
          <a:prstGeom prst="rect">
            <a:avLst/>
          </a:prstGeom>
          <a:noFill/>
          <a:ln/>
        </p:spPr>
        <p:txBody>
          <a:bodyPr wrap="square" lIns="0" tIns="0" rIns="0" bIns="0" rtlCol="0" anchor="ctr"/>
          <a:lstStyle/>
          <a:p>
            <a:pPr marL="0" indent="0">
              <a:buNone/>
            </a:pPr>
            <a:r>
              <a:rPr lang="en-US" sz="1100" b="1" kern="0" spc="200" dirty="0">
                <a:solidFill>
                  <a:srgbClr val="5B6172"/>
                </a:solidFill>
                <a:latin typeface="Calibri" pitchFamily="34" charset="0"/>
                <a:ea typeface="Calibri" pitchFamily="34" charset="-122"/>
                <a:cs typeface="Calibri" pitchFamily="34" charset="-120"/>
              </a:rPr>
              <a:t>KITCHEN FEATURE</a:t>
            </a:r>
            <a:endParaRPr lang="en-US" sz="1100" dirty="0"/>
          </a:p>
        </p:txBody>
      </p:sp>
      <p:sp>
        <p:nvSpPr>
          <p:cNvPr id="12" name="Text 8"/>
          <p:cNvSpPr txBox="1"/>
          <p:nvPr/>
        </p:nvSpPr>
        <p:spPr>
          <a:xfrm>
            <a:off x="6400800" y="2240280"/>
            <a:ext cx="4572000" cy="274320"/>
          </a:xfrm>
          <a:prstGeom prst="rect">
            <a:avLst/>
          </a:prstGeom>
          <a:noFill/>
          <a:ln/>
        </p:spPr>
        <p:txBody>
          <a:bodyPr wrap="square" lIns="0" tIns="0" rIns="0" bIns="0" rtlCol="0" anchor="ctr"/>
          <a:lstStyle/>
          <a:p>
            <a:pPr marL="0" indent="0">
              <a:buNone/>
            </a:pPr>
            <a:r>
              <a:rPr lang="en-US" sz="1100" b="1" kern="0" spc="200" dirty="0">
                <a:solidFill>
                  <a:srgbClr val="5B6172"/>
                </a:solidFill>
                <a:latin typeface="Calibri" pitchFamily="34" charset="0"/>
                <a:ea typeface="Calibri" pitchFamily="34" charset="-122"/>
                <a:cs typeface="Calibri" pitchFamily="34" charset="-120"/>
              </a:rPr>
              <a:t>CELL FEATURE</a:t>
            </a:r>
            <a:endParaRPr lang="en-US" sz="1100" dirty="0"/>
          </a:p>
        </p:txBody>
      </p:sp>
      <p:sp>
        <p:nvSpPr>
          <p:cNvPr id="13" name="Shape 9"/>
          <p:cNvSpPr/>
          <p:nvPr/>
        </p:nvSpPr>
        <p:spPr>
          <a:xfrm>
            <a:off x="548640" y="2560320"/>
            <a:ext cx="5212080" cy="512064"/>
          </a:xfrm>
          <a:prstGeom prst="roundRect">
            <a:avLst>
              <a:gd name="adj" fmla="val 21429"/>
            </a:avLst>
          </a:prstGeom>
          <a:solidFill>
            <a:srgbClr val="F7F9D9"/>
          </a:solidFill>
          <a:ln w="9525">
            <a:solidFill>
              <a:srgbClr val="F7F9D9"/>
            </a:solidFill>
            <a:prstDash val="solid"/>
          </a:ln>
        </p:spPr>
        <p:txBody>
          <a:bodyPr/>
          <a:lstStyle/>
          <a:p>
            <a:endParaRPr lang="en-US"/>
          </a:p>
        </p:txBody>
      </p:sp>
      <p:sp>
        <p:nvSpPr>
          <p:cNvPr id="14" name="Shape 10"/>
          <p:cNvSpPr/>
          <p:nvPr/>
        </p:nvSpPr>
        <p:spPr>
          <a:xfrm>
            <a:off x="658368" y="2624328"/>
            <a:ext cx="384048" cy="384048"/>
          </a:xfrm>
          <a:prstGeom prst="ellipse">
            <a:avLst/>
          </a:prstGeom>
          <a:solidFill>
            <a:srgbClr val="D7DF23"/>
          </a:solidFill>
          <a:ln w="12700">
            <a:solidFill>
              <a:srgbClr val="D7DF23"/>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762061" y="2728021"/>
            <a:ext cx="176662" cy="176662"/>
          </a:xfrm>
          <a:prstGeom prst="rect">
            <a:avLst/>
          </a:prstGeom>
        </p:spPr>
      </p:pic>
      <p:sp>
        <p:nvSpPr>
          <p:cNvPr id="16" name="Text 11"/>
          <p:cNvSpPr txBox="1"/>
          <p:nvPr/>
        </p:nvSpPr>
        <p:spPr>
          <a:xfrm>
            <a:off x="1188720" y="2560320"/>
            <a:ext cx="4480560" cy="512064"/>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The walls and the door</a:t>
            </a:r>
            <a:endParaRPr lang="en-US" sz="1600" dirty="0"/>
          </a:p>
        </p:txBody>
      </p:sp>
      <p:sp>
        <p:nvSpPr>
          <p:cNvPr id="17" name="Shape 12"/>
          <p:cNvSpPr/>
          <p:nvPr/>
        </p:nvSpPr>
        <p:spPr>
          <a:xfrm>
            <a:off x="5897880" y="2706624"/>
            <a:ext cx="365760" cy="219456"/>
          </a:xfrm>
          <a:prstGeom prst="rightArrow">
            <a:avLst/>
          </a:prstGeom>
          <a:solidFill>
            <a:srgbClr val="B8BDC9"/>
          </a:solidFill>
          <a:ln w="12700">
            <a:solidFill>
              <a:srgbClr val="B8BDC9"/>
            </a:solidFill>
            <a:prstDash val="solid"/>
          </a:ln>
        </p:spPr>
        <p:txBody>
          <a:bodyPr/>
          <a:lstStyle/>
          <a:p>
            <a:endParaRPr lang="en-US"/>
          </a:p>
        </p:txBody>
      </p:sp>
      <p:sp>
        <p:nvSpPr>
          <p:cNvPr id="18" name="Shape 13"/>
          <p:cNvSpPr/>
          <p:nvPr/>
        </p:nvSpPr>
        <p:spPr>
          <a:xfrm>
            <a:off x="6400800" y="2560320"/>
            <a:ext cx="5239512" cy="512064"/>
          </a:xfrm>
          <a:prstGeom prst="roundRect">
            <a:avLst>
              <a:gd name="adj" fmla="val 17857"/>
            </a:avLst>
          </a:prstGeom>
          <a:solidFill>
            <a:srgbClr val="FFFFFF"/>
          </a:solidFill>
          <a:ln w="15875">
            <a:solidFill>
              <a:srgbClr val="B8BDC9"/>
            </a:solidFill>
            <a:prstDash val="dash"/>
          </a:ln>
        </p:spPr>
        <p:txBody>
          <a:bodyPr/>
          <a:lstStyle/>
          <a:p>
            <a:endParaRPr lang="en-US"/>
          </a:p>
        </p:txBody>
      </p:sp>
      <p:sp>
        <p:nvSpPr>
          <p:cNvPr id="19" name="Text 14"/>
          <p:cNvSpPr txBox="1"/>
          <p:nvPr/>
        </p:nvSpPr>
        <p:spPr>
          <a:xfrm>
            <a:off x="6400800" y="2560320"/>
            <a:ext cx="5239512" cy="512064"/>
          </a:xfrm>
          <a:prstGeom prst="rect">
            <a:avLst/>
          </a:prstGeom>
          <a:noFill/>
          <a:ln/>
        </p:spPr>
        <p:txBody>
          <a:bodyPr wrap="square" lIns="0" tIns="0" rIns="0" bIns="0" rtlCol="0" anchor="ctr"/>
          <a:lstStyle/>
          <a:p>
            <a:pPr marL="0" indent="0" algn="ctr">
              <a:buNone/>
            </a:pPr>
            <a:r>
              <a:rPr lang="en-US" sz="1800" b="1" dirty="0">
                <a:solidFill>
                  <a:srgbClr val="B8BDC9"/>
                </a:solidFill>
                <a:latin typeface="Calibri" pitchFamily="34" charset="0"/>
                <a:ea typeface="Calibri" pitchFamily="34" charset="-122"/>
                <a:cs typeface="Calibri" pitchFamily="34" charset="-120"/>
              </a:rPr>
              <a:t>?</a:t>
            </a:r>
            <a:endParaRPr lang="en-US" sz="1800" dirty="0"/>
          </a:p>
        </p:txBody>
      </p:sp>
      <p:sp>
        <p:nvSpPr>
          <p:cNvPr id="20" name="Shape 15"/>
          <p:cNvSpPr/>
          <p:nvPr/>
        </p:nvSpPr>
        <p:spPr>
          <a:xfrm>
            <a:off x="548640" y="3163824"/>
            <a:ext cx="5212080" cy="512064"/>
          </a:xfrm>
          <a:prstGeom prst="roundRect">
            <a:avLst>
              <a:gd name="adj" fmla="val 21429"/>
            </a:avLst>
          </a:prstGeom>
          <a:solidFill>
            <a:srgbClr val="F7F9D9"/>
          </a:solidFill>
          <a:ln w="9525">
            <a:solidFill>
              <a:srgbClr val="F7F9D9"/>
            </a:solidFill>
            <a:prstDash val="solid"/>
          </a:ln>
        </p:spPr>
        <p:txBody>
          <a:bodyPr/>
          <a:lstStyle/>
          <a:p>
            <a:endParaRPr lang="en-US"/>
          </a:p>
        </p:txBody>
      </p:sp>
      <p:sp>
        <p:nvSpPr>
          <p:cNvPr id="21" name="Shape 16"/>
          <p:cNvSpPr/>
          <p:nvPr/>
        </p:nvSpPr>
        <p:spPr>
          <a:xfrm>
            <a:off x="658368" y="3227832"/>
            <a:ext cx="384048" cy="384048"/>
          </a:xfrm>
          <a:prstGeom prst="ellipse">
            <a:avLst/>
          </a:prstGeom>
          <a:solidFill>
            <a:srgbClr val="D7DF23"/>
          </a:solidFill>
          <a:ln w="12700">
            <a:solidFill>
              <a:srgbClr val="D7DF23"/>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762061" y="3331525"/>
            <a:ext cx="176662" cy="176662"/>
          </a:xfrm>
          <a:prstGeom prst="rect">
            <a:avLst/>
          </a:prstGeom>
        </p:spPr>
      </p:pic>
      <p:sp>
        <p:nvSpPr>
          <p:cNvPr id="23" name="Text 17"/>
          <p:cNvSpPr txBox="1"/>
          <p:nvPr/>
        </p:nvSpPr>
        <p:spPr>
          <a:xfrm>
            <a:off x="1188720" y="3163824"/>
            <a:ext cx="4480560" cy="512064"/>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The recipe book</a:t>
            </a:r>
            <a:endParaRPr lang="en-US" sz="1600" dirty="0"/>
          </a:p>
        </p:txBody>
      </p:sp>
      <p:sp>
        <p:nvSpPr>
          <p:cNvPr id="24" name="Shape 18"/>
          <p:cNvSpPr/>
          <p:nvPr/>
        </p:nvSpPr>
        <p:spPr>
          <a:xfrm>
            <a:off x="5897880" y="3310128"/>
            <a:ext cx="365760" cy="219456"/>
          </a:xfrm>
          <a:prstGeom prst="rightArrow">
            <a:avLst/>
          </a:prstGeom>
          <a:solidFill>
            <a:srgbClr val="B8BDC9"/>
          </a:solidFill>
          <a:ln w="12700">
            <a:solidFill>
              <a:srgbClr val="B8BDC9"/>
            </a:solidFill>
            <a:prstDash val="solid"/>
          </a:ln>
        </p:spPr>
        <p:txBody>
          <a:bodyPr/>
          <a:lstStyle/>
          <a:p>
            <a:endParaRPr lang="en-US"/>
          </a:p>
        </p:txBody>
      </p:sp>
      <p:sp>
        <p:nvSpPr>
          <p:cNvPr id="25" name="Shape 19"/>
          <p:cNvSpPr/>
          <p:nvPr/>
        </p:nvSpPr>
        <p:spPr>
          <a:xfrm>
            <a:off x="6400800" y="3163824"/>
            <a:ext cx="5239512" cy="512064"/>
          </a:xfrm>
          <a:prstGeom prst="roundRect">
            <a:avLst>
              <a:gd name="adj" fmla="val 17857"/>
            </a:avLst>
          </a:prstGeom>
          <a:solidFill>
            <a:srgbClr val="FFFFFF"/>
          </a:solidFill>
          <a:ln w="15875">
            <a:solidFill>
              <a:srgbClr val="B8BDC9"/>
            </a:solidFill>
            <a:prstDash val="dash"/>
          </a:ln>
        </p:spPr>
        <p:txBody>
          <a:bodyPr/>
          <a:lstStyle/>
          <a:p>
            <a:endParaRPr lang="en-US"/>
          </a:p>
        </p:txBody>
      </p:sp>
      <p:sp>
        <p:nvSpPr>
          <p:cNvPr id="26" name="Text 20"/>
          <p:cNvSpPr txBox="1"/>
          <p:nvPr/>
        </p:nvSpPr>
        <p:spPr>
          <a:xfrm>
            <a:off x="6400800" y="3163824"/>
            <a:ext cx="5239512" cy="512064"/>
          </a:xfrm>
          <a:prstGeom prst="rect">
            <a:avLst/>
          </a:prstGeom>
          <a:noFill/>
          <a:ln/>
        </p:spPr>
        <p:txBody>
          <a:bodyPr wrap="square" lIns="0" tIns="0" rIns="0" bIns="0" rtlCol="0" anchor="ctr"/>
          <a:lstStyle/>
          <a:p>
            <a:pPr marL="0" indent="0" algn="ctr">
              <a:buNone/>
            </a:pPr>
            <a:r>
              <a:rPr lang="en-US" sz="1800" b="1" dirty="0">
                <a:solidFill>
                  <a:srgbClr val="B8BDC9"/>
                </a:solidFill>
                <a:latin typeface="Calibri" pitchFamily="34" charset="0"/>
                <a:ea typeface="Calibri" pitchFamily="34" charset="-122"/>
                <a:cs typeface="Calibri" pitchFamily="34" charset="-120"/>
              </a:rPr>
              <a:t>?</a:t>
            </a:r>
            <a:endParaRPr lang="en-US" sz="1800" dirty="0"/>
          </a:p>
        </p:txBody>
      </p:sp>
      <p:sp>
        <p:nvSpPr>
          <p:cNvPr id="27" name="Shape 21"/>
          <p:cNvSpPr/>
          <p:nvPr/>
        </p:nvSpPr>
        <p:spPr>
          <a:xfrm>
            <a:off x="548640" y="3767328"/>
            <a:ext cx="5212080" cy="512064"/>
          </a:xfrm>
          <a:prstGeom prst="roundRect">
            <a:avLst>
              <a:gd name="adj" fmla="val 21429"/>
            </a:avLst>
          </a:prstGeom>
          <a:solidFill>
            <a:srgbClr val="F7F9D9"/>
          </a:solidFill>
          <a:ln w="9525">
            <a:solidFill>
              <a:srgbClr val="F7F9D9"/>
            </a:solidFill>
            <a:prstDash val="solid"/>
          </a:ln>
        </p:spPr>
        <p:txBody>
          <a:bodyPr/>
          <a:lstStyle/>
          <a:p>
            <a:endParaRPr lang="en-US"/>
          </a:p>
        </p:txBody>
      </p:sp>
      <p:sp>
        <p:nvSpPr>
          <p:cNvPr id="28" name="Shape 22"/>
          <p:cNvSpPr/>
          <p:nvPr/>
        </p:nvSpPr>
        <p:spPr>
          <a:xfrm>
            <a:off x="658368" y="3831336"/>
            <a:ext cx="384048" cy="384048"/>
          </a:xfrm>
          <a:prstGeom prst="ellipse">
            <a:avLst/>
          </a:prstGeom>
          <a:solidFill>
            <a:srgbClr val="D7DF23"/>
          </a:solidFill>
          <a:ln w="12700">
            <a:solidFill>
              <a:srgbClr val="D7DF23"/>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762061" y="3935029"/>
            <a:ext cx="176662" cy="176662"/>
          </a:xfrm>
          <a:prstGeom prst="rect">
            <a:avLst/>
          </a:prstGeom>
        </p:spPr>
      </p:pic>
      <p:sp>
        <p:nvSpPr>
          <p:cNvPr id="30" name="Text 23"/>
          <p:cNvSpPr txBox="1"/>
          <p:nvPr/>
        </p:nvSpPr>
        <p:spPr>
          <a:xfrm>
            <a:off x="1188720" y="3767328"/>
            <a:ext cx="4480560" cy="512064"/>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The jiko (stove)</a:t>
            </a:r>
            <a:endParaRPr lang="en-US" sz="1600" dirty="0"/>
          </a:p>
        </p:txBody>
      </p:sp>
      <p:sp>
        <p:nvSpPr>
          <p:cNvPr id="31" name="Shape 24"/>
          <p:cNvSpPr/>
          <p:nvPr/>
        </p:nvSpPr>
        <p:spPr>
          <a:xfrm>
            <a:off x="5897880" y="3913632"/>
            <a:ext cx="365760" cy="219456"/>
          </a:xfrm>
          <a:prstGeom prst="rightArrow">
            <a:avLst/>
          </a:prstGeom>
          <a:solidFill>
            <a:srgbClr val="B8BDC9"/>
          </a:solidFill>
          <a:ln w="12700">
            <a:solidFill>
              <a:srgbClr val="B8BDC9"/>
            </a:solidFill>
            <a:prstDash val="solid"/>
          </a:ln>
        </p:spPr>
        <p:txBody>
          <a:bodyPr/>
          <a:lstStyle/>
          <a:p>
            <a:endParaRPr lang="en-US"/>
          </a:p>
        </p:txBody>
      </p:sp>
      <p:sp>
        <p:nvSpPr>
          <p:cNvPr id="32" name="Shape 25"/>
          <p:cNvSpPr/>
          <p:nvPr/>
        </p:nvSpPr>
        <p:spPr>
          <a:xfrm>
            <a:off x="6400800" y="3767328"/>
            <a:ext cx="5239512" cy="512064"/>
          </a:xfrm>
          <a:prstGeom prst="roundRect">
            <a:avLst>
              <a:gd name="adj" fmla="val 17857"/>
            </a:avLst>
          </a:prstGeom>
          <a:solidFill>
            <a:srgbClr val="FFFFFF"/>
          </a:solidFill>
          <a:ln w="15875">
            <a:solidFill>
              <a:srgbClr val="B8BDC9"/>
            </a:solidFill>
            <a:prstDash val="dash"/>
          </a:ln>
        </p:spPr>
        <p:txBody>
          <a:bodyPr/>
          <a:lstStyle/>
          <a:p>
            <a:endParaRPr lang="en-US"/>
          </a:p>
        </p:txBody>
      </p:sp>
      <p:sp>
        <p:nvSpPr>
          <p:cNvPr id="33" name="Text 26"/>
          <p:cNvSpPr txBox="1"/>
          <p:nvPr/>
        </p:nvSpPr>
        <p:spPr>
          <a:xfrm>
            <a:off x="6400800" y="3767328"/>
            <a:ext cx="5239512" cy="512064"/>
          </a:xfrm>
          <a:prstGeom prst="rect">
            <a:avLst/>
          </a:prstGeom>
          <a:noFill/>
          <a:ln/>
        </p:spPr>
        <p:txBody>
          <a:bodyPr wrap="square" lIns="0" tIns="0" rIns="0" bIns="0" rtlCol="0" anchor="ctr"/>
          <a:lstStyle/>
          <a:p>
            <a:pPr marL="0" indent="0" algn="ctr">
              <a:buNone/>
            </a:pPr>
            <a:r>
              <a:rPr lang="en-US" sz="1800" b="1" dirty="0">
                <a:solidFill>
                  <a:srgbClr val="B8BDC9"/>
                </a:solidFill>
                <a:latin typeface="Calibri" pitchFamily="34" charset="0"/>
                <a:ea typeface="Calibri" pitchFamily="34" charset="-122"/>
                <a:cs typeface="Calibri" pitchFamily="34" charset="-120"/>
              </a:rPr>
              <a:t>?</a:t>
            </a:r>
            <a:endParaRPr lang="en-US" sz="1800" dirty="0"/>
          </a:p>
        </p:txBody>
      </p:sp>
      <p:sp>
        <p:nvSpPr>
          <p:cNvPr id="34" name="Shape 27"/>
          <p:cNvSpPr/>
          <p:nvPr/>
        </p:nvSpPr>
        <p:spPr>
          <a:xfrm>
            <a:off x="548640" y="4370832"/>
            <a:ext cx="5212080" cy="512064"/>
          </a:xfrm>
          <a:prstGeom prst="roundRect">
            <a:avLst>
              <a:gd name="adj" fmla="val 21429"/>
            </a:avLst>
          </a:prstGeom>
          <a:solidFill>
            <a:srgbClr val="F7F9D9"/>
          </a:solidFill>
          <a:ln w="9525">
            <a:solidFill>
              <a:srgbClr val="F7F9D9"/>
            </a:solidFill>
            <a:prstDash val="solid"/>
          </a:ln>
        </p:spPr>
        <p:txBody>
          <a:bodyPr/>
          <a:lstStyle/>
          <a:p>
            <a:endParaRPr lang="en-US"/>
          </a:p>
        </p:txBody>
      </p:sp>
      <p:sp>
        <p:nvSpPr>
          <p:cNvPr id="35" name="Shape 28"/>
          <p:cNvSpPr/>
          <p:nvPr/>
        </p:nvSpPr>
        <p:spPr>
          <a:xfrm>
            <a:off x="658368" y="4434840"/>
            <a:ext cx="384048" cy="384048"/>
          </a:xfrm>
          <a:prstGeom prst="ellipse">
            <a:avLst/>
          </a:prstGeom>
          <a:solidFill>
            <a:srgbClr val="D7DF23"/>
          </a:solidFill>
          <a:ln w="12700">
            <a:solidFill>
              <a:srgbClr val="D7DF23"/>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762061" y="4538533"/>
            <a:ext cx="176662" cy="176662"/>
          </a:xfrm>
          <a:prstGeom prst="rect">
            <a:avLst/>
          </a:prstGeom>
        </p:spPr>
      </p:pic>
      <p:sp>
        <p:nvSpPr>
          <p:cNvPr id="37" name="Text 29"/>
          <p:cNvSpPr txBox="1"/>
          <p:nvPr/>
        </p:nvSpPr>
        <p:spPr>
          <a:xfrm>
            <a:off x="1188720" y="4370832"/>
            <a:ext cx="4480560" cy="512064"/>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Sufuria, mwiko, chopping board</a:t>
            </a:r>
            <a:endParaRPr lang="en-US" sz="1600" dirty="0"/>
          </a:p>
        </p:txBody>
      </p:sp>
      <p:sp>
        <p:nvSpPr>
          <p:cNvPr id="38" name="Shape 30"/>
          <p:cNvSpPr/>
          <p:nvPr/>
        </p:nvSpPr>
        <p:spPr>
          <a:xfrm>
            <a:off x="5897880" y="4517136"/>
            <a:ext cx="365760" cy="219456"/>
          </a:xfrm>
          <a:prstGeom prst="rightArrow">
            <a:avLst/>
          </a:prstGeom>
          <a:solidFill>
            <a:srgbClr val="B8BDC9"/>
          </a:solidFill>
          <a:ln w="12700">
            <a:solidFill>
              <a:srgbClr val="B8BDC9"/>
            </a:solidFill>
            <a:prstDash val="solid"/>
          </a:ln>
        </p:spPr>
        <p:txBody>
          <a:bodyPr/>
          <a:lstStyle/>
          <a:p>
            <a:endParaRPr lang="en-US"/>
          </a:p>
        </p:txBody>
      </p:sp>
      <p:sp>
        <p:nvSpPr>
          <p:cNvPr id="39" name="Shape 31"/>
          <p:cNvSpPr/>
          <p:nvPr/>
        </p:nvSpPr>
        <p:spPr>
          <a:xfrm>
            <a:off x="6400800" y="4370832"/>
            <a:ext cx="5239512" cy="512064"/>
          </a:xfrm>
          <a:prstGeom prst="roundRect">
            <a:avLst>
              <a:gd name="adj" fmla="val 17857"/>
            </a:avLst>
          </a:prstGeom>
          <a:solidFill>
            <a:srgbClr val="FFFFFF"/>
          </a:solidFill>
          <a:ln w="15875">
            <a:solidFill>
              <a:srgbClr val="B8BDC9"/>
            </a:solidFill>
            <a:prstDash val="dash"/>
          </a:ln>
        </p:spPr>
        <p:txBody>
          <a:bodyPr/>
          <a:lstStyle/>
          <a:p>
            <a:endParaRPr lang="en-US"/>
          </a:p>
        </p:txBody>
      </p:sp>
      <p:sp>
        <p:nvSpPr>
          <p:cNvPr id="40" name="Text 32"/>
          <p:cNvSpPr txBox="1"/>
          <p:nvPr/>
        </p:nvSpPr>
        <p:spPr>
          <a:xfrm>
            <a:off x="6400800" y="4370832"/>
            <a:ext cx="5239512" cy="512064"/>
          </a:xfrm>
          <a:prstGeom prst="rect">
            <a:avLst/>
          </a:prstGeom>
          <a:noFill/>
          <a:ln/>
        </p:spPr>
        <p:txBody>
          <a:bodyPr wrap="square" lIns="0" tIns="0" rIns="0" bIns="0" rtlCol="0" anchor="ctr"/>
          <a:lstStyle/>
          <a:p>
            <a:pPr marL="0" indent="0" algn="ctr">
              <a:buNone/>
            </a:pPr>
            <a:r>
              <a:rPr lang="en-US" sz="1800" b="1" dirty="0">
                <a:solidFill>
                  <a:srgbClr val="B8BDC9"/>
                </a:solidFill>
                <a:latin typeface="Calibri" pitchFamily="34" charset="0"/>
                <a:ea typeface="Calibri" pitchFamily="34" charset="-122"/>
                <a:cs typeface="Calibri" pitchFamily="34" charset="-120"/>
              </a:rPr>
              <a:t>?</a:t>
            </a:r>
            <a:endParaRPr lang="en-US" sz="1800" dirty="0"/>
          </a:p>
        </p:txBody>
      </p:sp>
      <p:sp>
        <p:nvSpPr>
          <p:cNvPr id="41" name="Shape 33"/>
          <p:cNvSpPr/>
          <p:nvPr/>
        </p:nvSpPr>
        <p:spPr>
          <a:xfrm>
            <a:off x="548640" y="4974336"/>
            <a:ext cx="5212080" cy="512064"/>
          </a:xfrm>
          <a:prstGeom prst="roundRect">
            <a:avLst>
              <a:gd name="adj" fmla="val 21429"/>
            </a:avLst>
          </a:prstGeom>
          <a:solidFill>
            <a:srgbClr val="F7F9D9"/>
          </a:solidFill>
          <a:ln w="9525">
            <a:solidFill>
              <a:srgbClr val="F7F9D9"/>
            </a:solidFill>
            <a:prstDash val="solid"/>
          </a:ln>
        </p:spPr>
        <p:txBody>
          <a:bodyPr/>
          <a:lstStyle/>
          <a:p>
            <a:endParaRPr lang="en-US"/>
          </a:p>
        </p:txBody>
      </p:sp>
      <p:sp>
        <p:nvSpPr>
          <p:cNvPr id="42" name="Shape 34"/>
          <p:cNvSpPr/>
          <p:nvPr/>
        </p:nvSpPr>
        <p:spPr>
          <a:xfrm>
            <a:off x="658368" y="5038344"/>
            <a:ext cx="384048" cy="384048"/>
          </a:xfrm>
          <a:prstGeom prst="ellipse">
            <a:avLst/>
          </a:prstGeom>
          <a:solidFill>
            <a:srgbClr val="D7DF23"/>
          </a:solidFill>
          <a:ln w="12700">
            <a:solidFill>
              <a:srgbClr val="D7DF23"/>
            </a:solidFill>
            <a:prstDash val="solid"/>
          </a:ln>
        </p:spPr>
        <p:txBody>
          <a:bodyPr/>
          <a:lstStyle/>
          <a:p>
            <a:endParaRPr lang="en-US"/>
          </a:p>
        </p:txBody>
      </p:sp>
      <p:pic>
        <p:nvPicPr>
          <p:cNvPr id="43" name="Image 6" descr="preencoded.png"/>
          <p:cNvPicPr>
            <a:picLocks noChangeAspect="1"/>
          </p:cNvPicPr>
          <p:nvPr/>
        </p:nvPicPr>
        <p:blipFill>
          <a:blip r:embed="rId9"/>
          <a:stretch>
            <a:fillRect/>
          </a:stretch>
        </p:blipFill>
        <p:spPr>
          <a:xfrm>
            <a:off x="762061" y="5142037"/>
            <a:ext cx="176662" cy="176662"/>
          </a:xfrm>
          <a:prstGeom prst="rect">
            <a:avLst/>
          </a:prstGeom>
        </p:spPr>
      </p:pic>
      <p:sp>
        <p:nvSpPr>
          <p:cNvPr id="44" name="Text 35"/>
          <p:cNvSpPr txBox="1"/>
          <p:nvPr/>
        </p:nvSpPr>
        <p:spPr>
          <a:xfrm>
            <a:off x="1188720" y="4974336"/>
            <a:ext cx="4480560" cy="512064"/>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The space where the cook works</a:t>
            </a:r>
            <a:endParaRPr lang="en-US" sz="1600" dirty="0"/>
          </a:p>
        </p:txBody>
      </p:sp>
      <p:sp>
        <p:nvSpPr>
          <p:cNvPr id="45" name="Shape 36"/>
          <p:cNvSpPr/>
          <p:nvPr/>
        </p:nvSpPr>
        <p:spPr>
          <a:xfrm>
            <a:off x="5897880" y="5120640"/>
            <a:ext cx="365760" cy="219456"/>
          </a:xfrm>
          <a:prstGeom prst="rightArrow">
            <a:avLst/>
          </a:prstGeom>
          <a:solidFill>
            <a:srgbClr val="B8BDC9"/>
          </a:solidFill>
          <a:ln w="12700">
            <a:solidFill>
              <a:srgbClr val="B8BDC9"/>
            </a:solidFill>
            <a:prstDash val="solid"/>
          </a:ln>
        </p:spPr>
        <p:txBody>
          <a:bodyPr/>
          <a:lstStyle/>
          <a:p>
            <a:endParaRPr lang="en-US"/>
          </a:p>
        </p:txBody>
      </p:sp>
      <p:sp>
        <p:nvSpPr>
          <p:cNvPr id="46" name="Shape 37"/>
          <p:cNvSpPr/>
          <p:nvPr/>
        </p:nvSpPr>
        <p:spPr>
          <a:xfrm>
            <a:off x="6400800" y="4974336"/>
            <a:ext cx="5239512" cy="512064"/>
          </a:xfrm>
          <a:prstGeom prst="roundRect">
            <a:avLst>
              <a:gd name="adj" fmla="val 17857"/>
            </a:avLst>
          </a:prstGeom>
          <a:solidFill>
            <a:srgbClr val="FFFFFF"/>
          </a:solidFill>
          <a:ln w="15875">
            <a:solidFill>
              <a:srgbClr val="B8BDC9"/>
            </a:solidFill>
            <a:prstDash val="dash"/>
          </a:ln>
        </p:spPr>
        <p:txBody>
          <a:bodyPr/>
          <a:lstStyle/>
          <a:p>
            <a:endParaRPr lang="en-US"/>
          </a:p>
        </p:txBody>
      </p:sp>
      <p:sp>
        <p:nvSpPr>
          <p:cNvPr id="47" name="Text 38"/>
          <p:cNvSpPr txBox="1"/>
          <p:nvPr/>
        </p:nvSpPr>
        <p:spPr>
          <a:xfrm>
            <a:off x="6400800" y="4974336"/>
            <a:ext cx="5239512" cy="512064"/>
          </a:xfrm>
          <a:prstGeom prst="rect">
            <a:avLst/>
          </a:prstGeom>
          <a:noFill/>
          <a:ln/>
        </p:spPr>
        <p:txBody>
          <a:bodyPr wrap="square" lIns="0" tIns="0" rIns="0" bIns="0" rtlCol="0" anchor="ctr"/>
          <a:lstStyle/>
          <a:p>
            <a:pPr marL="0" indent="0" algn="ctr">
              <a:buNone/>
            </a:pPr>
            <a:r>
              <a:rPr lang="en-US" sz="1800" b="1" dirty="0">
                <a:solidFill>
                  <a:srgbClr val="B8BDC9"/>
                </a:solidFill>
                <a:latin typeface="Calibri" pitchFamily="34" charset="0"/>
                <a:ea typeface="Calibri" pitchFamily="34" charset="-122"/>
                <a:cs typeface="Calibri" pitchFamily="34" charset="-120"/>
              </a:rPr>
              <a:t>?</a:t>
            </a:r>
            <a:endParaRPr lang="en-US" sz="1800" dirty="0"/>
          </a:p>
        </p:txBody>
      </p:sp>
      <p:sp>
        <p:nvSpPr>
          <p:cNvPr id="48" name="Text 39"/>
          <p:cNvSpPr txBox="1"/>
          <p:nvPr/>
        </p:nvSpPr>
        <p:spPr>
          <a:xfrm>
            <a:off x="548640" y="5623560"/>
            <a:ext cx="11064240" cy="411480"/>
          </a:xfrm>
          <a:prstGeom prst="rect">
            <a:avLst/>
          </a:prstGeom>
          <a:noFill/>
          <a:ln/>
        </p:spPr>
        <p:txBody>
          <a:bodyPr wrap="square" lIns="0" tIns="0" rIns="0" bIns="0" rtlCol="0" anchor="ctr"/>
          <a:lstStyle/>
          <a:p>
            <a:pPr marL="0" indent="0">
              <a:buNone/>
            </a:pPr>
            <a:r>
              <a:rPr lang="en-US" sz="1500" b="1" i="1" dirty="0">
                <a:solidFill>
                  <a:srgbClr val="5F6300"/>
                </a:solidFill>
                <a:latin typeface="Calibri" pitchFamily="34" charset="0"/>
                <a:ea typeface="Calibri" pitchFamily="34" charset="-122"/>
                <a:cs typeface="Calibri" pitchFamily="34" charset="-120"/>
              </a:rPr>
              <a:t>Which part of the kitchen is like the cell membrane — the part that controls what comes in and goes out?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An animal cell (eukaryote)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pic>
        <p:nvPicPr>
          <p:cNvPr id="10" name="Image 2" descr="preencoded.png"/>
          <p:cNvPicPr>
            <a:picLocks noChangeAspect="1"/>
          </p:cNvPicPr>
          <p:nvPr/>
        </p:nvPicPr>
        <p:blipFill>
          <a:blip r:embed="rId5"/>
          <a:stretch>
            <a:fillRect/>
          </a:stretch>
        </p:blipFill>
        <p:spPr>
          <a:xfrm>
            <a:off x="2330671" y="1691640"/>
            <a:ext cx="7530353" cy="3657600"/>
          </a:xfrm>
          <a:prstGeom prst="rect">
            <a:avLst/>
          </a:prstGeom>
        </p:spPr>
      </p:pic>
      <p:sp>
        <p:nvSpPr>
          <p:cNvPr id="11" name="Text 6"/>
          <p:cNvSpPr txBox="1"/>
          <p:nvPr/>
        </p:nvSpPr>
        <p:spPr>
          <a:xfrm>
            <a:off x="548640" y="5486400"/>
            <a:ext cx="11064240" cy="411480"/>
          </a:xfrm>
          <a:prstGeom prst="rect">
            <a:avLst/>
          </a:prstGeom>
          <a:noFill/>
          <a:ln/>
        </p:spPr>
        <p:txBody>
          <a:bodyPr wrap="square" lIns="0" tIns="0" rIns="0" bIns="0" rtlCol="0" anchor="ctr"/>
          <a:lstStyle/>
          <a:p>
            <a:pPr marL="0" indent="0" algn="ctr">
              <a:buNone/>
            </a:pPr>
            <a:r>
              <a:rPr lang="en-US" sz="1500" i="1" dirty="0">
                <a:solidFill>
                  <a:srgbClr val="5B6172"/>
                </a:solidFill>
                <a:latin typeface="Calibri" pitchFamily="34" charset="0"/>
                <a:ea typeface="Calibri" pitchFamily="34" charset="-122"/>
                <a:cs typeface="Calibri" pitchFamily="34" charset="-120"/>
              </a:rPr>
              <a:t>Animal cells, like the skin cells in Amina’s finger, have a nucleus and many organelles — but no cell wall.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A plant cell (eukaryote)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pic>
        <p:nvPicPr>
          <p:cNvPr id="10" name="Image 2" descr="preencoded.png"/>
          <p:cNvPicPr>
            <a:picLocks noChangeAspect="1"/>
          </p:cNvPicPr>
          <p:nvPr/>
        </p:nvPicPr>
        <p:blipFill>
          <a:blip r:embed="rId5"/>
          <a:stretch>
            <a:fillRect/>
          </a:stretch>
        </p:blipFill>
        <p:spPr>
          <a:xfrm>
            <a:off x="2492036" y="1691640"/>
            <a:ext cx="7207624" cy="3657600"/>
          </a:xfrm>
          <a:prstGeom prst="rect">
            <a:avLst/>
          </a:prstGeom>
        </p:spPr>
      </p:pic>
      <p:sp>
        <p:nvSpPr>
          <p:cNvPr id="11" name="Text 6"/>
          <p:cNvSpPr txBox="1"/>
          <p:nvPr/>
        </p:nvSpPr>
        <p:spPr>
          <a:xfrm>
            <a:off x="548640" y="5486400"/>
            <a:ext cx="11064240" cy="411480"/>
          </a:xfrm>
          <a:prstGeom prst="rect">
            <a:avLst/>
          </a:prstGeom>
          <a:noFill/>
          <a:ln/>
        </p:spPr>
        <p:txBody>
          <a:bodyPr wrap="square" lIns="0" tIns="0" rIns="0" bIns="0" rtlCol="0" anchor="ctr"/>
          <a:lstStyle/>
          <a:p>
            <a:pPr marL="0" indent="0" algn="ctr">
              <a:buNone/>
            </a:pPr>
            <a:r>
              <a:rPr lang="en-US" sz="1500" i="1" dirty="0">
                <a:solidFill>
                  <a:srgbClr val="5B6172"/>
                </a:solidFill>
                <a:latin typeface="Calibri" pitchFamily="34" charset="0"/>
                <a:ea typeface="Calibri" pitchFamily="34" charset="-122"/>
                <a:cs typeface="Calibri" pitchFamily="34" charset="-120"/>
              </a:rPr>
              <a:t>Plant cells also have a nucleus and organelles — plus a cell wall, a large vacuole and chloroplasts.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A bacterium, E. coli (prokaryote)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pic>
        <p:nvPicPr>
          <p:cNvPr id="10" name="Image 2" descr="preencoded.png"/>
          <p:cNvPicPr>
            <a:picLocks noChangeAspect="1"/>
          </p:cNvPicPr>
          <p:nvPr/>
        </p:nvPicPr>
        <p:blipFill>
          <a:blip r:embed="rId5"/>
          <a:stretch>
            <a:fillRect/>
          </a:stretch>
        </p:blipFill>
        <p:spPr>
          <a:xfrm>
            <a:off x="2316328" y="1691640"/>
            <a:ext cx="7559040" cy="3657600"/>
          </a:xfrm>
          <a:prstGeom prst="rect">
            <a:avLst/>
          </a:prstGeom>
        </p:spPr>
      </p:pic>
      <p:sp>
        <p:nvSpPr>
          <p:cNvPr id="11" name="Text 6"/>
          <p:cNvSpPr txBox="1"/>
          <p:nvPr/>
        </p:nvSpPr>
        <p:spPr>
          <a:xfrm>
            <a:off x="548640" y="5486400"/>
            <a:ext cx="11064240" cy="411480"/>
          </a:xfrm>
          <a:prstGeom prst="rect">
            <a:avLst/>
          </a:prstGeom>
          <a:noFill/>
          <a:ln/>
        </p:spPr>
        <p:txBody>
          <a:bodyPr wrap="square" lIns="0" tIns="0" rIns="0" bIns="0" rtlCol="0" anchor="ctr"/>
          <a:lstStyle/>
          <a:p>
            <a:pPr marL="0" indent="0" algn="ctr">
              <a:buNone/>
            </a:pPr>
            <a:r>
              <a:rPr lang="en-US" sz="1500" i="1" dirty="0">
                <a:solidFill>
                  <a:srgbClr val="5B6172"/>
                </a:solidFill>
                <a:latin typeface="Calibri" pitchFamily="34" charset="0"/>
                <a:ea typeface="Calibri" pitchFamily="34" charset="-122"/>
                <a:cs typeface="Calibri" pitchFamily="34" charset="-120"/>
              </a:rPr>
              <a:t>Bacteria are much smaller. Their DNA is not inside a nucleus. E. coli can infect a cut — or nyama choma that is badly stored.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Cell Theory Evidence Table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691640"/>
            <a:ext cx="2103120" cy="502920"/>
          </a:xfrm>
          <a:prstGeom prst="rect">
            <a:avLst/>
          </a:prstGeom>
          <a:solidFill>
            <a:srgbClr val="111111"/>
          </a:solidFill>
          <a:ln w="12700">
            <a:solidFill>
              <a:srgbClr val="FFFFFF"/>
            </a:solidFill>
            <a:prstDash val="solid"/>
          </a:ln>
        </p:spPr>
        <p:txBody>
          <a:bodyPr/>
          <a:lstStyle/>
          <a:p>
            <a:endParaRPr lang="en-US"/>
          </a:p>
        </p:txBody>
      </p:sp>
      <p:sp>
        <p:nvSpPr>
          <p:cNvPr id="11" name="Text 7"/>
          <p:cNvSpPr txBox="1"/>
          <p:nvPr/>
        </p:nvSpPr>
        <p:spPr>
          <a:xfrm>
            <a:off x="658368" y="1691640"/>
            <a:ext cx="192024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Scientist</a:t>
            </a:r>
            <a:endParaRPr lang="en-US" sz="1400" dirty="0"/>
          </a:p>
        </p:txBody>
      </p:sp>
      <p:sp>
        <p:nvSpPr>
          <p:cNvPr id="12" name="Shape 8"/>
          <p:cNvSpPr/>
          <p:nvPr/>
        </p:nvSpPr>
        <p:spPr>
          <a:xfrm>
            <a:off x="2651760" y="1691640"/>
            <a:ext cx="2103120" cy="502920"/>
          </a:xfrm>
          <a:prstGeom prst="rect">
            <a:avLst/>
          </a:prstGeom>
          <a:solidFill>
            <a:srgbClr val="111111"/>
          </a:solidFill>
          <a:ln w="12700">
            <a:solidFill>
              <a:srgbClr val="FFFFFF"/>
            </a:solidFill>
            <a:prstDash val="solid"/>
          </a:ln>
        </p:spPr>
        <p:txBody>
          <a:bodyPr/>
          <a:lstStyle/>
          <a:p>
            <a:endParaRPr lang="en-US"/>
          </a:p>
        </p:txBody>
      </p:sp>
      <p:sp>
        <p:nvSpPr>
          <p:cNvPr id="13" name="Text 9"/>
          <p:cNvSpPr txBox="1"/>
          <p:nvPr/>
        </p:nvSpPr>
        <p:spPr>
          <a:xfrm>
            <a:off x="2761488" y="1691640"/>
            <a:ext cx="192024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Where and when</a:t>
            </a:r>
            <a:endParaRPr lang="en-US" sz="1400" dirty="0"/>
          </a:p>
        </p:txBody>
      </p:sp>
      <p:sp>
        <p:nvSpPr>
          <p:cNvPr id="14" name="Shape 10"/>
          <p:cNvSpPr/>
          <p:nvPr/>
        </p:nvSpPr>
        <p:spPr>
          <a:xfrm>
            <a:off x="4754880" y="1691640"/>
            <a:ext cx="3291840" cy="502920"/>
          </a:xfrm>
          <a:prstGeom prst="rect">
            <a:avLst/>
          </a:prstGeom>
          <a:solidFill>
            <a:srgbClr val="111111"/>
          </a:solidFill>
          <a:ln w="12700">
            <a:solidFill>
              <a:srgbClr val="FFFFFF"/>
            </a:solidFill>
            <a:prstDash val="solid"/>
          </a:ln>
        </p:spPr>
        <p:txBody>
          <a:bodyPr/>
          <a:lstStyle/>
          <a:p>
            <a:endParaRPr lang="en-US"/>
          </a:p>
        </p:txBody>
      </p:sp>
      <p:sp>
        <p:nvSpPr>
          <p:cNvPr id="15" name="Text 11"/>
          <p:cNvSpPr txBox="1"/>
          <p:nvPr/>
        </p:nvSpPr>
        <p:spPr>
          <a:xfrm>
            <a:off x="4864608" y="1691640"/>
            <a:ext cx="31089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What they found</a:t>
            </a:r>
            <a:endParaRPr lang="en-US" sz="1400" dirty="0"/>
          </a:p>
        </p:txBody>
      </p:sp>
      <p:sp>
        <p:nvSpPr>
          <p:cNvPr id="16" name="Shape 12"/>
          <p:cNvSpPr/>
          <p:nvPr/>
        </p:nvSpPr>
        <p:spPr>
          <a:xfrm>
            <a:off x="8046720" y="1691640"/>
            <a:ext cx="3593592" cy="502920"/>
          </a:xfrm>
          <a:prstGeom prst="rect">
            <a:avLst/>
          </a:prstGeom>
          <a:solidFill>
            <a:srgbClr val="111111"/>
          </a:solidFill>
          <a:ln w="12700">
            <a:solidFill>
              <a:srgbClr val="FFFFFF"/>
            </a:solidFill>
            <a:prstDash val="solid"/>
          </a:ln>
        </p:spPr>
        <p:txBody>
          <a:bodyPr/>
          <a:lstStyle/>
          <a:p>
            <a:endParaRPr lang="en-US"/>
          </a:p>
        </p:txBody>
      </p:sp>
      <p:sp>
        <p:nvSpPr>
          <p:cNvPr id="17" name="Text 13"/>
          <p:cNvSpPr txBox="1"/>
          <p:nvPr/>
        </p:nvSpPr>
        <p:spPr>
          <a:xfrm>
            <a:off x="8156448" y="1691640"/>
            <a:ext cx="3410712"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it connects to Amina’s finger</a:t>
            </a:r>
            <a:endParaRPr lang="en-US" sz="1400" dirty="0"/>
          </a:p>
        </p:txBody>
      </p:sp>
      <p:sp>
        <p:nvSpPr>
          <p:cNvPr id="18" name="Shape 14"/>
          <p:cNvSpPr/>
          <p:nvPr/>
        </p:nvSpPr>
        <p:spPr>
          <a:xfrm>
            <a:off x="548640" y="2194560"/>
            <a:ext cx="2103120" cy="1005840"/>
          </a:xfrm>
          <a:prstGeom prst="rect">
            <a:avLst/>
          </a:prstGeom>
          <a:solidFill>
            <a:srgbClr val="F7F9D9"/>
          </a:solidFill>
          <a:ln w="12700">
            <a:solidFill>
              <a:srgbClr val="C9CDD6"/>
            </a:solidFill>
            <a:prstDash val="solid"/>
          </a:ln>
        </p:spPr>
        <p:txBody>
          <a:bodyPr/>
          <a:lstStyle/>
          <a:p>
            <a:endParaRPr lang="en-US"/>
          </a:p>
        </p:txBody>
      </p:sp>
      <p:sp>
        <p:nvSpPr>
          <p:cNvPr id="19" name="Shape 15"/>
          <p:cNvSpPr/>
          <p:nvPr/>
        </p:nvSpPr>
        <p:spPr>
          <a:xfrm>
            <a:off x="2651760" y="2194560"/>
            <a:ext cx="2103120" cy="1005840"/>
          </a:xfrm>
          <a:prstGeom prst="rect">
            <a:avLst/>
          </a:prstGeom>
          <a:solidFill>
            <a:srgbClr val="FFFFFF"/>
          </a:solidFill>
          <a:ln w="12700">
            <a:solidFill>
              <a:srgbClr val="C9CDD6"/>
            </a:solidFill>
            <a:prstDash val="solid"/>
          </a:ln>
        </p:spPr>
        <p:txBody>
          <a:bodyPr/>
          <a:lstStyle/>
          <a:p>
            <a:endParaRPr lang="en-US"/>
          </a:p>
        </p:txBody>
      </p:sp>
      <p:sp>
        <p:nvSpPr>
          <p:cNvPr id="20" name="Shape 16"/>
          <p:cNvSpPr/>
          <p:nvPr/>
        </p:nvSpPr>
        <p:spPr>
          <a:xfrm>
            <a:off x="4754880" y="2194560"/>
            <a:ext cx="3291840" cy="1005840"/>
          </a:xfrm>
          <a:prstGeom prst="rect">
            <a:avLst/>
          </a:prstGeom>
          <a:solidFill>
            <a:srgbClr val="FFFFFF"/>
          </a:solidFill>
          <a:ln w="12700">
            <a:solidFill>
              <a:srgbClr val="C9CDD6"/>
            </a:solidFill>
            <a:prstDash val="solid"/>
          </a:ln>
        </p:spPr>
        <p:txBody>
          <a:bodyPr/>
          <a:lstStyle/>
          <a:p>
            <a:endParaRPr lang="en-US"/>
          </a:p>
        </p:txBody>
      </p:sp>
      <p:sp>
        <p:nvSpPr>
          <p:cNvPr id="21" name="Shape 17"/>
          <p:cNvSpPr/>
          <p:nvPr/>
        </p:nvSpPr>
        <p:spPr>
          <a:xfrm>
            <a:off x="8046720" y="2194560"/>
            <a:ext cx="3593592" cy="1005840"/>
          </a:xfrm>
          <a:prstGeom prst="rect">
            <a:avLst/>
          </a:prstGeom>
          <a:solidFill>
            <a:srgbClr val="FFFFFF"/>
          </a:solidFill>
          <a:ln w="12700">
            <a:solidFill>
              <a:srgbClr val="C9CDD6"/>
            </a:solidFill>
            <a:prstDash val="solid"/>
          </a:ln>
        </p:spPr>
        <p:txBody>
          <a:bodyPr/>
          <a:lstStyle/>
          <a:p>
            <a:endParaRPr lang="en-US"/>
          </a:p>
        </p:txBody>
      </p:sp>
      <p:sp>
        <p:nvSpPr>
          <p:cNvPr id="22" name="Text 18"/>
          <p:cNvSpPr txBox="1"/>
          <p:nvPr/>
        </p:nvSpPr>
        <p:spPr>
          <a:xfrm>
            <a:off x="658368" y="2194560"/>
            <a:ext cx="1920240" cy="1005840"/>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Matthias Schleiden</a:t>
            </a:r>
            <a:endParaRPr lang="en-US" sz="1600" dirty="0"/>
          </a:p>
        </p:txBody>
      </p:sp>
      <p:sp>
        <p:nvSpPr>
          <p:cNvPr id="23" name="Shape 19"/>
          <p:cNvSpPr/>
          <p:nvPr/>
        </p:nvSpPr>
        <p:spPr>
          <a:xfrm>
            <a:off x="548640" y="3200400"/>
            <a:ext cx="2103120" cy="1005840"/>
          </a:xfrm>
          <a:prstGeom prst="rect">
            <a:avLst/>
          </a:prstGeom>
          <a:solidFill>
            <a:srgbClr val="F7F9D9"/>
          </a:solidFill>
          <a:ln w="12700">
            <a:solidFill>
              <a:srgbClr val="C9CDD6"/>
            </a:solidFill>
            <a:prstDash val="solid"/>
          </a:ln>
        </p:spPr>
        <p:txBody>
          <a:bodyPr/>
          <a:lstStyle/>
          <a:p>
            <a:endParaRPr lang="en-US"/>
          </a:p>
        </p:txBody>
      </p:sp>
      <p:sp>
        <p:nvSpPr>
          <p:cNvPr id="24" name="Shape 20"/>
          <p:cNvSpPr/>
          <p:nvPr/>
        </p:nvSpPr>
        <p:spPr>
          <a:xfrm>
            <a:off x="2651760" y="3200400"/>
            <a:ext cx="2103120" cy="1005840"/>
          </a:xfrm>
          <a:prstGeom prst="rect">
            <a:avLst/>
          </a:prstGeom>
          <a:solidFill>
            <a:srgbClr val="FFFFFF"/>
          </a:solidFill>
          <a:ln w="12700">
            <a:solidFill>
              <a:srgbClr val="C9CDD6"/>
            </a:solidFill>
            <a:prstDash val="solid"/>
          </a:ln>
        </p:spPr>
        <p:txBody>
          <a:bodyPr/>
          <a:lstStyle/>
          <a:p>
            <a:endParaRPr lang="en-US"/>
          </a:p>
        </p:txBody>
      </p:sp>
      <p:sp>
        <p:nvSpPr>
          <p:cNvPr id="25" name="Shape 21"/>
          <p:cNvSpPr/>
          <p:nvPr/>
        </p:nvSpPr>
        <p:spPr>
          <a:xfrm>
            <a:off x="4754880" y="3200400"/>
            <a:ext cx="3291840" cy="1005840"/>
          </a:xfrm>
          <a:prstGeom prst="rect">
            <a:avLst/>
          </a:prstGeom>
          <a:solidFill>
            <a:srgbClr val="FFFFFF"/>
          </a:solidFill>
          <a:ln w="12700">
            <a:solidFill>
              <a:srgbClr val="C9CDD6"/>
            </a:solidFill>
            <a:prstDash val="solid"/>
          </a:ln>
        </p:spPr>
        <p:txBody>
          <a:bodyPr/>
          <a:lstStyle/>
          <a:p>
            <a:endParaRPr lang="en-US"/>
          </a:p>
        </p:txBody>
      </p:sp>
      <p:sp>
        <p:nvSpPr>
          <p:cNvPr id="26" name="Shape 22"/>
          <p:cNvSpPr/>
          <p:nvPr/>
        </p:nvSpPr>
        <p:spPr>
          <a:xfrm>
            <a:off x="8046720" y="3200400"/>
            <a:ext cx="3593592" cy="1005840"/>
          </a:xfrm>
          <a:prstGeom prst="rect">
            <a:avLst/>
          </a:prstGeom>
          <a:solidFill>
            <a:srgbClr val="FFFFFF"/>
          </a:solidFill>
          <a:ln w="12700">
            <a:solidFill>
              <a:srgbClr val="C9CDD6"/>
            </a:solidFill>
            <a:prstDash val="solid"/>
          </a:ln>
        </p:spPr>
        <p:txBody>
          <a:bodyPr/>
          <a:lstStyle/>
          <a:p>
            <a:endParaRPr lang="en-US"/>
          </a:p>
        </p:txBody>
      </p:sp>
      <p:sp>
        <p:nvSpPr>
          <p:cNvPr id="27" name="Text 23"/>
          <p:cNvSpPr txBox="1"/>
          <p:nvPr/>
        </p:nvSpPr>
        <p:spPr>
          <a:xfrm>
            <a:off x="658368" y="3200400"/>
            <a:ext cx="1920240" cy="1005840"/>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Theodor Schwann</a:t>
            </a:r>
            <a:endParaRPr lang="en-US" sz="1600" dirty="0"/>
          </a:p>
        </p:txBody>
      </p:sp>
      <p:sp>
        <p:nvSpPr>
          <p:cNvPr id="28" name="Shape 24"/>
          <p:cNvSpPr/>
          <p:nvPr/>
        </p:nvSpPr>
        <p:spPr>
          <a:xfrm>
            <a:off x="548640" y="4206240"/>
            <a:ext cx="2103120" cy="1005840"/>
          </a:xfrm>
          <a:prstGeom prst="rect">
            <a:avLst/>
          </a:prstGeom>
          <a:solidFill>
            <a:srgbClr val="F7F9D9"/>
          </a:solidFill>
          <a:ln w="12700">
            <a:solidFill>
              <a:srgbClr val="C9CDD6"/>
            </a:solidFill>
            <a:prstDash val="solid"/>
          </a:ln>
        </p:spPr>
        <p:txBody>
          <a:bodyPr/>
          <a:lstStyle/>
          <a:p>
            <a:endParaRPr lang="en-US"/>
          </a:p>
        </p:txBody>
      </p:sp>
      <p:sp>
        <p:nvSpPr>
          <p:cNvPr id="29" name="Shape 25"/>
          <p:cNvSpPr/>
          <p:nvPr/>
        </p:nvSpPr>
        <p:spPr>
          <a:xfrm>
            <a:off x="2651760" y="4206240"/>
            <a:ext cx="2103120" cy="1005840"/>
          </a:xfrm>
          <a:prstGeom prst="rect">
            <a:avLst/>
          </a:prstGeom>
          <a:solidFill>
            <a:srgbClr val="FFFFFF"/>
          </a:solidFill>
          <a:ln w="12700">
            <a:solidFill>
              <a:srgbClr val="C9CDD6"/>
            </a:solidFill>
            <a:prstDash val="solid"/>
          </a:ln>
        </p:spPr>
        <p:txBody>
          <a:bodyPr/>
          <a:lstStyle/>
          <a:p>
            <a:endParaRPr lang="en-US"/>
          </a:p>
        </p:txBody>
      </p:sp>
      <p:sp>
        <p:nvSpPr>
          <p:cNvPr id="30" name="Shape 26"/>
          <p:cNvSpPr/>
          <p:nvPr/>
        </p:nvSpPr>
        <p:spPr>
          <a:xfrm>
            <a:off x="4754880" y="4206240"/>
            <a:ext cx="3291840" cy="1005840"/>
          </a:xfrm>
          <a:prstGeom prst="rect">
            <a:avLst/>
          </a:prstGeom>
          <a:solidFill>
            <a:srgbClr val="FFFFFF"/>
          </a:solidFill>
          <a:ln w="12700">
            <a:solidFill>
              <a:srgbClr val="C9CDD6"/>
            </a:solidFill>
            <a:prstDash val="solid"/>
          </a:ln>
        </p:spPr>
        <p:txBody>
          <a:bodyPr/>
          <a:lstStyle/>
          <a:p>
            <a:endParaRPr lang="en-US"/>
          </a:p>
        </p:txBody>
      </p:sp>
      <p:sp>
        <p:nvSpPr>
          <p:cNvPr id="31" name="Shape 27"/>
          <p:cNvSpPr/>
          <p:nvPr/>
        </p:nvSpPr>
        <p:spPr>
          <a:xfrm>
            <a:off x="8046720" y="4206240"/>
            <a:ext cx="3593592" cy="1005840"/>
          </a:xfrm>
          <a:prstGeom prst="rect">
            <a:avLst/>
          </a:prstGeom>
          <a:solidFill>
            <a:srgbClr val="FFFFFF"/>
          </a:solidFill>
          <a:ln w="12700">
            <a:solidFill>
              <a:srgbClr val="C9CDD6"/>
            </a:solidFill>
            <a:prstDash val="solid"/>
          </a:ln>
        </p:spPr>
        <p:txBody>
          <a:bodyPr/>
          <a:lstStyle/>
          <a:p>
            <a:endParaRPr lang="en-US"/>
          </a:p>
        </p:txBody>
      </p:sp>
      <p:sp>
        <p:nvSpPr>
          <p:cNvPr id="32" name="Text 28"/>
          <p:cNvSpPr txBox="1"/>
          <p:nvPr/>
        </p:nvSpPr>
        <p:spPr>
          <a:xfrm>
            <a:off x="658368" y="4206240"/>
            <a:ext cx="1920240" cy="1005840"/>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Rudolf Virchow</a:t>
            </a:r>
            <a:endParaRPr lang="en-US" sz="1600" dirty="0"/>
          </a:p>
        </p:txBody>
      </p:sp>
      <p:sp>
        <p:nvSpPr>
          <p:cNvPr id="33" name="Text 29"/>
          <p:cNvSpPr txBox="1"/>
          <p:nvPr/>
        </p:nvSpPr>
        <p:spPr>
          <a:xfrm>
            <a:off x="548640" y="5349240"/>
            <a:ext cx="10972800" cy="411480"/>
          </a:xfrm>
          <a:prstGeom prst="rect">
            <a:avLst/>
          </a:prstGeom>
          <a:noFill/>
          <a:ln/>
        </p:spPr>
        <p:txBody>
          <a:bodyPr wrap="square" lIns="0" tIns="0" rIns="0" bIns="0" rtlCol="0" anchor="ctr"/>
          <a:lstStyle/>
          <a:p>
            <a:pPr marL="0" indent="0">
              <a:buNone/>
            </a:pPr>
            <a:r>
              <a:rPr lang="en-US" sz="1600" b="1" dirty="0">
                <a:solidFill>
                  <a:srgbClr val="5F6300"/>
                </a:solidFill>
                <a:latin typeface="Calibri" pitchFamily="34" charset="0"/>
                <a:ea typeface="Calibri" pitchFamily="34" charset="-122"/>
                <a:cs typeface="Calibri" pitchFamily="34" charset="-120"/>
              </a:rPr>
              <a:t>Copy this table into your notebook. Fill it in as you read. The last column matters most!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Card sort: prokaryote or eukaryote?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691640"/>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11" name="Text 7"/>
          <p:cNvSpPr txBox="1"/>
          <p:nvPr/>
        </p:nvSpPr>
        <p:spPr>
          <a:xfrm>
            <a:off x="658368" y="1691640"/>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Has a nucleus</a:t>
            </a:r>
            <a:endParaRPr lang="en-US" sz="1500" dirty="0"/>
          </a:p>
        </p:txBody>
      </p:sp>
      <p:sp>
        <p:nvSpPr>
          <p:cNvPr id="12" name="Shape 8"/>
          <p:cNvSpPr/>
          <p:nvPr/>
        </p:nvSpPr>
        <p:spPr>
          <a:xfrm>
            <a:off x="3346704" y="1691640"/>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13" name="Text 9"/>
          <p:cNvSpPr txBox="1"/>
          <p:nvPr/>
        </p:nvSpPr>
        <p:spPr>
          <a:xfrm>
            <a:off x="3456432" y="1691640"/>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DNA floats freely in the cytoplasm</a:t>
            </a:r>
            <a:endParaRPr lang="en-US" sz="1500" dirty="0"/>
          </a:p>
        </p:txBody>
      </p:sp>
      <p:sp>
        <p:nvSpPr>
          <p:cNvPr id="14" name="Shape 10"/>
          <p:cNvSpPr/>
          <p:nvPr/>
        </p:nvSpPr>
        <p:spPr>
          <a:xfrm>
            <a:off x="6144768" y="1691640"/>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15" name="Text 11"/>
          <p:cNvSpPr txBox="1"/>
          <p:nvPr/>
        </p:nvSpPr>
        <p:spPr>
          <a:xfrm>
            <a:off x="6254496" y="1691640"/>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Has mitochondria</a:t>
            </a:r>
            <a:endParaRPr lang="en-US" sz="1500" dirty="0"/>
          </a:p>
        </p:txBody>
      </p:sp>
      <p:sp>
        <p:nvSpPr>
          <p:cNvPr id="16" name="Shape 12"/>
          <p:cNvSpPr/>
          <p:nvPr/>
        </p:nvSpPr>
        <p:spPr>
          <a:xfrm>
            <a:off x="8942832" y="1691640"/>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17" name="Text 13"/>
          <p:cNvSpPr txBox="1"/>
          <p:nvPr/>
        </p:nvSpPr>
        <p:spPr>
          <a:xfrm>
            <a:off x="9052560" y="1691640"/>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Found in bacteria</a:t>
            </a:r>
            <a:endParaRPr lang="en-US" sz="1500" dirty="0"/>
          </a:p>
        </p:txBody>
      </p:sp>
      <p:sp>
        <p:nvSpPr>
          <p:cNvPr id="18" name="Shape 14"/>
          <p:cNvSpPr/>
          <p:nvPr/>
        </p:nvSpPr>
        <p:spPr>
          <a:xfrm>
            <a:off x="548640" y="2624328"/>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19" name="Text 15"/>
          <p:cNvSpPr txBox="1"/>
          <p:nvPr/>
        </p:nvSpPr>
        <p:spPr>
          <a:xfrm>
            <a:off x="658368" y="2624328"/>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Has ribosomes</a:t>
            </a:r>
            <a:endParaRPr lang="en-US" sz="1500" dirty="0"/>
          </a:p>
        </p:txBody>
      </p:sp>
      <p:sp>
        <p:nvSpPr>
          <p:cNvPr id="20" name="Shape 16"/>
          <p:cNvSpPr/>
          <p:nvPr/>
        </p:nvSpPr>
        <p:spPr>
          <a:xfrm>
            <a:off x="3346704" y="2624328"/>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21" name="Text 17"/>
          <p:cNvSpPr txBox="1"/>
          <p:nvPr/>
        </p:nvSpPr>
        <p:spPr>
          <a:xfrm>
            <a:off x="3456432" y="2624328"/>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Has a cell membrane</a:t>
            </a:r>
            <a:endParaRPr lang="en-US" sz="1500" dirty="0"/>
          </a:p>
        </p:txBody>
      </p:sp>
      <p:sp>
        <p:nvSpPr>
          <p:cNvPr id="22" name="Shape 18"/>
          <p:cNvSpPr/>
          <p:nvPr/>
        </p:nvSpPr>
        <p:spPr>
          <a:xfrm>
            <a:off x="6144768" y="2624328"/>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23" name="Text 19"/>
          <p:cNvSpPr txBox="1"/>
          <p:nvPr/>
        </p:nvSpPr>
        <p:spPr>
          <a:xfrm>
            <a:off x="6254496" y="2624328"/>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Has organelles with membranes around them</a:t>
            </a:r>
            <a:endParaRPr lang="en-US" sz="1500" dirty="0"/>
          </a:p>
        </p:txBody>
      </p:sp>
      <p:sp>
        <p:nvSpPr>
          <p:cNvPr id="24" name="Shape 20"/>
          <p:cNvSpPr/>
          <p:nvPr/>
        </p:nvSpPr>
        <p:spPr>
          <a:xfrm>
            <a:off x="8942832" y="2624328"/>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25" name="Text 21"/>
          <p:cNvSpPr txBox="1"/>
          <p:nvPr/>
        </p:nvSpPr>
        <p:spPr>
          <a:xfrm>
            <a:off x="9052560" y="2624328"/>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Usually 1–5 micrometres long</a:t>
            </a:r>
            <a:endParaRPr lang="en-US" sz="1500" dirty="0"/>
          </a:p>
        </p:txBody>
      </p:sp>
      <p:sp>
        <p:nvSpPr>
          <p:cNvPr id="26" name="Shape 22"/>
          <p:cNvSpPr/>
          <p:nvPr/>
        </p:nvSpPr>
        <p:spPr>
          <a:xfrm>
            <a:off x="548640" y="3557016"/>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27" name="Text 23"/>
          <p:cNvSpPr txBox="1"/>
          <p:nvPr/>
        </p:nvSpPr>
        <p:spPr>
          <a:xfrm>
            <a:off x="658368" y="3557016"/>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Usually 10–100 micrometres across</a:t>
            </a:r>
            <a:endParaRPr lang="en-US" sz="1500" dirty="0"/>
          </a:p>
        </p:txBody>
      </p:sp>
      <p:sp>
        <p:nvSpPr>
          <p:cNvPr id="28" name="Shape 24"/>
          <p:cNvSpPr/>
          <p:nvPr/>
        </p:nvSpPr>
        <p:spPr>
          <a:xfrm>
            <a:off x="3346704" y="3557016"/>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29" name="Text 25"/>
          <p:cNvSpPr txBox="1"/>
          <p:nvPr/>
        </p:nvSpPr>
        <p:spPr>
          <a:xfrm>
            <a:off x="3456432" y="3557016"/>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Found in plants, animals and fungi</a:t>
            </a:r>
            <a:endParaRPr lang="en-US" sz="1500" dirty="0"/>
          </a:p>
        </p:txBody>
      </p:sp>
      <p:sp>
        <p:nvSpPr>
          <p:cNvPr id="30" name="Shape 26"/>
          <p:cNvSpPr/>
          <p:nvPr/>
        </p:nvSpPr>
        <p:spPr>
          <a:xfrm>
            <a:off x="6144768" y="3557016"/>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31" name="Text 27"/>
          <p:cNvSpPr txBox="1"/>
          <p:nvPr/>
        </p:nvSpPr>
        <p:spPr>
          <a:xfrm>
            <a:off x="6254496" y="3557016"/>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DNA is one loop (circular)</a:t>
            </a:r>
            <a:endParaRPr lang="en-US" sz="1500" dirty="0"/>
          </a:p>
        </p:txBody>
      </p:sp>
      <p:sp>
        <p:nvSpPr>
          <p:cNvPr id="32" name="Shape 28"/>
          <p:cNvSpPr/>
          <p:nvPr/>
        </p:nvSpPr>
        <p:spPr>
          <a:xfrm>
            <a:off x="8942832" y="3557016"/>
            <a:ext cx="2651760" cy="804672"/>
          </a:xfrm>
          <a:prstGeom prst="roundRect">
            <a:avLst>
              <a:gd name="adj" fmla="val 9091"/>
            </a:avLst>
          </a:prstGeom>
          <a:solidFill>
            <a:srgbClr val="FFFFFF"/>
          </a:solidFill>
          <a:ln w="15875">
            <a:solidFill>
              <a:srgbClr val="111111"/>
            </a:solidFill>
            <a:prstDash val="dash"/>
          </a:ln>
        </p:spPr>
        <p:txBody>
          <a:bodyPr/>
          <a:lstStyle/>
          <a:p>
            <a:endParaRPr lang="en-US"/>
          </a:p>
        </p:txBody>
      </p:sp>
      <p:sp>
        <p:nvSpPr>
          <p:cNvPr id="33" name="Text 29"/>
          <p:cNvSpPr txBox="1"/>
          <p:nvPr/>
        </p:nvSpPr>
        <p:spPr>
          <a:xfrm>
            <a:off x="9052560" y="3557016"/>
            <a:ext cx="2432304" cy="804672"/>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Has cytoplasm</a:t>
            </a:r>
            <a:endParaRPr lang="en-US" sz="1500" dirty="0"/>
          </a:p>
        </p:txBody>
      </p:sp>
      <p:sp>
        <p:nvSpPr>
          <p:cNvPr id="34" name="Text 30"/>
          <p:cNvSpPr txBox="1"/>
          <p:nvPr/>
        </p:nvSpPr>
        <p:spPr>
          <a:xfrm>
            <a:off x="548640" y="4572000"/>
            <a:ext cx="8686800" cy="822960"/>
          </a:xfrm>
          <a:prstGeom prst="rect">
            <a:avLst/>
          </a:prstGeom>
          <a:noFill/>
          <a:ln/>
        </p:spPr>
        <p:txBody>
          <a:bodyPr wrap="square" lIns="0" tIns="0" rIns="0" bIns="0" rtlCol="0" anchor="ctr"/>
          <a:lstStyle/>
          <a:p>
            <a:pPr marL="0" indent="0">
              <a:buNone/>
            </a:pPr>
            <a:r>
              <a:rPr lang="en-US" sz="1800" dirty="0">
                <a:solidFill>
                  <a:srgbClr val="111111"/>
                </a:solidFill>
                <a:latin typeface="Calibri" pitchFamily="34" charset="0"/>
                <a:ea typeface="Calibri" pitchFamily="34" charset="-122"/>
                <a:cs typeface="Calibri" pitchFamily="34" charset="-120"/>
              </a:rPr>
              <a:t>Sort the cards into two columns: </a:t>
            </a:r>
            <a:r>
              <a:rPr lang="en-US" sz="1800" b="1" dirty="0">
                <a:solidFill>
                  <a:srgbClr val="111111"/>
                </a:solidFill>
                <a:latin typeface="Calibri" pitchFamily="34" charset="0"/>
                <a:ea typeface="Calibri" pitchFamily="34" charset="-122"/>
                <a:cs typeface="Calibri" pitchFamily="34" charset="-120"/>
              </a:rPr>
              <a:t>PROKARYOTE</a:t>
            </a:r>
            <a:r>
              <a:rPr lang="en-US" sz="1800" dirty="0">
                <a:solidFill>
                  <a:srgbClr val="111111"/>
                </a:solidFill>
                <a:latin typeface="Calibri" pitchFamily="34" charset="0"/>
                <a:ea typeface="Calibri" pitchFamily="34" charset="-122"/>
                <a:cs typeface="Calibri" pitchFamily="34" charset="-120"/>
              </a:rPr>
              <a:t> and </a:t>
            </a:r>
            <a:r>
              <a:rPr lang="en-US" sz="1800" b="1" dirty="0">
                <a:solidFill>
                  <a:srgbClr val="111111"/>
                </a:solidFill>
                <a:latin typeface="Calibri" pitchFamily="34" charset="0"/>
                <a:ea typeface="Calibri" pitchFamily="34" charset="-122"/>
                <a:cs typeface="Calibri" pitchFamily="34" charset="-120"/>
              </a:rPr>
              <a:t>EUKARYOTE</a:t>
            </a:r>
            <a:r>
              <a:rPr lang="en-US" sz="1800" dirty="0">
                <a:solidFill>
                  <a:srgbClr val="111111"/>
                </a:solidFill>
                <a:latin typeface="Calibri" pitchFamily="34" charset="0"/>
                <a:ea typeface="Calibri" pitchFamily="34" charset="-122"/>
                <a:cs typeface="Calibri" pitchFamily="34" charset="-120"/>
              </a:rPr>
              <a:t>. Be ready to justify every card.</a:t>
            </a:r>
            <a:endParaRPr lang="en-US" sz="1800" dirty="0"/>
          </a:p>
        </p:txBody>
      </p:sp>
      <p:sp>
        <p:nvSpPr>
          <p:cNvPr id="35" name="Shape 31"/>
          <p:cNvSpPr/>
          <p:nvPr/>
        </p:nvSpPr>
        <p:spPr>
          <a:xfrm>
            <a:off x="9966960" y="470916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36" name="Image 2" descr="preencoded.png"/>
          <p:cNvPicPr>
            <a:picLocks noChangeAspect="1"/>
          </p:cNvPicPr>
          <p:nvPr/>
        </p:nvPicPr>
        <p:blipFill>
          <a:blip r:embed="rId5"/>
          <a:stretch>
            <a:fillRect/>
          </a:stretch>
        </p:blipFill>
        <p:spPr>
          <a:xfrm>
            <a:off x="10149840" y="4864608"/>
            <a:ext cx="237744" cy="237744"/>
          </a:xfrm>
          <a:prstGeom prst="rect">
            <a:avLst/>
          </a:prstGeom>
        </p:spPr>
      </p:pic>
      <p:sp>
        <p:nvSpPr>
          <p:cNvPr id="37" name="Text 32"/>
          <p:cNvSpPr txBox="1"/>
          <p:nvPr/>
        </p:nvSpPr>
        <p:spPr>
          <a:xfrm>
            <a:off x="10469880" y="470916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8:00</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Where did you put these cards — and why?</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828800"/>
            <a:ext cx="3566160" cy="2194560"/>
          </a:xfrm>
          <a:prstGeom prst="roundRect">
            <a:avLst>
              <a:gd name="adj" fmla="val 5000"/>
            </a:avLst>
          </a:prstGeom>
          <a:solidFill>
            <a:srgbClr val="F7F9D9"/>
          </a:solidFill>
          <a:ln w="9525">
            <a:solidFill>
              <a:srgbClr val="F7F9D9"/>
            </a:solidFill>
            <a:prstDash val="solid"/>
          </a:ln>
        </p:spPr>
        <p:txBody>
          <a:bodyPr/>
          <a:lstStyle/>
          <a:p>
            <a:endParaRPr lang="en-US"/>
          </a:p>
        </p:txBody>
      </p:sp>
      <p:sp>
        <p:nvSpPr>
          <p:cNvPr id="14" name="Text 9"/>
          <p:cNvSpPr txBox="1"/>
          <p:nvPr/>
        </p:nvSpPr>
        <p:spPr>
          <a:xfrm>
            <a:off x="731520" y="1965960"/>
            <a:ext cx="3200400" cy="1097280"/>
          </a:xfrm>
          <a:prstGeom prst="rect">
            <a:avLst/>
          </a:prstGeom>
          <a:noFill/>
          <a:ln/>
        </p:spPr>
        <p:txBody>
          <a:bodyPr wrap="square" lIns="0" tIns="0" rIns="0" bIns="0" rtlCol="0" anchor="ctr"/>
          <a:lstStyle/>
          <a:p>
            <a:pPr marL="0" indent="0" algn="ctr">
              <a:buNone/>
            </a:pPr>
            <a:r>
              <a:rPr lang="en-US" sz="2200" b="1" dirty="0">
                <a:solidFill>
                  <a:srgbClr val="111111"/>
                </a:solidFill>
                <a:latin typeface="Calibri" pitchFamily="34" charset="0"/>
                <a:ea typeface="Calibri" pitchFamily="34" charset="-122"/>
                <a:cs typeface="Calibri" pitchFamily="34" charset="-120"/>
              </a:rPr>
              <a:t>Has ribosomes</a:t>
            </a:r>
            <a:endParaRPr lang="en-US" sz="2200" dirty="0"/>
          </a:p>
        </p:txBody>
      </p:sp>
      <p:sp>
        <p:nvSpPr>
          <p:cNvPr id="15" name="Text 10"/>
          <p:cNvSpPr txBox="1"/>
          <p:nvPr/>
        </p:nvSpPr>
        <p:spPr>
          <a:xfrm>
            <a:off x="731520" y="3154680"/>
            <a:ext cx="3200400" cy="548640"/>
          </a:xfrm>
          <a:prstGeom prst="rect">
            <a:avLst/>
          </a:prstGeom>
          <a:noFill/>
          <a:ln/>
        </p:spPr>
        <p:txBody>
          <a:bodyPr wrap="square" lIns="0" tIns="0" rIns="0" bIns="0" rtlCol="0" anchor="ctr"/>
          <a:lstStyle/>
          <a:p>
            <a:pPr marL="0" indent="0" algn="ctr">
              <a:buNone/>
            </a:pPr>
            <a:r>
              <a:rPr lang="en-US" sz="1500" dirty="0">
                <a:solidFill>
                  <a:srgbClr val="5B6172"/>
                </a:solidFill>
                <a:latin typeface="Calibri" pitchFamily="34" charset="0"/>
                <a:ea typeface="Calibri" pitchFamily="34" charset="-122"/>
                <a:cs typeface="Calibri" pitchFamily="34" charset="-120"/>
              </a:rPr>
              <a:t>Prokaryote?  Eukaryote?  Both?</a:t>
            </a:r>
            <a:endParaRPr lang="en-US" sz="1500" dirty="0"/>
          </a:p>
        </p:txBody>
      </p:sp>
      <p:sp>
        <p:nvSpPr>
          <p:cNvPr id="16" name="Shape 11"/>
          <p:cNvSpPr/>
          <p:nvPr/>
        </p:nvSpPr>
        <p:spPr>
          <a:xfrm>
            <a:off x="4297680" y="1828800"/>
            <a:ext cx="3566160" cy="2194560"/>
          </a:xfrm>
          <a:prstGeom prst="roundRect">
            <a:avLst>
              <a:gd name="adj" fmla="val 5000"/>
            </a:avLst>
          </a:prstGeom>
          <a:solidFill>
            <a:srgbClr val="F7F9D9"/>
          </a:solidFill>
          <a:ln w="9525">
            <a:solidFill>
              <a:srgbClr val="F7F9D9"/>
            </a:solidFill>
            <a:prstDash val="solid"/>
          </a:ln>
        </p:spPr>
        <p:txBody>
          <a:bodyPr/>
          <a:lstStyle/>
          <a:p>
            <a:endParaRPr lang="en-US"/>
          </a:p>
        </p:txBody>
      </p:sp>
      <p:sp>
        <p:nvSpPr>
          <p:cNvPr id="17" name="Text 12"/>
          <p:cNvSpPr txBox="1"/>
          <p:nvPr/>
        </p:nvSpPr>
        <p:spPr>
          <a:xfrm>
            <a:off x="4480560" y="1965960"/>
            <a:ext cx="3200400" cy="1097280"/>
          </a:xfrm>
          <a:prstGeom prst="rect">
            <a:avLst/>
          </a:prstGeom>
          <a:noFill/>
          <a:ln/>
        </p:spPr>
        <p:txBody>
          <a:bodyPr wrap="square" lIns="0" tIns="0" rIns="0" bIns="0" rtlCol="0" anchor="ctr"/>
          <a:lstStyle/>
          <a:p>
            <a:pPr marL="0" indent="0" algn="ctr">
              <a:buNone/>
            </a:pPr>
            <a:r>
              <a:rPr lang="en-US" sz="2200" b="1" dirty="0">
                <a:solidFill>
                  <a:srgbClr val="111111"/>
                </a:solidFill>
                <a:latin typeface="Calibri" pitchFamily="34" charset="0"/>
                <a:ea typeface="Calibri" pitchFamily="34" charset="-122"/>
                <a:cs typeface="Calibri" pitchFamily="34" charset="-120"/>
              </a:rPr>
              <a:t>Has a cell membrane</a:t>
            </a:r>
            <a:endParaRPr lang="en-US" sz="2200" dirty="0"/>
          </a:p>
        </p:txBody>
      </p:sp>
      <p:sp>
        <p:nvSpPr>
          <p:cNvPr id="18" name="Text 13"/>
          <p:cNvSpPr txBox="1"/>
          <p:nvPr/>
        </p:nvSpPr>
        <p:spPr>
          <a:xfrm>
            <a:off x="4480560" y="3154680"/>
            <a:ext cx="3200400" cy="548640"/>
          </a:xfrm>
          <a:prstGeom prst="rect">
            <a:avLst/>
          </a:prstGeom>
          <a:noFill/>
          <a:ln/>
        </p:spPr>
        <p:txBody>
          <a:bodyPr wrap="square" lIns="0" tIns="0" rIns="0" bIns="0" rtlCol="0" anchor="ctr"/>
          <a:lstStyle/>
          <a:p>
            <a:pPr marL="0" indent="0" algn="ctr">
              <a:buNone/>
            </a:pPr>
            <a:r>
              <a:rPr lang="en-US" sz="1500" dirty="0">
                <a:solidFill>
                  <a:srgbClr val="5B6172"/>
                </a:solidFill>
                <a:latin typeface="Calibri" pitchFamily="34" charset="0"/>
                <a:ea typeface="Calibri" pitchFamily="34" charset="-122"/>
                <a:cs typeface="Calibri" pitchFamily="34" charset="-120"/>
              </a:rPr>
              <a:t>Prokaryote?  Eukaryote?  Both?</a:t>
            </a:r>
            <a:endParaRPr lang="en-US" sz="1500" dirty="0"/>
          </a:p>
        </p:txBody>
      </p:sp>
      <p:sp>
        <p:nvSpPr>
          <p:cNvPr id="19" name="Shape 14"/>
          <p:cNvSpPr/>
          <p:nvPr/>
        </p:nvSpPr>
        <p:spPr>
          <a:xfrm>
            <a:off x="8046720" y="1828800"/>
            <a:ext cx="3566160" cy="2194560"/>
          </a:xfrm>
          <a:prstGeom prst="roundRect">
            <a:avLst>
              <a:gd name="adj" fmla="val 5000"/>
            </a:avLst>
          </a:prstGeom>
          <a:solidFill>
            <a:srgbClr val="F7F9D9"/>
          </a:solidFill>
          <a:ln w="9525">
            <a:solidFill>
              <a:srgbClr val="F7F9D9"/>
            </a:solidFill>
            <a:prstDash val="solid"/>
          </a:ln>
        </p:spPr>
        <p:txBody>
          <a:bodyPr/>
          <a:lstStyle/>
          <a:p>
            <a:endParaRPr lang="en-US"/>
          </a:p>
        </p:txBody>
      </p:sp>
      <p:sp>
        <p:nvSpPr>
          <p:cNvPr id="20" name="Text 15"/>
          <p:cNvSpPr txBox="1"/>
          <p:nvPr/>
        </p:nvSpPr>
        <p:spPr>
          <a:xfrm>
            <a:off x="8229600" y="1965960"/>
            <a:ext cx="3200400" cy="1097280"/>
          </a:xfrm>
          <a:prstGeom prst="rect">
            <a:avLst/>
          </a:prstGeom>
          <a:noFill/>
          <a:ln/>
        </p:spPr>
        <p:txBody>
          <a:bodyPr wrap="square" lIns="0" tIns="0" rIns="0" bIns="0" rtlCol="0" anchor="ctr"/>
          <a:lstStyle/>
          <a:p>
            <a:pPr marL="0" indent="0" algn="ctr">
              <a:buNone/>
            </a:pPr>
            <a:r>
              <a:rPr lang="en-US" sz="2200" b="1" dirty="0">
                <a:solidFill>
                  <a:srgbClr val="111111"/>
                </a:solidFill>
                <a:latin typeface="Calibri" pitchFamily="34" charset="0"/>
                <a:ea typeface="Calibri" pitchFamily="34" charset="-122"/>
                <a:cs typeface="Calibri" pitchFamily="34" charset="-120"/>
              </a:rPr>
              <a:t>DNA floats freely in the cytoplasm</a:t>
            </a:r>
            <a:endParaRPr lang="en-US" sz="2200" dirty="0"/>
          </a:p>
        </p:txBody>
      </p:sp>
      <p:sp>
        <p:nvSpPr>
          <p:cNvPr id="21" name="Text 16"/>
          <p:cNvSpPr txBox="1"/>
          <p:nvPr/>
        </p:nvSpPr>
        <p:spPr>
          <a:xfrm>
            <a:off x="8229600" y="3154680"/>
            <a:ext cx="3200400" cy="548640"/>
          </a:xfrm>
          <a:prstGeom prst="rect">
            <a:avLst/>
          </a:prstGeom>
          <a:noFill/>
          <a:ln/>
        </p:spPr>
        <p:txBody>
          <a:bodyPr wrap="square" lIns="0" tIns="0" rIns="0" bIns="0" rtlCol="0" anchor="ctr"/>
          <a:lstStyle/>
          <a:p>
            <a:pPr marL="0" indent="0" algn="ctr">
              <a:buNone/>
            </a:pPr>
            <a:r>
              <a:rPr lang="en-US" sz="1500" dirty="0">
                <a:solidFill>
                  <a:srgbClr val="5B6172"/>
                </a:solidFill>
                <a:latin typeface="Calibri" pitchFamily="34" charset="0"/>
                <a:ea typeface="Calibri" pitchFamily="34" charset="-122"/>
                <a:cs typeface="Calibri" pitchFamily="34" charset="-120"/>
              </a:rPr>
              <a:t>Prokaryote?  Eukaryote?  Both?</a:t>
            </a:r>
            <a:endParaRPr lang="en-US" sz="1500" dirty="0"/>
          </a:p>
        </p:txBody>
      </p:sp>
      <p:sp>
        <p:nvSpPr>
          <p:cNvPr id="22" name="Text 17"/>
          <p:cNvSpPr txBox="1"/>
          <p:nvPr/>
        </p:nvSpPr>
        <p:spPr>
          <a:xfrm>
            <a:off x="548640" y="4343400"/>
            <a:ext cx="10972800" cy="457200"/>
          </a:xfrm>
          <a:prstGeom prst="rect">
            <a:avLst/>
          </a:prstGeom>
          <a:noFill/>
          <a:ln/>
        </p:spPr>
        <p:txBody>
          <a:bodyPr wrap="square" lIns="0" tIns="0" rIns="0" bIns="0" rtlCol="0" anchor="ctr"/>
          <a:lstStyle/>
          <a:p>
            <a:pPr marL="0" indent="0">
              <a:buNone/>
            </a:pPr>
            <a:r>
              <a:rPr lang="en-US" sz="2000" i="1" dirty="0">
                <a:solidFill>
                  <a:srgbClr val="5F6300"/>
                </a:solidFill>
                <a:latin typeface="Calibri" pitchFamily="34" charset="0"/>
                <a:ea typeface="Calibri" pitchFamily="34" charset="-122"/>
                <a:cs typeface="Calibri" pitchFamily="34" charset="-120"/>
              </a:rPr>
              <a:t>Give your evidence: which diagram shows it?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Cell theory: three ideas that apply to ALL living things</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783080"/>
            <a:ext cx="868680" cy="868680"/>
          </a:xfrm>
          <a:prstGeom prst="ellipse">
            <a:avLst/>
          </a:prstGeom>
          <a:solidFill>
            <a:srgbClr val="CF128C"/>
          </a:solidFill>
          <a:ln w="12700">
            <a:solidFill>
              <a:srgbClr val="CF128C"/>
            </a:solidFill>
            <a:prstDash val="solid"/>
          </a:ln>
        </p:spPr>
        <p:txBody>
          <a:bodyPr/>
          <a:lstStyle/>
          <a:p>
            <a:endParaRPr lang="en-US"/>
          </a:p>
        </p:txBody>
      </p:sp>
      <p:sp>
        <p:nvSpPr>
          <p:cNvPr id="11" name="Text 7"/>
          <p:cNvSpPr txBox="1"/>
          <p:nvPr/>
        </p:nvSpPr>
        <p:spPr>
          <a:xfrm>
            <a:off x="548640" y="1783080"/>
            <a:ext cx="868680" cy="8686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12" name="Text 8"/>
          <p:cNvSpPr txBox="1"/>
          <p:nvPr/>
        </p:nvSpPr>
        <p:spPr>
          <a:xfrm>
            <a:off x="1691640" y="1737360"/>
            <a:ext cx="9875520" cy="1005840"/>
          </a:xfrm>
          <a:prstGeom prst="rect">
            <a:avLst/>
          </a:prstGeom>
          <a:noFill/>
          <a:ln/>
        </p:spPr>
        <p:txBody>
          <a:bodyPr wrap="square" lIns="0" tIns="0" rIns="0" bIns="0" rtlCol="0" anchor="ctr"/>
          <a:lstStyle/>
          <a:p>
            <a:pPr marL="0" indent="0">
              <a:buNone/>
            </a:pPr>
            <a:r>
              <a:rPr lang="en-US" sz="2400" b="1" dirty="0">
                <a:solidFill>
                  <a:srgbClr val="111111"/>
                </a:solidFill>
                <a:latin typeface="Calibri" pitchFamily="34" charset="0"/>
                <a:ea typeface="Calibri" pitchFamily="34" charset="-122"/>
                <a:cs typeface="Calibri" pitchFamily="34" charset="-120"/>
              </a:rPr>
              <a:t>All living things are made of one or more cells.</a:t>
            </a:r>
            <a:endParaRPr lang="en-US" sz="2400" dirty="0"/>
          </a:p>
          <a:p>
            <a:pPr marL="0" indent="0">
              <a:buNone/>
            </a:pPr>
            <a:r>
              <a:rPr lang="en-US" sz="1500" dirty="0">
                <a:solidFill>
                  <a:srgbClr val="5B6172"/>
                </a:solidFill>
                <a:latin typeface="Calibri" pitchFamily="34" charset="0"/>
                <a:ea typeface="Calibri" pitchFamily="34" charset="-122"/>
                <a:cs typeface="Calibri" pitchFamily="34" charset="-120"/>
              </a:rPr>
              <a:t>Schleiden (plants, 1838) and Schwann (animals, 1839)</a:t>
            </a:r>
            <a:endParaRPr lang="en-US" sz="2400" dirty="0"/>
          </a:p>
        </p:txBody>
      </p:sp>
      <p:sp>
        <p:nvSpPr>
          <p:cNvPr id="13" name="Shape 9"/>
          <p:cNvSpPr/>
          <p:nvPr/>
        </p:nvSpPr>
        <p:spPr>
          <a:xfrm>
            <a:off x="548640" y="3017520"/>
            <a:ext cx="868680" cy="868680"/>
          </a:xfrm>
          <a:prstGeom prst="ellipse">
            <a:avLst/>
          </a:prstGeom>
          <a:solidFill>
            <a:srgbClr val="CF128C"/>
          </a:solidFill>
          <a:ln w="12700">
            <a:solidFill>
              <a:srgbClr val="CF128C"/>
            </a:solidFill>
            <a:prstDash val="solid"/>
          </a:ln>
        </p:spPr>
        <p:txBody>
          <a:bodyPr/>
          <a:lstStyle/>
          <a:p>
            <a:endParaRPr lang="en-US"/>
          </a:p>
        </p:txBody>
      </p:sp>
      <p:sp>
        <p:nvSpPr>
          <p:cNvPr id="14" name="Text 10"/>
          <p:cNvSpPr txBox="1"/>
          <p:nvPr/>
        </p:nvSpPr>
        <p:spPr>
          <a:xfrm>
            <a:off x="548640" y="3017520"/>
            <a:ext cx="868680" cy="8686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15" name="Text 11"/>
          <p:cNvSpPr txBox="1"/>
          <p:nvPr/>
        </p:nvSpPr>
        <p:spPr>
          <a:xfrm>
            <a:off x="1691640" y="2971800"/>
            <a:ext cx="9875520" cy="1005840"/>
          </a:xfrm>
          <a:prstGeom prst="rect">
            <a:avLst/>
          </a:prstGeom>
          <a:noFill/>
          <a:ln/>
        </p:spPr>
        <p:txBody>
          <a:bodyPr wrap="square" lIns="0" tIns="0" rIns="0" bIns="0" rtlCol="0" anchor="ctr"/>
          <a:lstStyle/>
          <a:p>
            <a:pPr marL="0" indent="0">
              <a:buNone/>
            </a:pPr>
            <a:r>
              <a:rPr lang="en-US" sz="2400" b="1" dirty="0">
                <a:solidFill>
                  <a:srgbClr val="111111"/>
                </a:solidFill>
                <a:latin typeface="Calibri" pitchFamily="34" charset="0"/>
                <a:ea typeface="Calibri" pitchFamily="34" charset="-122"/>
                <a:cs typeface="Calibri" pitchFamily="34" charset="-120"/>
              </a:rPr>
              <a:t>The cell is the basic unit of structure and function in living things.</a:t>
            </a:r>
            <a:endParaRPr lang="en-US" sz="2400" dirty="0"/>
          </a:p>
          <a:p>
            <a:pPr marL="0" indent="0">
              <a:buNone/>
            </a:pPr>
            <a:r>
              <a:rPr lang="en-US" sz="1500" dirty="0">
                <a:solidFill>
                  <a:srgbClr val="5B6172"/>
                </a:solidFill>
                <a:latin typeface="Calibri" pitchFamily="34" charset="0"/>
                <a:ea typeface="Calibri" pitchFamily="34" charset="-122"/>
                <a:cs typeface="Calibri" pitchFamily="34" charset="-120"/>
              </a:rPr>
              <a:t>Schleiden and Schwann</a:t>
            </a:r>
            <a:endParaRPr lang="en-US" sz="2400" dirty="0"/>
          </a:p>
        </p:txBody>
      </p:sp>
      <p:sp>
        <p:nvSpPr>
          <p:cNvPr id="16" name="Shape 12"/>
          <p:cNvSpPr/>
          <p:nvPr/>
        </p:nvSpPr>
        <p:spPr>
          <a:xfrm>
            <a:off x="548640" y="4251960"/>
            <a:ext cx="868680" cy="868680"/>
          </a:xfrm>
          <a:prstGeom prst="ellipse">
            <a:avLst/>
          </a:prstGeom>
          <a:solidFill>
            <a:srgbClr val="CF128C"/>
          </a:solidFill>
          <a:ln w="12700">
            <a:solidFill>
              <a:srgbClr val="CF128C"/>
            </a:solidFill>
            <a:prstDash val="solid"/>
          </a:ln>
        </p:spPr>
        <p:txBody>
          <a:bodyPr/>
          <a:lstStyle/>
          <a:p>
            <a:endParaRPr lang="en-US"/>
          </a:p>
        </p:txBody>
      </p:sp>
      <p:sp>
        <p:nvSpPr>
          <p:cNvPr id="17" name="Text 13"/>
          <p:cNvSpPr txBox="1"/>
          <p:nvPr/>
        </p:nvSpPr>
        <p:spPr>
          <a:xfrm>
            <a:off x="548640" y="4251960"/>
            <a:ext cx="868680" cy="8686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18" name="Text 14"/>
          <p:cNvSpPr txBox="1"/>
          <p:nvPr/>
        </p:nvSpPr>
        <p:spPr>
          <a:xfrm>
            <a:off x="1691640" y="4206240"/>
            <a:ext cx="9875520" cy="1005840"/>
          </a:xfrm>
          <a:prstGeom prst="rect">
            <a:avLst/>
          </a:prstGeom>
          <a:noFill/>
          <a:ln/>
        </p:spPr>
        <p:txBody>
          <a:bodyPr wrap="square" lIns="0" tIns="0" rIns="0" bIns="0" rtlCol="0" anchor="ctr"/>
          <a:lstStyle/>
          <a:p>
            <a:pPr marL="0" indent="0">
              <a:buNone/>
            </a:pPr>
            <a:r>
              <a:rPr lang="en-US" sz="2400" b="1" dirty="0">
                <a:solidFill>
                  <a:srgbClr val="111111"/>
                </a:solidFill>
                <a:latin typeface="Calibri" pitchFamily="34" charset="0"/>
                <a:ea typeface="Calibri" pitchFamily="34" charset="-122"/>
                <a:cs typeface="Calibri" pitchFamily="34" charset="-120"/>
              </a:rPr>
              <a:t>All cells come from cells that already exist.</a:t>
            </a:r>
            <a:endParaRPr lang="en-US" sz="2400" dirty="0"/>
          </a:p>
          <a:p>
            <a:pPr marL="0" indent="0">
              <a:buNone/>
            </a:pPr>
            <a:r>
              <a:rPr lang="en-US" sz="1500" dirty="0">
                <a:solidFill>
                  <a:srgbClr val="5B6172"/>
                </a:solidFill>
                <a:latin typeface="Calibri" pitchFamily="34" charset="0"/>
                <a:ea typeface="Calibri" pitchFamily="34" charset="-122"/>
                <a:cs typeface="Calibri" pitchFamily="34" charset="-120"/>
              </a:rPr>
              <a:t>Virchow, 1855 — “Omnis cellula e cellula”</a:t>
            </a:r>
            <a:endParaRPr lang="en-US" sz="2400" dirty="0"/>
          </a:p>
        </p:txBody>
      </p:sp>
      <p:sp>
        <p:nvSpPr>
          <p:cNvPr id="19" name="Text 15"/>
          <p:cNvSpPr txBox="1"/>
          <p:nvPr/>
        </p:nvSpPr>
        <p:spPr>
          <a:xfrm>
            <a:off x="548640" y="5486400"/>
            <a:ext cx="10972800" cy="411480"/>
          </a:xfrm>
          <a:prstGeom prst="rect">
            <a:avLst/>
          </a:prstGeom>
          <a:noFill/>
          <a:ln/>
        </p:spPr>
        <p:txBody>
          <a:bodyPr wrap="square" lIns="0" tIns="0" rIns="0" bIns="0" rtlCol="0" anchor="ctr"/>
          <a:lstStyle/>
          <a:p>
            <a:pPr marL="0" indent="0">
              <a:buNone/>
            </a:pPr>
            <a:r>
              <a:rPr lang="en-US" sz="1600" i="1" dirty="0">
                <a:solidFill>
                  <a:srgbClr val="CF128C"/>
                </a:solidFill>
                <a:latin typeface="Calibri" pitchFamily="34" charset="0"/>
                <a:ea typeface="Calibri" pitchFamily="34" charset="-122"/>
                <a:cs typeface="Calibri" pitchFamily="34" charset="-120"/>
              </a:rPr>
              <a:t>Idea 3 explains Amina’s finger: new skin cells came from skin cells that were already there.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Prokaryote or eukaryote: what is different?</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691640"/>
            <a:ext cx="3566160" cy="457200"/>
          </a:xfrm>
          <a:prstGeom prst="rect">
            <a:avLst/>
          </a:prstGeom>
          <a:solidFill>
            <a:srgbClr val="111111"/>
          </a:solidFill>
          <a:ln w="12700">
            <a:solidFill>
              <a:srgbClr val="FFFFFF"/>
            </a:solidFill>
            <a:prstDash val="solid"/>
          </a:ln>
        </p:spPr>
        <p:txBody>
          <a:bodyPr/>
          <a:lstStyle/>
          <a:p>
            <a:endParaRPr lang="en-US"/>
          </a:p>
        </p:txBody>
      </p:sp>
      <p:sp>
        <p:nvSpPr>
          <p:cNvPr id="11" name="Text 7"/>
          <p:cNvSpPr txBox="1"/>
          <p:nvPr/>
        </p:nvSpPr>
        <p:spPr>
          <a:xfrm>
            <a:off x="658368" y="1691640"/>
            <a:ext cx="338328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Feature</a:t>
            </a:r>
            <a:endParaRPr lang="en-US" sz="1500" dirty="0"/>
          </a:p>
        </p:txBody>
      </p:sp>
      <p:sp>
        <p:nvSpPr>
          <p:cNvPr id="12" name="Shape 8"/>
          <p:cNvSpPr/>
          <p:nvPr/>
        </p:nvSpPr>
        <p:spPr>
          <a:xfrm>
            <a:off x="4114800" y="1691640"/>
            <a:ext cx="3566160" cy="457200"/>
          </a:xfrm>
          <a:prstGeom prst="rect">
            <a:avLst/>
          </a:prstGeom>
          <a:solidFill>
            <a:srgbClr val="111111"/>
          </a:solidFill>
          <a:ln w="12700">
            <a:solidFill>
              <a:srgbClr val="FFFFFF"/>
            </a:solidFill>
            <a:prstDash val="solid"/>
          </a:ln>
        </p:spPr>
        <p:txBody>
          <a:bodyPr/>
          <a:lstStyle/>
          <a:p>
            <a:endParaRPr lang="en-US"/>
          </a:p>
        </p:txBody>
      </p:sp>
      <p:sp>
        <p:nvSpPr>
          <p:cNvPr id="13" name="Text 9"/>
          <p:cNvSpPr txBox="1"/>
          <p:nvPr/>
        </p:nvSpPr>
        <p:spPr>
          <a:xfrm>
            <a:off x="4224528" y="1691640"/>
            <a:ext cx="338328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Prokaryote</a:t>
            </a:r>
            <a:endParaRPr lang="en-US" sz="1500" dirty="0"/>
          </a:p>
        </p:txBody>
      </p:sp>
      <p:sp>
        <p:nvSpPr>
          <p:cNvPr id="14" name="Shape 10"/>
          <p:cNvSpPr/>
          <p:nvPr/>
        </p:nvSpPr>
        <p:spPr>
          <a:xfrm>
            <a:off x="7680960" y="1691640"/>
            <a:ext cx="3959352" cy="457200"/>
          </a:xfrm>
          <a:prstGeom prst="rect">
            <a:avLst/>
          </a:prstGeom>
          <a:solidFill>
            <a:srgbClr val="111111"/>
          </a:solidFill>
          <a:ln w="12700">
            <a:solidFill>
              <a:srgbClr val="FFFFFF"/>
            </a:solidFill>
            <a:prstDash val="solid"/>
          </a:ln>
        </p:spPr>
        <p:txBody>
          <a:bodyPr/>
          <a:lstStyle/>
          <a:p>
            <a:endParaRPr lang="en-US"/>
          </a:p>
        </p:txBody>
      </p:sp>
      <p:sp>
        <p:nvSpPr>
          <p:cNvPr id="15" name="Text 11"/>
          <p:cNvSpPr txBox="1"/>
          <p:nvPr/>
        </p:nvSpPr>
        <p:spPr>
          <a:xfrm>
            <a:off x="7790688" y="1691640"/>
            <a:ext cx="3776472"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Eukaryote</a:t>
            </a:r>
            <a:endParaRPr lang="en-US" sz="1500" dirty="0"/>
          </a:p>
        </p:txBody>
      </p:sp>
      <p:sp>
        <p:nvSpPr>
          <p:cNvPr id="16" name="Shape 12"/>
          <p:cNvSpPr/>
          <p:nvPr/>
        </p:nvSpPr>
        <p:spPr>
          <a:xfrm>
            <a:off x="548640" y="2148840"/>
            <a:ext cx="3566160" cy="548640"/>
          </a:xfrm>
          <a:prstGeom prst="rect">
            <a:avLst/>
          </a:prstGeom>
          <a:solidFill>
            <a:srgbClr val="F5F6F9"/>
          </a:solidFill>
          <a:ln w="12700">
            <a:solidFill>
              <a:srgbClr val="D9DCE3"/>
            </a:solidFill>
            <a:prstDash val="solid"/>
          </a:ln>
        </p:spPr>
        <p:txBody>
          <a:bodyPr/>
          <a:lstStyle/>
          <a:p>
            <a:endParaRPr lang="en-US"/>
          </a:p>
        </p:txBody>
      </p:sp>
      <p:sp>
        <p:nvSpPr>
          <p:cNvPr id="17" name="Text 13"/>
          <p:cNvSpPr txBox="1"/>
          <p:nvPr/>
        </p:nvSpPr>
        <p:spPr>
          <a:xfrm>
            <a:off x="658368" y="2148840"/>
            <a:ext cx="3383280" cy="54864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Nucleus</a:t>
            </a:r>
            <a:endParaRPr lang="en-US" sz="1400" dirty="0"/>
          </a:p>
        </p:txBody>
      </p:sp>
      <p:sp>
        <p:nvSpPr>
          <p:cNvPr id="18" name="Shape 14"/>
          <p:cNvSpPr/>
          <p:nvPr/>
        </p:nvSpPr>
        <p:spPr>
          <a:xfrm>
            <a:off x="4114800" y="2148840"/>
            <a:ext cx="3566160" cy="548640"/>
          </a:xfrm>
          <a:prstGeom prst="rect">
            <a:avLst/>
          </a:prstGeom>
          <a:solidFill>
            <a:srgbClr val="F5F6F9"/>
          </a:solidFill>
          <a:ln w="12700">
            <a:solidFill>
              <a:srgbClr val="D9DCE3"/>
            </a:solidFill>
            <a:prstDash val="solid"/>
          </a:ln>
        </p:spPr>
        <p:txBody>
          <a:bodyPr/>
          <a:lstStyle/>
          <a:p>
            <a:endParaRPr lang="en-US"/>
          </a:p>
        </p:txBody>
      </p:sp>
      <p:sp>
        <p:nvSpPr>
          <p:cNvPr id="19" name="Text 15"/>
          <p:cNvSpPr txBox="1"/>
          <p:nvPr/>
        </p:nvSpPr>
        <p:spPr>
          <a:xfrm>
            <a:off x="4224528" y="2148840"/>
            <a:ext cx="3383280"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No — DNA lies free in the cytoplasm</a:t>
            </a:r>
            <a:endParaRPr lang="en-US" sz="1400" dirty="0"/>
          </a:p>
        </p:txBody>
      </p:sp>
      <p:sp>
        <p:nvSpPr>
          <p:cNvPr id="20" name="Shape 16"/>
          <p:cNvSpPr/>
          <p:nvPr/>
        </p:nvSpPr>
        <p:spPr>
          <a:xfrm>
            <a:off x="7680960" y="2148840"/>
            <a:ext cx="3959352" cy="548640"/>
          </a:xfrm>
          <a:prstGeom prst="rect">
            <a:avLst/>
          </a:prstGeom>
          <a:solidFill>
            <a:srgbClr val="F5F6F9"/>
          </a:solidFill>
          <a:ln w="12700">
            <a:solidFill>
              <a:srgbClr val="D9DCE3"/>
            </a:solidFill>
            <a:prstDash val="solid"/>
          </a:ln>
        </p:spPr>
        <p:txBody>
          <a:bodyPr/>
          <a:lstStyle/>
          <a:p>
            <a:endParaRPr lang="en-US"/>
          </a:p>
        </p:txBody>
      </p:sp>
      <p:sp>
        <p:nvSpPr>
          <p:cNvPr id="21" name="Text 17"/>
          <p:cNvSpPr txBox="1"/>
          <p:nvPr/>
        </p:nvSpPr>
        <p:spPr>
          <a:xfrm>
            <a:off x="7790688" y="2148840"/>
            <a:ext cx="3776472"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Yes — DNA is inside a nucleus with a membrane</a:t>
            </a:r>
            <a:endParaRPr lang="en-US" sz="1400" dirty="0"/>
          </a:p>
        </p:txBody>
      </p:sp>
      <p:sp>
        <p:nvSpPr>
          <p:cNvPr id="22" name="Shape 18"/>
          <p:cNvSpPr/>
          <p:nvPr/>
        </p:nvSpPr>
        <p:spPr>
          <a:xfrm>
            <a:off x="548640" y="2697480"/>
            <a:ext cx="3566160" cy="548640"/>
          </a:xfrm>
          <a:prstGeom prst="rect">
            <a:avLst/>
          </a:prstGeom>
          <a:solidFill>
            <a:srgbClr val="FFFFFF"/>
          </a:solidFill>
          <a:ln w="12700">
            <a:solidFill>
              <a:srgbClr val="D9DCE3"/>
            </a:solidFill>
            <a:prstDash val="solid"/>
          </a:ln>
        </p:spPr>
        <p:txBody>
          <a:bodyPr/>
          <a:lstStyle/>
          <a:p>
            <a:endParaRPr lang="en-US"/>
          </a:p>
        </p:txBody>
      </p:sp>
      <p:sp>
        <p:nvSpPr>
          <p:cNvPr id="23" name="Text 19"/>
          <p:cNvSpPr txBox="1"/>
          <p:nvPr/>
        </p:nvSpPr>
        <p:spPr>
          <a:xfrm>
            <a:off x="658368" y="2697480"/>
            <a:ext cx="3383280" cy="54864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Organelles with membranes (e.g. mitochondria)</a:t>
            </a:r>
            <a:endParaRPr lang="en-US" sz="1400" dirty="0"/>
          </a:p>
        </p:txBody>
      </p:sp>
      <p:sp>
        <p:nvSpPr>
          <p:cNvPr id="24" name="Shape 20"/>
          <p:cNvSpPr/>
          <p:nvPr/>
        </p:nvSpPr>
        <p:spPr>
          <a:xfrm>
            <a:off x="4114800" y="2697480"/>
            <a:ext cx="3566160" cy="548640"/>
          </a:xfrm>
          <a:prstGeom prst="rect">
            <a:avLst/>
          </a:prstGeom>
          <a:solidFill>
            <a:srgbClr val="FFFFFF"/>
          </a:solidFill>
          <a:ln w="12700">
            <a:solidFill>
              <a:srgbClr val="D9DCE3"/>
            </a:solidFill>
            <a:prstDash val="solid"/>
          </a:ln>
        </p:spPr>
        <p:txBody>
          <a:bodyPr/>
          <a:lstStyle/>
          <a:p>
            <a:endParaRPr lang="en-US"/>
          </a:p>
        </p:txBody>
      </p:sp>
      <p:sp>
        <p:nvSpPr>
          <p:cNvPr id="25" name="Text 21"/>
          <p:cNvSpPr txBox="1"/>
          <p:nvPr/>
        </p:nvSpPr>
        <p:spPr>
          <a:xfrm>
            <a:off x="4224528" y="2697480"/>
            <a:ext cx="3383280"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No</a:t>
            </a:r>
            <a:endParaRPr lang="en-US" sz="1400" dirty="0"/>
          </a:p>
        </p:txBody>
      </p:sp>
      <p:sp>
        <p:nvSpPr>
          <p:cNvPr id="26" name="Shape 22"/>
          <p:cNvSpPr/>
          <p:nvPr/>
        </p:nvSpPr>
        <p:spPr>
          <a:xfrm>
            <a:off x="7680960" y="2697480"/>
            <a:ext cx="3959352" cy="548640"/>
          </a:xfrm>
          <a:prstGeom prst="rect">
            <a:avLst/>
          </a:prstGeom>
          <a:solidFill>
            <a:srgbClr val="FFFFFF"/>
          </a:solidFill>
          <a:ln w="12700">
            <a:solidFill>
              <a:srgbClr val="D9DCE3"/>
            </a:solidFill>
            <a:prstDash val="solid"/>
          </a:ln>
        </p:spPr>
        <p:txBody>
          <a:bodyPr/>
          <a:lstStyle/>
          <a:p>
            <a:endParaRPr lang="en-US"/>
          </a:p>
        </p:txBody>
      </p:sp>
      <p:sp>
        <p:nvSpPr>
          <p:cNvPr id="27" name="Text 23"/>
          <p:cNvSpPr txBox="1"/>
          <p:nvPr/>
        </p:nvSpPr>
        <p:spPr>
          <a:xfrm>
            <a:off x="7790688" y="2697480"/>
            <a:ext cx="3776472"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Yes</a:t>
            </a:r>
            <a:endParaRPr lang="en-US" sz="1400" dirty="0"/>
          </a:p>
        </p:txBody>
      </p:sp>
      <p:sp>
        <p:nvSpPr>
          <p:cNvPr id="28" name="Shape 24"/>
          <p:cNvSpPr/>
          <p:nvPr/>
        </p:nvSpPr>
        <p:spPr>
          <a:xfrm>
            <a:off x="548640" y="3246120"/>
            <a:ext cx="3566160" cy="548640"/>
          </a:xfrm>
          <a:prstGeom prst="rect">
            <a:avLst/>
          </a:prstGeom>
          <a:solidFill>
            <a:srgbClr val="FBE4F2"/>
          </a:solidFill>
          <a:ln w="12700">
            <a:solidFill>
              <a:srgbClr val="D9DCE3"/>
            </a:solidFill>
            <a:prstDash val="solid"/>
          </a:ln>
        </p:spPr>
        <p:txBody>
          <a:bodyPr/>
          <a:lstStyle/>
          <a:p>
            <a:endParaRPr lang="en-US"/>
          </a:p>
        </p:txBody>
      </p:sp>
      <p:sp>
        <p:nvSpPr>
          <p:cNvPr id="29" name="Text 25"/>
          <p:cNvSpPr txBox="1"/>
          <p:nvPr/>
        </p:nvSpPr>
        <p:spPr>
          <a:xfrm>
            <a:off x="658368" y="3246120"/>
            <a:ext cx="3383280" cy="54864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Ribosomes</a:t>
            </a:r>
            <a:endParaRPr lang="en-US" sz="1400" dirty="0"/>
          </a:p>
        </p:txBody>
      </p:sp>
      <p:sp>
        <p:nvSpPr>
          <p:cNvPr id="30" name="Shape 26"/>
          <p:cNvSpPr/>
          <p:nvPr/>
        </p:nvSpPr>
        <p:spPr>
          <a:xfrm>
            <a:off x="4114800" y="3246120"/>
            <a:ext cx="3566160" cy="548640"/>
          </a:xfrm>
          <a:prstGeom prst="rect">
            <a:avLst/>
          </a:prstGeom>
          <a:solidFill>
            <a:srgbClr val="FBE4F2"/>
          </a:solidFill>
          <a:ln w="12700">
            <a:solidFill>
              <a:srgbClr val="D9DCE3"/>
            </a:solidFill>
            <a:prstDash val="solid"/>
          </a:ln>
        </p:spPr>
        <p:txBody>
          <a:bodyPr/>
          <a:lstStyle/>
          <a:p>
            <a:endParaRPr lang="en-US"/>
          </a:p>
        </p:txBody>
      </p:sp>
      <p:sp>
        <p:nvSpPr>
          <p:cNvPr id="31" name="Text 27"/>
          <p:cNvSpPr txBox="1"/>
          <p:nvPr/>
        </p:nvSpPr>
        <p:spPr>
          <a:xfrm>
            <a:off x="4224528" y="3246120"/>
            <a:ext cx="3383280" cy="54864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Yes</a:t>
            </a:r>
            <a:endParaRPr lang="en-US" sz="1400" dirty="0"/>
          </a:p>
        </p:txBody>
      </p:sp>
      <p:sp>
        <p:nvSpPr>
          <p:cNvPr id="32" name="Shape 28"/>
          <p:cNvSpPr/>
          <p:nvPr/>
        </p:nvSpPr>
        <p:spPr>
          <a:xfrm>
            <a:off x="7680960" y="3246120"/>
            <a:ext cx="3959352" cy="548640"/>
          </a:xfrm>
          <a:prstGeom prst="rect">
            <a:avLst/>
          </a:prstGeom>
          <a:solidFill>
            <a:srgbClr val="FBE4F2"/>
          </a:solidFill>
          <a:ln w="12700">
            <a:solidFill>
              <a:srgbClr val="D9DCE3"/>
            </a:solidFill>
            <a:prstDash val="solid"/>
          </a:ln>
        </p:spPr>
        <p:txBody>
          <a:bodyPr/>
          <a:lstStyle/>
          <a:p>
            <a:endParaRPr lang="en-US"/>
          </a:p>
        </p:txBody>
      </p:sp>
      <p:sp>
        <p:nvSpPr>
          <p:cNvPr id="33" name="Text 29"/>
          <p:cNvSpPr txBox="1"/>
          <p:nvPr/>
        </p:nvSpPr>
        <p:spPr>
          <a:xfrm>
            <a:off x="7790688" y="3246120"/>
            <a:ext cx="3776472" cy="54864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Yes</a:t>
            </a:r>
            <a:endParaRPr lang="en-US" sz="1400" dirty="0"/>
          </a:p>
        </p:txBody>
      </p:sp>
      <p:sp>
        <p:nvSpPr>
          <p:cNvPr id="34" name="Shape 30"/>
          <p:cNvSpPr/>
          <p:nvPr/>
        </p:nvSpPr>
        <p:spPr>
          <a:xfrm>
            <a:off x="548640" y="3794760"/>
            <a:ext cx="3566160" cy="548640"/>
          </a:xfrm>
          <a:prstGeom prst="rect">
            <a:avLst/>
          </a:prstGeom>
          <a:solidFill>
            <a:srgbClr val="FFFFFF"/>
          </a:solidFill>
          <a:ln w="12700">
            <a:solidFill>
              <a:srgbClr val="D9DCE3"/>
            </a:solidFill>
            <a:prstDash val="solid"/>
          </a:ln>
        </p:spPr>
        <p:txBody>
          <a:bodyPr/>
          <a:lstStyle/>
          <a:p>
            <a:endParaRPr lang="en-US"/>
          </a:p>
        </p:txBody>
      </p:sp>
      <p:sp>
        <p:nvSpPr>
          <p:cNvPr id="35" name="Text 31"/>
          <p:cNvSpPr txBox="1"/>
          <p:nvPr/>
        </p:nvSpPr>
        <p:spPr>
          <a:xfrm>
            <a:off x="658368" y="3794760"/>
            <a:ext cx="3383280" cy="54864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Cell membrane and cytoplasm</a:t>
            </a:r>
            <a:endParaRPr lang="en-US" sz="1400" dirty="0"/>
          </a:p>
        </p:txBody>
      </p:sp>
      <p:sp>
        <p:nvSpPr>
          <p:cNvPr id="36" name="Shape 32"/>
          <p:cNvSpPr/>
          <p:nvPr/>
        </p:nvSpPr>
        <p:spPr>
          <a:xfrm>
            <a:off x="4114800" y="3794760"/>
            <a:ext cx="3566160" cy="548640"/>
          </a:xfrm>
          <a:prstGeom prst="rect">
            <a:avLst/>
          </a:prstGeom>
          <a:solidFill>
            <a:srgbClr val="FFFFFF"/>
          </a:solidFill>
          <a:ln w="12700">
            <a:solidFill>
              <a:srgbClr val="D9DCE3"/>
            </a:solidFill>
            <a:prstDash val="solid"/>
          </a:ln>
        </p:spPr>
        <p:txBody>
          <a:bodyPr/>
          <a:lstStyle/>
          <a:p>
            <a:endParaRPr lang="en-US"/>
          </a:p>
        </p:txBody>
      </p:sp>
      <p:sp>
        <p:nvSpPr>
          <p:cNvPr id="37" name="Text 33"/>
          <p:cNvSpPr txBox="1"/>
          <p:nvPr/>
        </p:nvSpPr>
        <p:spPr>
          <a:xfrm>
            <a:off x="4224528" y="3794760"/>
            <a:ext cx="3383280"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Yes</a:t>
            </a:r>
            <a:endParaRPr lang="en-US" sz="1400" dirty="0"/>
          </a:p>
        </p:txBody>
      </p:sp>
      <p:sp>
        <p:nvSpPr>
          <p:cNvPr id="38" name="Shape 34"/>
          <p:cNvSpPr/>
          <p:nvPr/>
        </p:nvSpPr>
        <p:spPr>
          <a:xfrm>
            <a:off x="7680960" y="3794760"/>
            <a:ext cx="3959352" cy="548640"/>
          </a:xfrm>
          <a:prstGeom prst="rect">
            <a:avLst/>
          </a:prstGeom>
          <a:solidFill>
            <a:srgbClr val="FFFFFF"/>
          </a:solidFill>
          <a:ln w="12700">
            <a:solidFill>
              <a:srgbClr val="D9DCE3"/>
            </a:solidFill>
            <a:prstDash val="solid"/>
          </a:ln>
        </p:spPr>
        <p:txBody>
          <a:bodyPr/>
          <a:lstStyle/>
          <a:p>
            <a:endParaRPr lang="en-US"/>
          </a:p>
        </p:txBody>
      </p:sp>
      <p:sp>
        <p:nvSpPr>
          <p:cNvPr id="39" name="Text 35"/>
          <p:cNvSpPr txBox="1"/>
          <p:nvPr/>
        </p:nvSpPr>
        <p:spPr>
          <a:xfrm>
            <a:off x="7790688" y="3794760"/>
            <a:ext cx="3776472"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Yes</a:t>
            </a:r>
            <a:endParaRPr lang="en-US" sz="1400" dirty="0"/>
          </a:p>
        </p:txBody>
      </p:sp>
      <p:sp>
        <p:nvSpPr>
          <p:cNvPr id="40" name="Shape 36"/>
          <p:cNvSpPr/>
          <p:nvPr/>
        </p:nvSpPr>
        <p:spPr>
          <a:xfrm>
            <a:off x="548640" y="4343400"/>
            <a:ext cx="3566160" cy="548640"/>
          </a:xfrm>
          <a:prstGeom prst="rect">
            <a:avLst/>
          </a:prstGeom>
          <a:solidFill>
            <a:srgbClr val="F5F6F9"/>
          </a:solidFill>
          <a:ln w="12700">
            <a:solidFill>
              <a:srgbClr val="D9DCE3"/>
            </a:solidFill>
            <a:prstDash val="solid"/>
          </a:ln>
        </p:spPr>
        <p:txBody>
          <a:bodyPr/>
          <a:lstStyle/>
          <a:p>
            <a:endParaRPr lang="en-US"/>
          </a:p>
        </p:txBody>
      </p:sp>
      <p:sp>
        <p:nvSpPr>
          <p:cNvPr id="41" name="Text 37"/>
          <p:cNvSpPr txBox="1"/>
          <p:nvPr/>
        </p:nvSpPr>
        <p:spPr>
          <a:xfrm>
            <a:off x="658368" y="4343400"/>
            <a:ext cx="3383280" cy="54864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Usual size</a:t>
            </a:r>
            <a:endParaRPr lang="en-US" sz="1400" dirty="0"/>
          </a:p>
        </p:txBody>
      </p:sp>
      <p:sp>
        <p:nvSpPr>
          <p:cNvPr id="42" name="Shape 38"/>
          <p:cNvSpPr/>
          <p:nvPr/>
        </p:nvSpPr>
        <p:spPr>
          <a:xfrm>
            <a:off x="4114800" y="4343400"/>
            <a:ext cx="3566160" cy="548640"/>
          </a:xfrm>
          <a:prstGeom prst="rect">
            <a:avLst/>
          </a:prstGeom>
          <a:solidFill>
            <a:srgbClr val="F5F6F9"/>
          </a:solidFill>
          <a:ln w="12700">
            <a:solidFill>
              <a:srgbClr val="D9DCE3"/>
            </a:solidFill>
            <a:prstDash val="solid"/>
          </a:ln>
        </p:spPr>
        <p:txBody>
          <a:bodyPr/>
          <a:lstStyle/>
          <a:p>
            <a:endParaRPr lang="en-US"/>
          </a:p>
        </p:txBody>
      </p:sp>
      <p:sp>
        <p:nvSpPr>
          <p:cNvPr id="43" name="Text 39"/>
          <p:cNvSpPr txBox="1"/>
          <p:nvPr/>
        </p:nvSpPr>
        <p:spPr>
          <a:xfrm>
            <a:off x="4224528" y="4343400"/>
            <a:ext cx="3383280"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1–5 micrometres</a:t>
            </a:r>
            <a:endParaRPr lang="en-US" sz="1400" dirty="0"/>
          </a:p>
        </p:txBody>
      </p:sp>
      <p:sp>
        <p:nvSpPr>
          <p:cNvPr id="44" name="Shape 40"/>
          <p:cNvSpPr/>
          <p:nvPr/>
        </p:nvSpPr>
        <p:spPr>
          <a:xfrm>
            <a:off x="7680960" y="4343400"/>
            <a:ext cx="3959352" cy="548640"/>
          </a:xfrm>
          <a:prstGeom prst="rect">
            <a:avLst/>
          </a:prstGeom>
          <a:solidFill>
            <a:srgbClr val="F5F6F9"/>
          </a:solidFill>
          <a:ln w="12700">
            <a:solidFill>
              <a:srgbClr val="D9DCE3"/>
            </a:solidFill>
            <a:prstDash val="solid"/>
          </a:ln>
        </p:spPr>
        <p:txBody>
          <a:bodyPr/>
          <a:lstStyle/>
          <a:p>
            <a:endParaRPr lang="en-US"/>
          </a:p>
        </p:txBody>
      </p:sp>
      <p:sp>
        <p:nvSpPr>
          <p:cNvPr id="45" name="Text 41"/>
          <p:cNvSpPr txBox="1"/>
          <p:nvPr/>
        </p:nvSpPr>
        <p:spPr>
          <a:xfrm>
            <a:off x="7790688" y="4343400"/>
            <a:ext cx="3776472"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10–100 micrometres</a:t>
            </a:r>
            <a:endParaRPr lang="en-US" sz="1400" dirty="0"/>
          </a:p>
        </p:txBody>
      </p:sp>
      <p:sp>
        <p:nvSpPr>
          <p:cNvPr id="46" name="Shape 42"/>
          <p:cNvSpPr/>
          <p:nvPr/>
        </p:nvSpPr>
        <p:spPr>
          <a:xfrm>
            <a:off x="548640" y="4892040"/>
            <a:ext cx="3566160" cy="548640"/>
          </a:xfrm>
          <a:prstGeom prst="rect">
            <a:avLst/>
          </a:prstGeom>
          <a:solidFill>
            <a:srgbClr val="FFFFFF"/>
          </a:solidFill>
          <a:ln w="12700">
            <a:solidFill>
              <a:srgbClr val="D9DCE3"/>
            </a:solidFill>
            <a:prstDash val="solid"/>
          </a:ln>
        </p:spPr>
        <p:txBody>
          <a:bodyPr/>
          <a:lstStyle/>
          <a:p>
            <a:endParaRPr lang="en-US"/>
          </a:p>
        </p:txBody>
      </p:sp>
      <p:sp>
        <p:nvSpPr>
          <p:cNvPr id="47" name="Text 43"/>
          <p:cNvSpPr txBox="1"/>
          <p:nvPr/>
        </p:nvSpPr>
        <p:spPr>
          <a:xfrm>
            <a:off x="658368" y="4892040"/>
            <a:ext cx="3383280" cy="54864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Examples</a:t>
            </a:r>
            <a:endParaRPr lang="en-US" sz="1400" dirty="0"/>
          </a:p>
        </p:txBody>
      </p:sp>
      <p:sp>
        <p:nvSpPr>
          <p:cNvPr id="48" name="Shape 44"/>
          <p:cNvSpPr/>
          <p:nvPr/>
        </p:nvSpPr>
        <p:spPr>
          <a:xfrm>
            <a:off x="4114800" y="4892040"/>
            <a:ext cx="3566160" cy="548640"/>
          </a:xfrm>
          <a:prstGeom prst="rect">
            <a:avLst/>
          </a:prstGeom>
          <a:solidFill>
            <a:srgbClr val="FFFFFF"/>
          </a:solidFill>
          <a:ln w="12700">
            <a:solidFill>
              <a:srgbClr val="D9DCE3"/>
            </a:solidFill>
            <a:prstDash val="solid"/>
          </a:ln>
        </p:spPr>
        <p:txBody>
          <a:bodyPr/>
          <a:lstStyle/>
          <a:p>
            <a:endParaRPr lang="en-US"/>
          </a:p>
        </p:txBody>
      </p:sp>
      <p:sp>
        <p:nvSpPr>
          <p:cNvPr id="49" name="Text 45"/>
          <p:cNvSpPr txBox="1"/>
          <p:nvPr/>
        </p:nvSpPr>
        <p:spPr>
          <a:xfrm>
            <a:off x="4224528" y="4892040"/>
            <a:ext cx="3383280"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Bacteria, e.g. E. coli</a:t>
            </a:r>
            <a:endParaRPr lang="en-US" sz="1400" dirty="0"/>
          </a:p>
        </p:txBody>
      </p:sp>
      <p:sp>
        <p:nvSpPr>
          <p:cNvPr id="50" name="Shape 46"/>
          <p:cNvSpPr/>
          <p:nvPr/>
        </p:nvSpPr>
        <p:spPr>
          <a:xfrm>
            <a:off x="7680960" y="4892040"/>
            <a:ext cx="3959352" cy="548640"/>
          </a:xfrm>
          <a:prstGeom prst="rect">
            <a:avLst/>
          </a:prstGeom>
          <a:solidFill>
            <a:srgbClr val="FFFFFF"/>
          </a:solidFill>
          <a:ln w="12700">
            <a:solidFill>
              <a:srgbClr val="D9DCE3"/>
            </a:solidFill>
            <a:prstDash val="solid"/>
          </a:ln>
        </p:spPr>
        <p:txBody>
          <a:bodyPr/>
          <a:lstStyle/>
          <a:p>
            <a:endParaRPr lang="en-US"/>
          </a:p>
        </p:txBody>
      </p:sp>
      <p:sp>
        <p:nvSpPr>
          <p:cNvPr id="51" name="Text 47"/>
          <p:cNvSpPr txBox="1"/>
          <p:nvPr/>
        </p:nvSpPr>
        <p:spPr>
          <a:xfrm>
            <a:off x="7790688" y="4892040"/>
            <a:ext cx="3776472" cy="54864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Plants, animals, fungi — and Amina’s skin cells</a:t>
            </a:r>
            <a:endParaRPr lang="en-US" sz="1400" dirty="0"/>
          </a:p>
        </p:txBody>
      </p:sp>
      <p:sp>
        <p:nvSpPr>
          <p:cNvPr id="52" name="Text 48"/>
          <p:cNvSpPr txBox="1"/>
          <p:nvPr/>
        </p:nvSpPr>
        <p:spPr>
          <a:xfrm>
            <a:off x="548640" y="5532120"/>
            <a:ext cx="11064240" cy="411480"/>
          </a:xfrm>
          <a:prstGeom prst="rect">
            <a:avLst/>
          </a:prstGeom>
          <a:noFill/>
          <a:ln/>
        </p:spPr>
        <p:txBody>
          <a:bodyPr wrap="square" lIns="0" tIns="0" rIns="0" bIns="0" rtlCol="0" anchor="ctr"/>
          <a:lstStyle/>
          <a:p>
            <a:pPr marL="0" indent="0">
              <a:buNone/>
            </a:pPr>
            <a:r>
              <a:rPr lang="en-US" sz="1500" b="1" dirty="0">
                <a:solidFill>
                  <a:srgbClr val="CF128C"/>
                </a:solidFill>
                <a:latin typeface="Calibri" pitchFamily="34" charset="0"/>
                <a:ea typeface="Calibri" pitchFamily="34" charset="-122"/>
                <a:cs typeface="Calibri" pitchFamily="34" charset="-120"/>
              </a:rPr>
              <a:t>Ribosomes are in BOTH. Even the simplest bacteria make proteins — that is one reason bacteria in a wound can be dangerous.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Colour-code your three diagrams</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828800"/>
            <a:ext cx="1737360" cy="685800"/>
          </a:xfrm>
          <a:prstGeom prst="roundRect">
            <a:avLst>
              <a:gd name="adj" fmla="val 16000"/>
            </a:avLst>
          </a:prstGeom>
          <a:solidFill>
            <a:srgbClr val="1E8C4E"/>
          </a:solidFill>
          <a:ln w="12700">
            <a:solidFill>
              <a:srgbClr val="1E8C4E"/>
            </a:solidFill>
            <a:prstDash val="solid"/>
          </a:ln>
        </p:spPr>
        <p:txBody>
          <a:bodyPr/>
          <a:lstStyle/>
          <a:p>
            <a:endParaRPr lang="en-US"/>
          </a:p>
        </p:txBody>
      </p:sp>
      <p:sp>
        <p:nvSpPr>
          <p:cNvPr id="11" name="Text 7"/>
          <p:cNvSpPr txBox="1"/>
          <p:nvPr/>
        </p:nvSpPr>
        <p:spPr>
          <a:xfrm>
            <a:off x="548640" y="182880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GREEN</a:t>
            </a:r>
            <a:endParaRPr lang="en-US" sz="2000" dirty="0"/>
          </a:p>
        </p:txBody>
      </p:sp>
      <p:sp>
        <p:nvSpPr>
          <p:cNvPr id="12" name="Text 8"/>
          <p:cNvSpPr txBox="1"/>
          <p:nvPr/>
        </p:nvSpPr>
        <p:spPr>
          <a:xfrm>
            <a:off x="2514600" y="1828800"/>
            <a:ext cx="5029200" cy="685800"/>
          </a:xfrm>
          <a:prstGeom prst="rect">
            <a:avLst/>
          </a:prstGeom>
          <a:noFill/>
          <a:ln/>
        </p:spPr>
        <p:txBody>
          <a:bodyPr wrap="square" lIns="0" tIns="0" rIns="0" bIns="0" rtlCol="0" anchor="ctr"/>
          <a:lstStyle/>
          <a:p>
            <a:pPr marL="0" indent="0">
              <a:buNone/>
            </a:pPr>
            <a:r>
              <a:rPr lang="en-US" sz="2200" dirty="0">
                <a:solidFill>
                  <a:srgbClr val="111111"/>
                </a:solidFill>
                <a:latin typeface="Calibri" pitchFamily="34" charset="0"/>
                <a:ea typeface="Calibri" pitchFamily="34" charset="-122"/>
                <a:cs typeface="Calibri" pitchFamily="34" charset="-120"/>
              </a:rPr>
              <a:t>in BOTH prokaryotes and eukaryotes</a:t>
            </a:r>
            <a:endParaRPr lang="en-US" sz="2200" dirty="0"/>
          </a:p>
        </p:txBody>
      </p:sp>
      <p:sp>
        <p:nvSpPr>
          <p:cNvPr id="13" name="Shape 9"/>
          <p:cNvSpPr/>
          <p:nvPr/>
        </p:nvSpPr>
        <p:spPr>
          <a:xfrm>
            <a:off x="548640" y="2743200"/>
            <a:ext cx="1737360" cy="685800"/>
          </a:xfrm>
          <a:prstGeom prst="roundRect">
            <a:avLst>
              <a:gd name="adj" fmla="val 16000"/>
            </a:avLst>
          </a:prstGeom>
          <a:solidFill>
            <a:srgbClr val="1F6FD1"/>
          </a:solidFill>
          <a:ln w="12700">
            <a:solidFill>
              <a:srgbClr val="1F6FD1"/>
            </a:solidFill>
            <a:prstDash val="solid"/>
          </a:ln>
        </p:spPr>
        <p:txBody>
          <a:bodyPr/>
          <a:lstStyle/>
          <a:p>
            <a:endParaRPr lang="en-US"/>
          </a:p>
        </p:txBody>
      </p:sp>
      <p:sp>
        <p:nvSpPr>
          <p:cNvPr id="14" name="Text 10"/>
          <p:cNvSpPr txBox="1"/>
          <p:nvPr/>
        </p:nvSpPr>
        <p:spPr>
          <a:xfrm>
            <a:off x="548640" y="274320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BLUE</a:t>
            </a:r>
            <a:endParaRPr lang="en-US" sz="2000" dirty="0"/>
          </a:p>
        </p:txBody>
      </p:sp>
      <p:sp>
        <p:nvSpPr>
          <p:cNvPr id="15" name="Text 11"/>
          <p:cNvSpPr txBox="1"/>
          <p:nvPr/>
        </p:nvSpPr>
        <p:spPr>
          <a:xfrm>
            <a:off x="2514600" y="2743200"/>
            <a:ext cx="5029200" cy="685800"/>
          </a:xfrm>
          <a:prstGeom prst="rect">
            <a:avLst/>
          </a:prstGeom>
          <a:noFill/>
          <a:ln/>
        </p:spPr>
        <p:txBody>
          <a:bodyPr wrap="square" lIns="0" tIns="0" rIns="0" bIns="0" rtlCol="0" anchor="ctr"/>
          <a:lstStyle/>
          <a:p>
            <a:pPr marL="0" indent="0">
              <a:buNone/>
            </a:pPr>
            <a:r>
              <a:rPr lang="en-US" sz="2200" dirty="0">
                <a:solidFill>
                  <a:srgbClr val="111111"/>
                </a:solidFill>
                <a:latin typeface="Calibri" pitchFamily="34" charset="0"/>
                <a:ea typeface="Calibri" pitchFamily="34" charset="-122"/>
                <a:cs typeface="Calibri" pitchFamily="34" charset="-120"/>
              </a:rPr>
              <a:t>in eukaryotes only</a:t>
            </a:r>
            <a:endParaRPr lang="en-US" sz="2200" dirty="0"/>
          </a:p>
        </p:txBody>
      </p:sp>
      <p:sp>
        <p:nvSpPr>
          <p:cNvPr id="16" name="Shape 12"/>
          <p:cNvSpPr/>
          <p:nvPr/>
        </p:nvSpPr>
        <p:spPr>
          <a:xfrm>
            <a:off x="548640" y="3657600"/>
            <a:ext cx="1737360" cy="685800"/>
          </a:xfrm>
          <a:prstGeom prst="roundRect">
            <a:avLst>
              <a:gd name="adj" fmla="val 16000"/>
            </a:avLst>
          </a:prstGeom>
          <a:solidFill>
            <a:srgbClr val="E44145"/>
          </a:solidFill>
          <a:ln w="12700">
            <a:solidFill>
              <a:srgbClr val="E44145"/>
            </a:solidFill>
            <a:prstDash val="solid"/>
          </a:ln>
        </p:spPr>
        <p:txBody>
          <a:bodyPr/>
          <a:lstStyle/>
          <a:p>
            <a:endParaRPr lang="en-US"/>
          </a:p>
        </p:txBody>
      </p:sp>
      <p:sp>
        <p:nvSpPr>
          <p:cNvPr id="17" name="Text 13"/>
          <p:cNvSpPr txBox="1"/>
          <p:nvPr/>
        </p:nvSpPr>
        <p:spPr>
          <a:xfrm>
            <a:off x="548640" y="365760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RED</a:t>
            </a:r>
            <a:endParaRPr lang="en-US" sz="2000" dirty="0"/>
          </a:p>
        </p:txBody>
      </p:sp>
      <p:sp>
        <p:nvSpPr>
          <p:cNvPr id="18" name="Text 14"/>
          <p:cNvSpPr txBox="1"/>
          <p:nvPr/>
        </p:nvSpPr>
        <p:spPr>
          <a:xfrm>
            <a:off x="2514600" y="3657600"/>
            <a:ext cx="5029200" cy="685800"/>
          </a:xfrm>
          <a:prstGeom prst="rect">
            <a:avLst/>
          </a:prstGeom>
          <a:noFill/>
          <a:ln/>
        </p:spPr>
        <p:txBody>
          <a:bodyPr wrap="square" lIns="0" tIns="0" rIns="0" bIns="0" rtlCol="0" anchor="ctr"/>
          <a:lstStyle/>
          <a:p>
            <a:pPr marL="0" indent="0">
              <a:buNone/>
            </a:pPr>
            <a:r>
              <a:rPr lang="en-US" sz="2200" dirty="0">
                <a:solidFill>
                  <a:srgbClr val="111111"/>
                </a:solidFill>
                <a:latin typeface="Calibri" pitchFamily="34" charset="0"/>
                <a:ea typeface="Calibri" pitchFamily="34" charset="-122"/>
                <a:cs typeface="Calibri" pitchFamily="34" charset="-120"/>
              </a:rPr>
              <a:t>in plant cells only</a:t>
            </a:r>
            <a:endParaRPr lang="en-US" sz="2200" dirty="0"/>
          </a:p>
        </p:txBody>
      </p:sp>
      <p:sp>
        <p:nvSpPr>
          <p:cNvPr id="19" name="Shape 15"/>
          <p:cNvSpPr/>
          <p:nvPr/>
        </p:nvSpPr>
        <p:spPr>
          <a:xfrm>
            <a:off x="7863840" y="1828800"/>
            <a:ext cx="3776472" cy="2514600"/>
          </a:xfrm>
          <a:prstGeom prst="roundRect">
            <a:avLst>
              <a:gd name="adj" fmla="val 4364"/>
            </a:avLst>
          </a:prstGeom>
          <a:solidFill>
            <a:srgbClr val="FFF3E2"/>
          </a:solidFill>
          <a:ln w="9525">
            <a:solidFill>
              <a:srgbClr val="FFF3E2"/>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092440" y="2029968"/>
            <a:ext cx="320040" cy="320040"/>
          </a:xfrm>
          <a:prstGeom prst="rect">
            <a:avLst/>
          </a:prstGeom>
        </p:spPr>
      </p:pic>
      <p:sp>
        <p:nvSpPr>
          <p:cNvPr id="21" name="Text 16"/>
          <p:cNvSpPr txBox="1"/>
          <p:nvPr/>
        </p:nvSpPr>
        <p:spPr>
          <a:xfrm>
            <a:off x="8503920" y="2011680"/>
            <a:ext cx="2971800" cy="2240280"/>
          </a:xfrm>
          <a:prstGeom prst="rect">
            <a:avLst/>
          </a:prstGeom>
          <a:noFill/>
          <a:ln/>
        </p:spPr>
        <p:txBody>
          <a:bodyPr wrap="square" lIns="0" tIns="0" rIns="0" bIns="0" rtlCol="0" anchor="t"/>
          <a:lstStyle/>
          <a:p>
            <a:pPr marL="0" indent="0">
              <a:buNone/>
            </a:pPr>
            <a:r>
              <a:rPr lang="en-US" sz="1700" b="1" dirty="0">
                <a:solidFill>
                  <a:srgbClr val="111111"/>
                </a:solidFill>
                <a:latin typeface="Calibri" pitchFamily="34" charset="0"/>
                <a:ea typeface="Calibri" pitchFamily="34" charset="-122"/>
                <a:cs typeface="Calibri" pitchFamily="34" charset="-120"/>
              </a:rPr>
              <a:t>Careful: the cell wall</a:t>
            </a:r>
            <a:endParaRPr lang="en-US" sz="1700" dirty="0"/>
          </a:p>
          <a:p>
            <a:pPr marL="0" indent="0">
              <a:buNone/>
            </a:pPr>
            <a:r>
              <a:rPr lang="en-US" sz="1500" dirty="0">
                <a:solidFill>
                  <a:srgbClr val="111111"/>
                </a:solidFill>
                <a:latin typeface="Calibri" pitchFamily="34" charset="0"/>
                <a:ea typeface="Calibri" pitchFamily="34" charset="-122"/>
                <a:cs typeface="Calibri" pitchFamily="34" charset="-120"/>
              </a:rPr>
              <a:t>Plant cells have a cell wall — and so do bacteria! But a bacterial cell wall is made of a different material. Colour it RED on the plant cell, and put a star next to it on the bacterium.</a:t>
            </a:r>
            <a:endParaRPr lang="en-US" sz="1700" dirty="0"/>
          </a:p>
        </p:txBody>
      </p:sp>
      <p:sp>
        <p:nvSpPr>
          <p:cNvPr id="22" name="Text 17"/>
          <p:cNvSpPr txBox="1"/>
          <p:nvPr/>
        </p:nvSpPr>
        <p:spPr>
          <a:xfrm>
            <a:off x="548640" y="4846320"/>
            <a:ext cx="10972800" cy="411480"/>
          </a:xfrm>
          <a:prstGeom prst="rect">
            <a:avLst/>
          </a:prstGeom>
          <a:noFill/>
          <a:ln/>
        </p:spPr>
        <p:txBody>
          <a:bodyPr wrap="square" lIns="0" tIns="0" rIns="0" bIns="0" rtlCol="0" anchor="ctr"/>
          <a:lstStyle/>
          <a:p>
            <a:pPr marL="0" indent="0">
              <a:buNone/>
            </a:pPr>
            <a:r>
              <a:rPr lang="en-US" sz="1700" i="1" dirty="0">
                <a:solidFill>
                  <a:srgbClr val="5B6172"/>
                </a:solidFill>
                <a:latin typeface="Calibri" pitchFamily="34" charset="0"/>
                <a:ea typeface="Calibri" pitchFamily="34" charset="-122"/>
                <a:cs typeface="Calibri" pitchFamily="34" charset="-120"/>
              </a:rPr>
              <a:t>Label by label: which colour? Check with your partner.</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2800" b="1" dirty="0">
                <a:solidFill>
                  <a:srgbClr val="111111"/>
                </a:solidFill>
                <a:latin typeface="Calibri" pitchFamily="34" charset="0"/>
                <a:ea typeface="Calibri" pitchFamily="34" charset="-122"/>
                <a:cs typeface="Calibri" pitchFamily="34" charset="-120"/>
              </a:rPr>
              <a:t>Use cell theory to explain how Amina’s body made new skin cells to close the cut.</a:t>
            </a:r>
            <a:endParaRPr lang="en-US" sz="28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965960"/>
            <a:ext cx="3566160" cy="3017520"/>
          </a:xfrm>
          <a:prstGeom prst="roundRect">
            <a:avLst>
              <a:gd name="adj" fmla="val 3636"/>
            </a:avLst>
          </a:prstGeom>
          <a:solidFill>
            <a:srgbClr val="FBE4F2"/>
          </a:solidFill>
          <a:ln w="9525">
            <a:solidFill>
              <a:srgbClr val="FBE4F2"/>
            </a:solidFill>
            <a:prstDash val="solid"/>
          </a:ln>
        </p:spPr>
        <p:txBody>
          <a:bodyPr/>
          <a:lstStyle/>
          <a:p>
            <a:endParaRPr lang="en-US"/>
          </a:p>
        </p:txBody>
      </p:sp>
      <p:sp>
        <p:nvSpPr>
          <p:cNvPr id="14" name="Text 9"/>
          <p:cNvSpPr txBox="1"/>
          <p:nvPr/>
        </p:nvSpPr>
        <p:spPr>
          <a:xfrm>
            <a:off x="822960" y="2148840"/>
            <a:ext cx="3017520" cy="457200"/>
          </a:xfrm>
          <a:prstGeom prst="rect">
            <a:avLst/>
          </a:prstGeom>
          <a:noFill/>
          <a:ln/>
        </p:spPr>
        <p:txBody>
          <a:bodyPr wrap="square" lIns="0" tIns="0" rIns="0" bIns="0" rtlCol="0" anchor="ctr"/>
          <a:lstStyle/>
          <a:p>
            <a:pPr marL="0" indent="0">
              <a:buNone/>
            </a:pPr>
            <a:r>
              <a:rPr lang="en-US" sz="2200" b="1" dirty="0">
                <a:solidFill>
                  <a:srgbClr val="CF128C"/>
                </a:solidFill>
                <a:latin typeface="Calibri" pitchFamily="34" charset="0"/>
                <a:ea typeface="Calibri" pitchFamily="34" charset="-122"/>
                <a:cs typeface="Calibri" pitchFamily="34" charset="-120"/>
              </a:rPr>
              <a:t>CLAIM</a:t>
            </a:r>
            <a:endParaRPr lang="en-US" sz="2200" dirty="0"/>
          </a:p>
        </p:txBody>
      </p:sp>
      <p:sp>
        <p:nvSpPr>
          <p:cNvPr id="15" name="Text 10"/>
          <p:cNvSpPr txBox="1"/>
          <p:nvPr/>
        </p:nvSpPr>
        <p:spPr>
          <a:xfrm>
            <a:off x="822960" y="2651760"/>
            <a:ext cx="3017520" cy="822960"/>
          </a:xfrm>
          <a:prstGeom prst="rect">
            <a:avLst/>
          </a:prstGeom>
          <a:noFill/>
          <a:ln/>
        </p:spPr>
        <p:txBody>
          <a:bodyPr wrap="square" lIns="0" tIns="0" rIns="0" bIns="0" rtlCol="0" anchor="t"/>
          <a:lstStyle/>
          <a:p>
            <a:pPr marL="0" indent="0">
              <a:buNone/>
            </a:pPr>
            <a:r>
              <a:rPr lang="en-US" sz="1600" dirty="0">
                <a:solidFill>
                  <a:srgbClr val="111111"/>
                </a:solidFill>
                <a:latin typeface="Calibri" pitchFamily="34" charset="0"/>
                <a:ea typeface="Calibri" pitchFamily="34" charset="-122"/>
                <a:cs typeface="Calibri" pitchFamily="34" charset="-120"/>
              </a:rPr>
              <a:t>Answer the question in one sentence.</a:t>
            </a:r>
            <a:endParaRPr lang="en-US" sz="1600" dirty="0"/>
          </a:p>
        </p:txBody>
      </p:sp>
      <p:sp>
        <p:nvSpPr>
          <p:cNvPr id="16" name="Text 11"/>
          <p:cNvSpPr txBox="1"/>
          <p:nvPr/>
        </p:nvSpPr>
        <p:spPr>
          <a:xfrm>
            <a:off x="822960" y="3566160"/>
            <a:ext cx="3017520" cy="1188720"/>
          </a:xfrm>
          <a:prstGeom prst="rect">
            <a:avLst/>
          </a:prstGeom>
          <a:noFill/>
          <a:ln/>
        </p:spPr>
        <p:txBody>
          <a:bodyPr wrap="square" lIns="0" tIns="0" rIns="0" bIns="0" rtlCol="0" anchor="t"/>
          <a:lstStyle/>
          <a:p>
            <a:pPr marL="0" indent="0">
              <a:buNone/>
            </a:pPr>
            <a:r>
              <a:rPr lang="en-US" sz="1700" i="1" dirty="0">
                <a:solidFill>
                  <a:srgbClr val="5B6172"/>
                </a:solidFill>
                <a:latin typeface="Calibri" pitchFamily="34" charset="0"/>
                <a:ea typeface="Calibri" pitchFamily="34" charset="-122"/>
                <a:cs typeface="Calibri" pitchFamily="34" charset="-120"/>
              </a:rPr>
              <a:t>Amina’s body made new skin cells by…</a:t>
            </a:r>
            <a:endParaRPr lang="en-US" sz="1700" dirty="0"/>
          </a:p>
        </p:txBody>
      </p:sp>
      <p:sp>
        <p:nvSpPr>
          <p:cNvPr id="17" name="Shape 12"/>
          <p:cNvSpPr/>
          <p:nvPr/>
        </p:nvSpPr>
        <p:spPr>
          <a:xfrm>
            <a:off x="4297680" y="1965960"/>
            <a:ext cx="3566160" cy="3017520"/>
          </a:xfrm>
          <a:prstGeom prst="roundRect">
            <a:avLst>
              <a:gd name="adj" fmla="val 3636"/>
            </a:avLst>
          </a:prstGeom>
          <a:solidFill>
            <a:srgbClr val="FBE4F2"/>
          </a:solidFill>
          <a:ln w="9525">
            <a:solidFill>
              <a:srgbClr val="FBE4F2"/>
            </a:solidFill>
            <a:prstDash val="solid"/>
          </a:ln>
        </p:spPr>
        <p:txBody>
          <a:bodyPr/>
          <a:lstStyle/>
          <a:p>
            <a:endParaRPr lang="en-US"/>
          </a:p>
        </p:txBody>
      </p:sp>
      <p:sp>
        <p:nvSpPr>
          <p:cNvPr id="18" name="Text 13"/>
          <p:cNvSpPr txBox="1"/>
          <p:nvPr/>
        </p:nvSpPr>
        <p:spPr>
          <a:xfrm>
            <a:off x="4572000" y="2148840"/>
            <a:ext cx="3017520" cy="457200"/>
          </a:xfrm>
          <a:prstGeom prst="rect">
            <a:avLst/>
          </a:prstGeom>
          <a:noFill/>
          <a:ln/>
        </p:spPr>
        <p:txBody>
          <a:bodyPr wrap="square" lIns="0" tIns="0" rIns="0" bIns="0" rtlCol="0" anchor="ctr"/>
          <a:lstStyle/>
          <a:p>
            <a:pPr marL="0" indent="0">
              <a:buNone/>
            </a:pPr>
            <a:r>
              <a:rPr lang="en-US" sz="2200" b="1" dirty="0">
                <a:solidFill>
                  <a:srgbClr val="CF128C"/>
                </a:solidFill>
                <a:latin typeface="Calibri" pitchFamily="34" charset="0"/>
                <a:ea typeface="Calibri" pitchFamily="34" charset="-122"/>
                <a:cs typeface="Calibri" pitchFamily="34" charset="-120"/>
              </a:rPr>
              <a:t>EVIDENCE</a:t>
            </a:r>
            <a:endParaRPr lang="en-US" sz="2200" dirty="0"/>
          </a:p>
        </p:txBody>
      </p:sp>
      <p:sp>
        <p:nvSpPr>
          <p:cNvPr id="19" name="Text 14"/>
          <p:cNvSpPr txBox="1"/>
          <p:nvPr/>
        </p:nvSpPr>
        <p:spPr>
          <a:xfrm>
            <a:off x="4572000" y="2651760"/>
            <a:ext cx="3017520" cy="822960"/>
          </a:xfrm>
          <a:prstGeom prst="rect">
            <a:avLst/>
          </a:prstGeom>
          <a:noFill/>
          <a:ln/>
        </p:spPr>
        <p:txBody>
          <a:bodyPr wrap="square" lIns="0" tIns="0" rIns="0" bIns="0" rtlCol="0" anchor="t"/>
          <a:lstStyle/>
          <a:p>
            <a:pPr marL="0" indent="0">
              <a:buNone/>
            </a:pPr>
            <a:r>
              <a:rPr lang="en-US" sz="1600" dirty="0">
                <a:solidFill>
                  <a:srgbClr val="111111"/>
                </a:solidFill>
                <a:latin typeface="Calibri" pitchFamily="34" charset="0"/>
                <a:ea typeface="Calibri" pitchFamily="34" charset="-122"/>
                <a:cs typeface="Calibri" pitchFamily="34" charset="-120"/>
              </a:rPr>
              <a:t>Name a scientist or an idea of cell theory.</a:t>
            </a:r>
            <a:endParaRPr lang="en-US" sz="1600" dirty="0"/>
          </a:p>
        </p:txBody>
      </p:sp>
      <p:sp>
        <p:nvSpPr>
          <p:cNvPr id="20" name="Text 15"/>
          <p:cNvSpPr txBox="1"/>
          <p:nvPr/>
        </p:nvSpPr>
        <p:spPr>
          <a:xfrm>
            <a:off x="4572000" y="3566160"/>
            <a:ext cx="3017520" cy="1188720"/>
          </a:xfrm>
          <a:prstGeom prst="rect">
            <a:avLst/>
          </a:prstGeom>
          <a:noFill/>
          <a:ln/>
        </p:spPr>
        <p:txBody>
          <a:bodyPr wrap="square" lIns="0" tIns="0" rIns="0" bIns="0" rtlCol="0" anchor="t"/>
          <a:lstStyle/>
          <a:p>
            <a:pPr marL="0" indent="0">
              <a:buNone/>
            </a:pPr>
            <a:r>
              <a:rPr lang="en-US" sz="1700" i="1" dirty="0">
                <a:solidFill>
                  <a:srgbClr val="5B6172"/>
                </a:solidFill>
                <a:latin typeface="Calibri" pitchFamily="34" charset="0"/>
                <a:ea typeface="Calibri" pitchFamily="34" charset="-122"/>
                <a:cs typeface="Calibri" pitchFamily="34" charset="-120"/>
              </a:rPr>
              <a:t>Virchow found that…</a:t>
            </a:r>
            <a:endParaRPr lang="en-US" sz="1700" dirty="0"/>
          </a:p>
        </p:txBody>
      </p:sp>
      <p:sp>
        <p:nvSpPr>
          <p:cNvPr id="21" name="Shape 16"/>
          <p:cNvSpPr/>
          <p:nvPr/>
        </p:nvSpPr>
        <p:spPr>
          <a:xfrm>
            <a:off x="8046720" y="1965960"/>
            <a:ext cx="3566160" cy="3017520"/>
          </a:xfrm>
          <a:prstGeom prst="roundRect">
            <a:avLst>
              <a:gd name="adj" fmla="val 3636"/>
            </a:avLst>
          </a:prstGeom>
          <a:solidFill>
            <a:srgbClr val="FBE4F2"/>
          </a:solidFill>
          <a:ln w="9525">
            <a:solidFill>
              <a:srgbClr val="FBE4F2"/>
            </a:solidFill>
            <a:prstDash val="solid"/>
          </a:ln>
        </p:spPr>
        <p:txBody>
          <a:bodyPr/>
          <a:lstStyle/>
          <a:p>
            <a:endParaRPr lang="en-US"/>
          </a:p>
        </p:txBody>
      </p:sp>
      <p:sp>
        <p:nvSpPr>
          <p:cNvPr id="22" name="Text 17"/>
          <p:cNvSpPr txBox="1"/>
          <p:nvPr/>
        </p:nvSpPr>
        <p:spPr>
          <a:xfrm>
            <a:off x="8321040" y="2148840"/>
            <a:ext cx="3017520" cy="457200"/>
          </a:xfrm>
          <a:prstGeom prst="rect">
            <a:avLst/>
          </a:prstGeom>
          <a:noFill/>
          <a:ln/>
        </p:spPr>
        <p:txBody>
          <a:bodyPr wrap="square" lIns="0" tIns="0" rIns="0" bIns="0" rtlCol="0" anchor="ctr"/>
          <a:lstStyle/>
          <a:p>
            <a:pPr marL="0" indent="0">
              <a:buNone/>
            </a:pPr>
            <a:r>
              <a:rPr lang="en-US" sz="2200" b="1" dirty="0">
                <a:solidFill>
                  <a:srgbClr val="CF128C"/>
                </a:solidFill>
                <a:latin typeface="Calibri" pitchFamily="34" charset="0"/>
                <a:ea typeface="Calibri" pitchFamily="34" charset="-122"/>
                <a:cs typeface="Calibri" pitchFamily="34" charset="-120"/>
              </a:rPr>
              <a:t>REASONING</a:t>
            </a:r>
            <a:endParaRPr lang="en-US" sz="2200" dirty="0"/>
          </a:p>
        </p:txBody>
      </p:sp>
      <p:sp>
        <p:nvSpPr>
          <p:cNvPr id="23" name="Text 18"/>
          <p:cNvSpPr txBox="1"/>
          <p:nvPr/>
        </p:nvSpPr>
        <p:spPr>
          <a:xfrm>
            <a:off x="8321040" y="2651760"/>
            <a:ext cx="3017520" cy="822960"/>
          </a:xfrm>
          <a:prstGeom prst="rect">
            <a:avLst/>
          </a:prstGeom>
          <a:noFill/>
          <a:ln/>
        </p:spPr>
        <p:txBody>
          <a:bodyPr wrap="square" lIns="0" tIns="0" rIns="0" bIns="0" rtlCol="0" anchor="t"/>
          <a:lstStyle/>
          <a:p>
            <a:pPr marL="0" indent="0">
              <a:buNone/>
            </a:pPr>
            <a:r>
              <a:rPr lang="en-US" sz="1600" dirty="0">
                <a:solidFill>
                  <a:srgbClr val="111111"/>
                </a:solidFill>
                <a:latin typeface="Calibri" pitchFamily="34" charset="0"/>
                <a:ea typeface="Calibri" pitchFamily="34" charset="-122"/>
                <a:cs typeface="Calibri" pitchFamily="34" charset="-120"/>
              </a:rPr>
              <a:t>Connect the evidence to the claim.</a:t>
            </a:r>
            <a:endParaRPr lang="en-US" sz="1600" dirty="0"/>
          </a:p>
        </p:txBody>
      </p:sp>
      <p:sp>
        <p:nvSpPr>
          <p:cNvPr id="24" name="Text 19"/>
          <p:cNvSpPr txBox="1"/>
          <p:nvPr/>
        </p:nvSpPr>
        <p:spPr>
          <a:xfrm>
            <a:off x="8321040" y="3566160"/>
            <a:ext cx="3017520" cy="1188720"/>
          </a:xfrm>
          <a:prstGeom prst="rect">
            <a:avLst/>
          </a:prstGeom>
          <a:noFill/>
          <a:ln/>
        </p:spPr>
        <p:txBody>
          <a:bodyPr wrap="square" lIns="0" tIns="0" rIns="0" bIns="0" rtlCol="0" anchor="t"/>
          <a:lstStyle/>
          <a:p>
            <a:pPr marL="0" indent="0">
              <a:buNone/>
            </a:pPr>
            <a:r>
              <a:rPr lang="en-US" sz="1700" i="1" dirty="0">
                <a:solidFill>
                  <a:srgbClr val="5B6172"/>
                </a:solidFill>
                <a:latin typeface="Calibri" pitchFamily="34" charset="0"/>
                <a:ea typeface="Calibri" pitchFamily="34" charset="-122"/>
                <a:cs typeface="Calibri" pitchFamily="34" charset="-120"/>
              </a:rPr>
              <a:t>This explains the healing because…</a:t>
            </a:r>
            <a:endParaRPr lang="en-US" sz="1700" dirty="0"/>
          </a:p>
        </p:txBody>
      </p:sp>
      <p:sp>
        <p:nvSpPr>
          <p:cNvPr id="25" name="Text 20"/>
          <p:cNvSpPr txBox="1"/>
          <p:nvPr/>
        </p:nvSpPr>
        <p:spPr>
          <a:xfrm>
            <a:off x="548640" y="5166360"/>
            <a:ext cx="8686800" cy="411480"/>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Write 4 sentences in your notebook. Use “because” or “therefore” in your reasoning.</a:t>
            </a:r>
            <a:endParaRPr lang="en-US" sz="1600" dirty="0"/>
          </a:p>
        </p:txBody>
      </p:sp>
      <p:sp>
        <p:nvSpPr>
          <p:cNvPr id="26" name="Shape 21"/>
          <p:cNvSpPr/>
          <p:nvPr/>
        </p:nvSpPr>
        <p:spPr>
          <a:xfrm>
            <a:off x="10040112" y="512064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10222992" y="5276088"/>
            <a:ext cx="237744" cy="237744"/>
          </a:xfrm>
          <a:prstGeom prst="rect">
            <a:avLst/>
          </a:prstGeom>
        </p:spPr>
      </p:pic>
      <p:sp>
        <p:nvSpPr>
          <p:cNvPr id="28" name="Text 22"/>
          <p:cNvSpPr txBox="1"/>
          <p:nvPr/>
        </p:nvSpPr>
        <p:spPr>
          <a:xfrm>
            <a:off x="10543032" y="512064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8:00</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2340864" cy="347472"/>
          </a:xfrm>
          <a:prstGeom prst="roundRect">
            <a:avLst>
              <a:gd name="adj" fmla="val 50000"/>
            </a:avLst>
          </a:prstGeom>
          <a:solidFill>
            <a:srgbClr val="FCBA63"/>
          </a:solidFill>
          <a:ln w="12700">
            <a:solidFill>
              <a:srgbClr val="FCBA63"/>
            </a:solidFill>
            <a:prstDash val="solid"/>
          </a:ln>
        </p:spPr>
        <p:txBody>
          <a:bodyPr/>
          <a:lstStyle/>
          <a:p>
            <a:endParaRPr lang="en-US"/>
          </a:p>
        </p:txBody>
      </p:sp>
      <p:sp>
        <p:nvSpPr>
          <p:cNvPr id="3" name="Text 1"/>
          <p:cNvSpPr txBox="1"/>
          <p:nvPr/>
        </p:nvSpPr>
        <p:spPr>
          <a:xfrm>
            <a:off x="548640" y="411480"/>
            <a:ext cx="2340864"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QUESTION BOARD</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Back to our Driving Question Board</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Text 6"/>
          <p:cNvSpPr txBox="1"/>
          <p:nvPr/>
        </p:nvSpPr>
        <p:spPr>
          <a:xfrm>
            <a:off x="548640" y="1600200"/>
            <a:ext cx="10972800" cy="731520"/>
          </a:xfrm>
          <a:prstGeom prst="rect">
            <a:avLst/>
          </a:prstGeom>
          <a:noFill/>
          <a:ln/>
        </p:spPr>
        <p:txBody>
          <a:bodyPr wrap="square" lIns="0" tIns="0" rIns="0" bIns="0" rtlCol="0" anchor="t"/>
          <a:lstStyle/>
          <a:p>
            <a:pPr marL="0" indent="0">
              <a:buNone/>
            </a:pPr>
            <a:r>
              <a:rPr lang="en-US" sz="1700" i="1" dirty="0">
                <a:solidFill>
                  <a:srgbClr val="5B6172"/>
                </a:solidFill>
                <a:latin typeface="Calibri" pitchFamily="34" charset="0"/>
                <a:ea typeface="Calibri" pitchFamily="34" charset="-122"/>
                <a:cs typeface="Calibri" pitchFamily="34" charset="-120"/>
              </a:rPr>
              <a:t>Why do cells in our body look so different from each other — and how does the shape of a cell determine the job it can do?</a:t>
            </a:r>
            <a:endParaRPr lang="en-US" sz="1700" dirty="0"/>
          </a:p>
        </p:txBody>
      </p:sp>
      <p:sp>
        <p:nvSpPr>
          <p:cNvPr id="11" name="Shape 7"/>
          <p:cNvSpPr/>
          <p:nvPr/>
        </p:nvSpPr>
        <p:spPr>
          <a:xfrm>
            <a:off x="548640" y="2514600"/>
            <a:ext cx="3566160" cy="2286000"/>
          </a:xfrm>
          <a:prstGeom prst="rect">
            <a:avLst/>
          </a:prstGeom>
          <a:solidFill>
            <a:srgbClr val="FCBA63"/>
          </a:solidFill>
          <a:ln w="12700">
            <a:solidFill>
              <a:srgbClr val="FCBA63"/>
            </a:solidFill>
            <a:prstDash val="solid"/>
          </a:ln>
          <a:effectLst>
            <a:outerShdw blurRad="63500" dist="38100" dir="5400000" algn="bl" rotWithShape="0">
              <a:srgbClr val="000000">
                <a:alpha val="15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822960" y="2743200"/>
            <a:ext cx="411480" cy="411480"/>
          </a:xfrm>
          <a:prstGeom prst="rect">
            <a:avLst/>
          </a:prstGeom>
        </p:spPr>
      </p:pic>
      <p:sp>
        <p:nvSpPr>
          <p:cNvPr id="13" name="Text 8"/>
          <p:cNvSpPr txBox="1"/>
          <p:nvPr/>
        </p:nvSpPr>
        <p:spPr>
          <a:xfrm>
            <a:off x="822960" y="3291840"/>
            <a:ext cx="3017520" cy="1371600"/>
          </a:xfrm>
          <a:prstGeom prst="rect">
            <a:avLst/>
          </a:prstGeom>
          <a:noFill/>
          <a:ln/>
        </p:spPr>
        <p:txBody>
          <a:bodyPr wrap="square" lIns="0" tIns="0" rIns="0" bIns="0" rtlCol="0" anchor="t"/>
          <a:lstStyle/>
          <a:p>
            <a:pPr marL="0" indent="0">
              <a:buNone/>
            </a:pPr>
            <a:r>
              <a:rPr lang="en-US" sz="1800" b="1" dirty="0">
                <a:solidFill>
                  <a:srgbClr val="111111"/>
                </a:solidFill>
                <a:latin typeface="Calibri" pitchFamily="34" charset="0"/>
                <a:ea typeface="Calibri" pitchFamily="34" charset="-122"/>
                <a:cs typeface="Calibri" pitchFamily="34" charset="-120"/>
              </a:rPr>
              <a:t>1. Put a star on any Lesson 1 question that today’s lesson has started to answer.</a:t>
            </a:r>
            <a:endParaRPr lang="en-US" sz="1800" dirty="0"/>
          </a:p>
        </p:txBody>
      </p:sp>
      <p:sp>
        <p:nvSpPr>
          <p:cNvPr id="14" name="Shape 9"/>
          <p:cNvSpPr/>
          <p:nvPr/>
        </p:nvSpPr>
        <p:spPr>
          <a:xfrm>
            <a:off x="4297680" y="2514600"/>
            <a:ext cx="3566160" cy="2286000"/>
          </a:xfrm>
          <a:prstGeom prst="rect">
            <a:avLst/>
          </a:prstGeom>
          <a:solidFill>
            <a:srgbClr val="FFE873"/>
          </a:solidFill>
          <a:ln w="12700">
            <a:solidFill>
              <a:srgbClr val="FFE873"/>
            </a:solidFill>
            <a:prstDash val="solid"/>
          </a:ln>
          <a:effectLst>
            <a:outerShdw blurRad="63500" dist="38100" dir="5400000" algn="bl" rotWithShape="0">
              <a:srgbClr val="000000">
                <a:alpha val="15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4572000" y="2743200"/>
            <a:ext cx="411480" cy="411480"/>
          </a:xfrm>
          <a:prstGeom prst="rect">
            <a:avLst/>
          </a:prstGeom>
        </p:spPr>
      </p:pic>
      <p:sp>
        <p:nvSpPr>
          <p:cNvPr id="16" name="Text 10"/>
          <p:cNvSpPr txBox="1"/>
          <p:nvPr/>
        </p:nvSpPr>
        <p:spPr>
          <a:xfrm>
            <a:off x="4572000" y="3291840"/>
            <a:ext cx="3017520" cy="1371600"/>
          </a:xfrm>
          <a:prstGeom prst="rect">
            <a:avLst/>
          </a:prstGeom>
          <a:noFill/>
          <a:ln/>
        </p:spPr>
        <p:txBody>
          <a:bodyPr wrap="square" lIns="0" tIns="0" rIns="0" bIns="0" rtlCol="0" anchor="t"/>
          <a:lstStyle/>
          <a:p>
            <a:pPr marL="0" indent="0">
              <a:buNone/>
            </a:pPr>
            <a:r>
              <a:rPr lang="en-US" sz="1800" b="1" dirty="0">
                <a:solidFill>
                  <a:srgbClr val="111111"/>
                </a:solidFill>
                <a:latin typeface="Calibri" pitchFamily="34" charset="0"/>
                <a:ea typeface="Calibri" pitchFamily="34" charset="-122"/>
                <a:cs typeface="Calibri" pitchFamily="34" charset="-120"/>
              </a:rPr>
              <a:t>2. Yellow note: a NEW question today raised for you.</a:t>
            </a:r>
            <a:endParaRPr lang="en-US" sz="1800" dirty="0"/>
          </a:p>
        </p:txBody>
      </p:sp>
      <p:sp>
        <p:nvSpPr>
          <p:cNvPr id="17" name="Shape 11"/>
          <p:cNvSpPr/>
          <p:nvPr/>
        </p:nvSpPr>
        <p:spPr>
          <a:xfrm>
            <a:off x="8046720" y="2514600"/>
            <a:ext cx="3566160" cy="2286000"/>
          </a:xfrm>
          <a:prstGeom prst="rect">
            <a:avLst/>
          </a:prstGeom>
          <a:solidFill>
            <a:srgbClr val="B5E3A1"/>
          </a:solidFill>
          <a:ln w="12700">
            <a:solidFill>
              <a:srgbClr val="B5E3A1"/>
            </a:solidFill>
            <a:prstDash val="solid"/>
          </a:ln>
          <a:effectLst>
            <a:outerShdw blurRad="63500" dist="38100" dir="5400000" algn="bl" rotWithShape="0">
              <a:srgbClr val="000000">
                <a:alpha val="15000"/>
              </a:srgbClr>
            </a:outerShdw>
          </a:effectLst>
        </p:spPr>
        <p:txBody>
          <a:bodyPr/>
          <a:lstStyle/>
          <a:p>
            <a:endParaRPr lang="en-US"/>
          </a:p>
        </p:txBody>
      </p:sp>
      <p:pic>
        <p:nvPicPr>
          <p:cNvPr id="18" name="Image 4" descr="preencoded.png"/>
          <p:cNvPicPr>
            <a:picLocks noChangeAspect="1"/>
          </p:cNvPicPr>
          <p:nvPr/>
        </p:nvPicPr>
        <p:blipFill>
          <a:blip r:embed="rId7"/>
          <a:stretch>
            <a:fillRect/>
          </a:stretch>
        </p:blipFill>
        <p:spPr>
          <a:xfrm>
            <a:off x="8321040" y="2743200"/>
            <a:ext cx="411480" cy="411480"/>
          </a:xfrm>
          <a:prstGeom prst="rect">
            <a:avLst/>
          </a:prstGeom>
        </p:spPr>
      </p:pic>
      <p:sp>
        <p:nvSpPr>
          <p:cNvPr id="19" name="Text 12"/>
          <p:cNvSpPr txBox="1"/>
          <p:nvPr/>
        </p:nvSpPr>
        <p:spPr>
          <a:xfrm>
            <a:off x="8321040" y="3291840"/>
            <a:ext cx="3017520" cy="1371600"/>
          </a:xfrm>
          <a:prstGeom prst="rect">
            <a:avLst/>
          </a:prstGeom>
          <a:noFill/>
          <a:ln/>
        </p:spPr>
        <p:txBody>
          <a:bodyPr wrap="square" lIns="0" tIns="0" rIns="0" bIns="0" rtlCol="0" anchor="t"/>
          <a:lstStyle/>
          <a:p>
            <a:pPr marL="0" indent="0">
              <a:buNone/>
            </a:pPr>
            <a:r>
              <a:rPr lang="en-US" sz="1800" b="1" dirty="0">
                <a:solidFill>
                  <a:srgbClr val="111111"/>
                </a:solidFill>
                <a:latin typeface="Calibri" pitchFamily="34" charset="0"/>
                <a:ea typeface="Calibri" pitchFamily="34" charset="-122"/>
                <a:cs typeface="Calibri" pitchFamily="34" charset="-120"/>
              </a:rPr>
              <a:t>3. Green note: something you now understand better.</a:t>
            </a:r>
            <a:endParaRPr lang="en-US" sz="1800" dirty="0"/>
          </a:p>
        </p:txBody>
      </p:sp>
      <p:sp>
        <p:nvSpPr>
          <p:cNvPr id="20" name="Shape 13"/>
          <p:cNvSpPr/>
          <p:nvPr/>
        </p:nvSpPr>
        <p:spPr>
          <a:xfrm>
            <a:off x="548640" y="507492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21" name="Image 5" descr="preencoded.png"/>
          <p:cNvPicPr>
            <a:picLocks noChangeAspect="1"/>
          </p:cNvPicPr>
          <p:nvPr/>
        </p:nvPicPr>
        <p:blipFill>
          <a:blip r:embed="rId8"/>
          <a:stretch>
            <a:fillRect/>
          </a:stretch>
        </p:blipFill>
        <p:spPr>
          <a:xfrm>
            <a:off x="731520" y="5230368"/>
            <a:ext cx="237744" cy="237744"/>
          </a:xfrm>
          <a:prstGeom prst="rect">
            <a:avLst/>
          </a:prstGeom>
        </p:spPr>
      </p:pic>
      <p:sp>
        <p:nvSpPr>
          <p:cNvPr id="22" name="Text 14"/>
          <p:cNvSpPr txBox="1"/>
          <p:nvPr/>
        </p:nvSpPr>
        <p:spPr>
          <a:xfrm>
            <a:off x="1051560" y="507492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4:00</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2340864" cy="347472"/>
          </a:xfrm>
          <a:prstGeom prst="roundRect">
            <a:avLst>
              <a:gd name="adj" fmla="val 50000"/>
            </a:avLst>
          </a:prstGeom>
          <a:solidFill>
            <a:srgbClr val="E44145"/>
          </a:solidFill>
          <a:ln w="12700">
            <a:solidFill>
              <a:srgbClr val="E44145"/>
            </a:solidFill>
            <a:prstDash val="solid"/>
          </a:ln>
        </p:spPr>
        <p:txBody>
          <a:bodyPr/>
          <a:lstStyle/>
          <a:p>
            <a:endParaRPr lang="en-US"/>
          </a:p>
        </p:txBody>
      </p:sp>
      <p:sp>
        <p:nvSpPr>
          <p:cNvPr id="3" name="Text 1"/>
          <p:cNvSpPr txBox="1"/>
          <p:nvPr/>
        </p:nvSpPr>
        <p:spPr>
          <a:xfrm>
            <a:off x="548640" y="411480"/>
            <a:ext cx="234086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MODEL BUILDING</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Version 1 of your cell model</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Text 8"/>
          <p:cNvSpPr txBox="1"/>
          <p:nvPr/>
        </p:nvSpPr>
        <p:spPr>
          <a:xfrm>
            <a:off x="548640" y="1554480"/>
            <a:ext cx="10972800" cy="457200"/>
          </a:xfrm>
          <a:prstGeom prst="rect">
            <a:avLst/>
          </a:prstGeom>
          <a:noFill/>
          <a:ln/>
        </p:spPr>
        <p:txBody>
          <a:bodyPr wrap="square" lIns="0" tIns="0" rIns="0" bIns="0" rtlCol="0" anchor="ctr"/>
          <a:lstStyle/>
          <a:p>
            <a:pPr marL="0" indent="0">
              <a:buNone/>
            </a:pPr>
            <a:r>
              <a:rPr lang="en-US" sz="1800" dirty="0">
                <a:solidFill>
                  <a:srgbClr val="111111"/>
                </a:solidFill>
                <a:latin typeface="Calibri" pitchFamily="34" charset="0"/>
                <a:ea typeface="Calibri" pitchFamily="34" charset="-122"/>
                <a:cs typeface="Calibri" pitchFamily="34" charset="-120"/>
              </a:rPr>
              <a:t>Draw a eukaryotic cell — plant OR animal — on a full page. Head it: VERSION 1 — today’s date.</a:t>
            </a:r>
            <a:endParaRPr lang="en-US" sz="1800" dirty="0"/>
          </a:p>
        </p:txBody>
      </p:sp>
      <p:sp>
        <p:nvSpPr>
          <p:cNvPr id="14" name="Shape 9"/>
          <p:cNvSpPr/>
          <p:nvPr/>
        </p:nvSpPr>
        <p:spPr>
          <a:xfrm>
            <a:off x="548640" y="2194560"/>
            <a:ext cx="3931920" cy="3291840"/>
          </a:xfrm>
          <a:prstGeom prst="roundRect">
            <a:avLst>
              <a:gd name="adj" fmla="val 3333"/>
            </a:avLst>
          </a:prstGeom>
          <a:solidFill>
            <a:srgbClr val="FCE6E6"/>
          </a:solidFill>
          <a:ln w="9525">
            <a:solidFill>
              <a:srgbClr val="FCE6E6"/>
            </a:solidFill>
            <a:prstDash val="solid"/>
          </a:ln>
        </p:spPr>
        <p:txBody>
          <a:bodyPr/>
          <a:lstStyle/>
          <a:p>
            <a:endParaRPr lang="en-US"/>
          </a:p>
        </p:txBody>
      </p:sp>
      <p:sp>
        <p:nvSpPr>
          <p:cNvPr id="15" name="Text 10"/>
          <p:cNvSpPr txBox="1"/>
          <p:nvPr/>
        </p:nvSpPr>
        <p:spPr>
          <a:xfrm>
            <a:off x="777240" y="2377440"/>
            <a:ext cx="3566160" cy="3017520"/>
          </a:xfrm>
          <a:prstGeom prst="rect">
            <a:avLst/>
          </a:prstGeom>
          <a:noFill/>
          <a:ln/>
        </p:spPr>
        <p:txBody>
          <a:bodyPr wrap="square" lIns="0" tIns="0" rIns="0" bIns="0" rtlCol="0" anchor="t"/>
          <a:lstStyle/>
          <a:p>
            <a:pPr marL="0" indent="0">
              <a:buNone/>
            </a:pPr>
            <a:r>
              <a:rPr lang="en-US" sz="1800" b="1" dirty="0">
                <a:solidFill>
                  <a:srgbClr val="C4262A"/>
                </a:solidFill>
                <a:latin typeface="Calibri" pitchFamily="34" charset="0"/>
                <a:ea typeface="Calibri" pitchFamily="34" charset="-122"/>
                <a:cs typeface="Calibri" pitchFamily="34" charset="-120"/>
              </a:rPr>
              <a:t>1. Label these</a:t>
            </a:r>
            <a:endParaRPr lang="en-US" sz="1500" dirty="0"/>
          </a:p>
          <a:p>
            <a:pPr marL="342900" indent="-342900">
              <a:buSzPct val="100000"/>
              <a:buChar char="•"/>
            </a:pPr>
            <a:r>
              <a:rPr lang="en-US" sz="1500" dirty="0">
                <a:solidFill>
                  <a:srgbClr val="111111"/>
                </a:solidFill>
                <a:latin typeface="Calibri" pitchFamily="34" charset="0"/>
                <a:ea typeface="Calibri" pitchFamily="34" charset="-122"/>
                <a:cs typeface="Calibri" pitchFamily="34" charset="-120"/>
              </a:rPr>
              <a:t>cell membrane</a:t>
            </a:r>
            <a:endParaRPr lang="en-US" sz="1500" dirty="0"/>
          </a:p>
          <a:p>
            <a:pPr marL="342900" indent="-342900">
              <a:buSzPct val="100000"/>
              <a:buChar char="•"/>
            </a:pPr>
            <a:r>
              <a:rPr lang="en-US" sz="1500" dirty="0">
                <a:solidFill>
                  <a:srgbClr val="111111"/>
                </a:solidFill>
                <a:latin typeface="Calibri" pitchFamily="34" charset="0"/>
                <a:ea typeface="Calibri" pitchFamily="34" charset="-122"/>
                <a:cs typeface="Calibri" pitchFamily="34" charset="-120"/>
              </a:rPr>
              <a:t>cell wall (plant only)</a:t>
            </a:r>
            <a:endParaRPr lang="en-US" sz="1500" dirty="0"/>
          </a:p>
          <a:p>
            <a:pPr marL="342900" indent="-342900">
              <a:buSzPct val="100000"/>
              <a:buChar char="•"/>
            </a:pPr>
            <a:r>
              <a:rPr lang="en-US" sz="1500" dirty="0">
                <a:solidFill>
                  <a:srgbClr val="111111"/>
                </a:solidFill>
                <a:latin typeface="Calibri" pitchFamily="34" charset="0"/>
                <a:ea typeface="Calibri" pitchFamily="34" charset="-122"/>
                <a:cs typeface="Calibri" pitchFamily="34" charset="-120"/>
              </a:rPr>
              <a:t>nucleus</a:t>
            </a:r>
            <a:endParaRPr lang="en-US" sz="1500" dirty="0"/>
          </a:p>
          <a:p>
            <a:pPr marL="342900" indent="-342900">
              <a:buSzPct val="100000"/>
              <a:buChar char="•"/>
            </a:pPr>
            <a:r>
              <a:rPr lang="en-US" sz="1500" dirty="0">
                <a:solidFill>
                  <a:srgbClr val="111111"/>
                </a:solidFill>
                <a:latin typeface="Calibri" pitchFamily="34" charset="0"/>
                <a:ea typeface="Calibri" pitchFamily="34" charset="-122"/>
                <a:cs typeface="Calibri" pitchFamily="34" charset="-120"/>
              </a:rPr>
              <a:t>cytoplasm</a:t>
            </a:r>
            <a:endParaRPr lang="en-US" sz="1500" dirty="0"/>
          </a:p>
          <a:p>
            <a:pPr marL="342900" indent="-342900">
              <a:buSzPct val="100000"/>
              <a:buChar char="•"/>
            </a:pPr>
            <a:r>
              <a:rPr lang="en-US" sz="1500" dirty="0">
                <a:solidFill>
                  <a:srgbClr val="111111"/>
                </a:solidFill>
                <a:latin typeface="Calibri" pitchFamily="34" charset="0"/>
                <a:ea typeface="Calibri" pitchFamily="34" charset="-122"/>
                <a:cs typeface="Calibri" pitchFamily="34" charset="-120"/>
              </a:rPr>
              <a:t>mitochondria</a:t>
            </a:r>
            <a:endParaRPr lang="en-US" sz="1500" dirty="0"/>
          </a:p>
          <a:p>
            <a:pPr marL="342900" indent="-342900">
              <a:buSzPct val="100000"/>
              <a:buChar char="•"/>
            </a:pPr>
            <a:r>
              <a:rPr lang="en-US" sz="1500" dirty="0">
                <a:solidFill>
                  <a:srgbClr val="111111"/>
                </a:solidFill>
                <a:latin typeface="Calibri" pitchFamily="34" charset="0"/>
                <a:ea typeface="Calibri" pitchFamily="34" charset="-122"/>
                <a:cs typeface="Calibri" pitchFamily="34" charset="-120"/>
              </a:rPr>
              <a:t>ribosomes</a:t>
            </a:r>
            <a:endParaRPr lang="en-US" sz="1500" dirty="0"/>
          </a:p>
          <a:p>
            <a:pPr marL="342900" indent="-342900">
              <a:buSzPct val="100000"/>
              <a:buChar char="•"/>
            </a:pPr>
            <a:r>
              <a:rPr lang="en-US" sz="1500" dirty="0">
                <a:solidFill>
                  <a:srgbClr val="111111"/>
                </a:solidFill>
                <a:latin typeface="Calibri" pitchFamily="34" charset="0"/>
                <a:ea typeface="Calibri" pitchFamily="34" charset="-122"/>
                <a:cs typeface="Calibri" pitchFamily="34" charset="-120"/>
              </a:rPr>
              <a:t>vacuole (plant only)</a:t>
            </a:r>
            <a:endParaRPr lang="en-US" sz="1500" dirty="0"/>
          </a:p>
          <a:p>
            <a:pPr marL="342900" indent="-342900">
              <a:buSzPct val="100000"/>
              <a:buChar char="•"/>
            </a:pPr>
            <a:r>
              <a:rPr lang="en-US" sz="1500" dirty="0">
                <a:solidFill>
                  <a:srgbClr val="111111"/>
                </a:solidFill>
                <a:latin typeface="Calibri" pitchFamily="34" charset="0"/>
                <a:ea typeface="Calibri" pitchFamily="34" charset="-122"/>
                <a:cs typeface="Calibri" pitchFamily="34" charset="-120"/>
              </a:rPr>
              <a:t>endoplasmic reticulum</a:t>
            </a:r>
            <a:endParaRPr lang="en-US" sz="1500" dirty="0"/>
          </a:p>
        </p:txBody>
      </p:sp>
      <p:sp>
        <p:nvSpPr>
          <p:cNvPr id="16" name="Shape 11"/>
          <p:cNvSpPr/>
          <p:nvPr/>
        </p:nvSpPr>
        <p:spPr>
          <a:xfrm>
            <a:off x="4663440" y="2194560"/>
            <a:ext cx="3474720" cy="3291840"/>
          </a:xfrm>
          <a:prstGeom prst="roundRect">
            <a:avLst>
              <a:gd name="adj" fmla="val 3333"/>
            </a:avLst>
          </a:prstGeom>
          <a:solidFill>
            <a:srgbClr val="FCE6E6"/>
          </a:solidFill>
          <a:ln w="9525">
            <a:solidFill>
              <a:srgbClr val="FCE6E6"/>
            </a:solidFill>
            <a:prstDash val="solid"/>
          </a:ln>
        </p:spPr>
        <p:txBody>
          <a:bodyPr/>
          <a:lstStyle/>
          <a:p>
            <a:endParaRPr lang="en-US"/>
          </a:p>
        </p:txBody>
      </p:sp>
      <p:sp>
        <p:nvSpPr>
          <p:cNvPr id="17" name="Text 12"/>
          <p:cNvSpPr txBox="1"/>
          <p:nvPr/>
        </p:nvSpPr>
        <p:spPr>
          <a:xfrm>
            <a:off x="4892040" y="2377440"/>
            <a:ext cx="3108960" cy="3017520"/>
          </a:xfrm>
          <a:prstGeom prst="rect">
            <a:avLst/>
          </a:prstGeom>
          <a:noFill/>
          <a:ln/>
        </p:spPr>
        <p:txBody>
          <a:bodyPr wrap="square" lIns="0" tIns="0" rIns="0" bIns="0" rtlCol="0" anchor="t"/>
          <a:lstStyle/>
          <a:p>
            <a:pPr marL="0" indent="0">
              <a:buNone/>
            </a:pPr>
            <a:r>
              <a:rPr lang="en-US" sz="1800" b="1" dirty="0">
                <a:solidFill>
                  <a:srgbClr val="C4262A"/>
                </a:solidFill>
                <a:latin typeface="Calibri" pitchFamily="34" charset="0"/>
                <a:ea typeface="Calibri" pitchFamily="34" charset="-122"/>
                <a:cs typeface="Calibri" pitchFamily="34" charset="-120"/>
              </a:rPr>
              <a:t>2. Write a key</a:t>
            </a:r>
            <a:endParaRPr lang="en-US" sz="1500" dirty="0"/>
          </a:p>
          <a:p>
            <a:pPr marL="0" indent="0">
              <a:buNone/>
            </a:pPr>
            <a:r>
              <a:rPr lang="en-US" sz="1500" dirty="0">
                <a:solidFill>
                  <a:srgbClr val="111111"/>
                </a:solidFill>
                <a:latin typeface="Calibri" pitchFamily="34" charset="0"/>
                <a:ea typeface="Calibri" pitchFamily="34" charset="-122"/>
                <a:cs typeface="Calibri" pitchFamily="34" charset="-120"/>
              </a:rPr>
              <a:t>One sentence per label: what it looks like AND what it does.</a:t>
            </a:r>
            <a:endParaRPr lang="en-US" sz="1500" dirty="0"/>
          </a:p>
          <a:p>
            <a:pPr marL="0" indent="0">
              <a:buNone/>
            </a:pPr>
            <a:r>
              <a:rPr lang="en-US" sz="800" dirty="0">
                <a:solidFill>
                  <a:srgbClr val="111111"/>
                </a:solidFill>
                <a:latin typeface="Calibri" pitchFamily="34" charset="0"/>
                <a:ea typeface="Calibri" pitchFamily="34" charset="-122"/>
                <a:cs typeface="Calibri" pitchFamily="34" charset="-120"/>
              </a:rPr>
              <a:t> </a:t>
            </a:r>
            <a:endParaRPr lang="en-US" sz="1500" dirty="0"/>
          </a:p>
          <a:p>
            <a:pPr marL="0" indent="0">
              <a:buNone/>
            </a:pPr>
            <a:r>
              <a:rPr lang="en-US" sz="1500" i="1" dirty="0">
                <a:solidFill>
                  <a:srgbClr val="5B6172"/>
                </a:solidFill>
                <a:latin typeface="Calibri" pitchFamily="34" charset="0"/>
                <a:ea typeface="Calibri" pitchFamily="34" charset="-122"/>
                <a:cs typeface="Calibri" pitchFamily="34" charset="-120"/>
              </a:rPr>
              <a:t>Nucleus: oval, contains DNA, controls the cell’s activities.</a:t>
            </a:r>
            <a:endParaRPr lang="en-US" sz="1500" dirty="0"/>
          </a:p>
        </p:txBody>
      </p:sp>
      <p:sp>
        <p:nvSpPr>
          <p:cNvPr id="18" name="Shape 13"/>
          <p:cNvSpPr/>
          <p:nvPr/>
        </p:nvSpPr>
        <p:spPr>
          <a:xfrm>
            <a:off x="8321040" y="2194560"/>
            <a:ext cx="3319272" cy="2377440"/>
          </a:xfrm>
          <a:prstGeom prst="roundRect">
            <a:avLst>
              <a:gd name="adj" fmla="val 4615"/>
            </a:avLst>
          </a:prstGeom>
          <a:solidFill>
            <a:srgbClr val="FCE6E6"/>
          </a:solidFill>
          <a:ln w="9525">
            <a:solidFill>
              <a:srgbClr val="FCE6E6"/>
            </a:solidFill>
            <a:prstDash val="solid"/>
          </a:ln>
        </p:spPr>
        <p:txBody>
          <a:bodyPr/>
          <a:lstStyle/>
          <a:p>
            <a:endParaRPr lang="en-US"/>
          </a:p>
        </p:txBody>
      </p:sp>
      <p:sp>
        <p:nvSpPr>
          <p:cNvPr id="19" name="Text 14"/>
          <p:cNvSpPr txBox="1"/>
          <p:nvPr/>
        </p:nvSpPr>
        <p:spPr>
          <a:xfrm>
            <a:off x="8549640" y="2377440"/>
            <a:ext cx="2926080" cy="2103120"/>
          </a:xfrm>
          <a:prstGeom prst="rect">
            <a:avLst/>
          </a:prstGeom>
          <a:noFill/>
          <a:ln/>
        </p:spPr>
        <p:txBody>
          <a:bodyPr wrap="square" lIns="0" tIns="0" rIns="0" bIns="0" rtlCol="0" anchor="t"/>
          <a:lstStyle/>
          <a:p>
            <a:pPr marL="0" indent="0">
              <a:buNone/>
            </a:pPr>
            <a:r>
              <a:rPr lang="en-US" sz="1800" b="1" dirty="0">
                <a:solidFill>
                  <a:srgbClr val="C4262A"/>
                </a:solidFill>
                <a:latin typeface="Calibri" pitchFamily="34" charset="0"/>
                <a:ea typeface="Calibri" pitchFamily="34" charset="-122"/>
                <a:cs typeface="Calibri" pitchFamily="34" charset="-120"/>
              </a:rPr>
              <a:t>3. Limitations</a:t>
            </a:r>
            <a:endParaRPr lang="en-US" sz="1500" dirty="0"/>
          </a:p>
          <a:p>
            <a:pPr marL="0" indent="0">
              <a:buNone/>
            </a:pPr>
            <a:r>
              <a:rPr lang="en-US" sz="1500" i="1" dirty="0">
                <a:solidFill>
                  <a:srgbClr val="111111"/>
                </a:solidFill>
                <a:latin typeface="Calibri" pitchFamily="34" charset="0"/>
                <a:ea typeface="Calibri" pitchFamily="34" charset="-122"/>
                <a:cs typeface="Calibri" pitchFamily="34" charset="-120"/>
              </a:rPr>
              <a:t>“This model does not yet show…”</a:t>
            </a:r>
            <a:endParaRPr lang="en-US" sz="1500" dirty="0"/>
          </a:p>
          <a:p>
            <a:pPr marL="0" indent="0">
              <a:buNone/>
            </a:pPr>
            <a:r>
              <a:rPr lang="en-US" sz="1500" dirty="0">
                <a:solidFill>
                  <a:srgbClr val="111111"/>
                </a:solidFill>
                <a:latin typeface="Calibri" pitchFamily="34" charset="0"/>
                <a:ea typeface="Calibri" pitchFamily="34" charset="-122"/>
                <a:cs typeface="Calibri" pitchFamily="34" charset="-120"/>
              </a:rPr>
              <a:t>List at least 2 things you do not understand yet.</a:t>
            </a:r>
            <a:endParaRPr lang="en-US" sz="1500" dirty="0"/>
          </a:p>
        </p:txBody>
      </p:sp>
      <p:sp>
        <p:nvSpPr>
          <p:cNvPr id="20" name="Shape 15"/>
          <p:cNvSpPr/>
          <p:nvPr/>
        </p:nvSpPr>
        <p:spPr>
          <a:xfrm>
            <a:off x="8321040" y="484632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503920" y="5001768"/>
            <a:ext cx="237744" cy="237744"/>
          </a:xfrm>
          <a:prstGeom prst="rect">
            <a:avLst/>
          </a:prstGeom>
        </p:spPr>
      </p:pic>
      <p:sp>
        <p:nvSpPr>
          <p:cNvPr id="22" name="Text 16"/>
          <p:cNvSpPr txBox="1"/>
          <p:nvPr/>
        </p:nvSpPr>
        <p:spPr>
          <a:xfrm>
            <a:off x="8823960" y="484632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12:00</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548640" y="411480"/>
            <a:ext cx="2340864" cy="347472"/>
          </a:xfrm>
          <a:prstGeom prst="roundRect">
            <a:avLst>
              <a:gd name="adj" fmla="val 50000"/>
            </a:avLst>
          </a:prstGeom>
          <a:solidFill>
            <a:srgbClr val="FCBA63"/>
          </a:solidFill>
          <a:ln w="12700">
            <a:solidFill>
              <a:srgbClr val="FCBA63"/>
            </a:solidFill>
            <a:prstDash val="solid"/>
          </a:ln>
        </p:spPr>
        <p:txBody>
          <a:bodyPr/>
          <a:lstStyle/>
          <a:p>
            <a:endParaRPr lang="en-US"/>
          </a:p>
        </p:txBody>
      </p:sp>
      <p:sp>
        <p:nvSpPr>
          <p:cNvPr id="3" name="Text 1"/>
          <p:cNvSpPr txBox="1"/>
          <p:nvPr/>
        </p:nvSpPr>
        <p:spPr>
          <a:xfrm>
            <a:off x="548640" y="411480"/>
            <a:ext cx="2340864"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QUESTION BOARD</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Summary Table: Lesson 2</a:t>
            </a:r>
            <a:endParaRPr lang="en-US" sz="3400" dirty="0"/>
          </a:p>
        </p:txBody>
      </p:sp>
      <p:sp>
        <p:nvSpPr>
          <p:cNvPr id="5" name="Text 3"/>
          <p:cNvSpPr txBox="1"/>
          <p:nvPr/>
        </p:nvSpPr>
        <p:spPr>
          <a:xfrm>
            <a:off x="548640" y="1600200"/>
            <a:ext cx="10972800" cy="411480"/>
          </a:xfrm>
          <a:prstGeom prst="rect">
            <a:avLst/>
          </a:prstGeom>
          <a:noFill/>
          <a:ln/>
        </p:spPr>
        <p:txBody>
          <a:bodyPr wrap="square" lIns="0" tIns="0" rIns="0" bIns="0" rtlCol="0" anchor="ctr"/>
          <a:lstStyle/>
          <a:p>
            <a:pPr marL="0" indent="0">
              <a:buNone/>
            </a:pPr>
            <a:r>
              <a:rPr lang="en-US" sz="1700" dirty="0">
                <a:solidFill>
                  <a:srgbClr val="C8CBD2"/>
                </a:solidFill>
                <a:latin typeface="Calibri" pitchFamily="34" charset="0"/>
                <a:ea typeface="Calibri" pitchFamily="34" charset="-122"/>
                <a:cs typeface="Calibri" pitchFamily="34" charset="-120"/>
              </a:rPr>
              <a:t>Fill in the Lesson 2 row of your Summary Table.</a:t>
            </a:r>
            <a:endParaRPr lang="en-US" sz="1700" dirty="0"/>
          </a:p>
        </p:txBody>
      </p:sp>
      <p:sp>
        <p:nvSpPr>
          <p:cNvPr id="6" name="Shape 4"/>
          <p:cNvSpPr/>
          <p:nvPr/>
        </p:nvSpPr>
        <p:spPr>
          <a:xfrm>
            <a:off x="54864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7" name="Shape 5"/>
          <p:cNvSpPr/>
          <p:nvPr/>
        </p:nvSpPr>
        <p:spPr>
          <a:xfrm>
            <a:off x="822960" y="2487168"/>
            <a:ext cx="502920" cy="502920"/>
          </a:xfrm>
          <a:prstGeom prst="ellipse">
            <a:avLst/>
          </a:prstGeom>
          <a:solidFill>
            <a:srgbClr val="47C6E4"/>
          </a:solidFill>
          <a:ln w="12700">
            <a:solidFill>
              <a:srgbClr val="47C6E4"/>
            </a:solidFill>
            <a:prstDash val="solid"/>
          </a:ln>
        </p:spPr>
        <p:txBody>
          <a:bodyPr/>
          <a:lstStyle/>
          <a:p>
            <a:endParaRPr lang="en-US"/>
          </a:p>
        </p:txBody>
      </p:sp>
      <p:sp>
        <p:nvSpPr>
          <p:cNvPr id="8" name="Text 6"/>
          <p:cNvSpPr txBox="1"/>
          <p:nvPr/>
        </p:nvSpPr>
        <p:spPr>
          <a:xfrm>
            <a:off x="822960" y="2487168"/>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82296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What did I observe?</a:t>
            </a:r>
            <a:endParaRPr lang="en-US" sz="2000" dirty="0"/>
          </a:p>
        </p:txBody>
      </p:sp>
      <p:sp>
        <p:nvSpPr>
          <p:cNvPr id="10" name="Text 8"/>
          <p:cNvSpPr txBox="1"/>
          <p:nvPr/>
        </p:nvSpPr>
        <p:spPr>
          <a:xfrm>
            <a:off x="82296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Which diagrams, cards and analogy did we use?</a:t>
            </a:r>
            <a:endParaRPr lang="en-US" sz="1350" dirty="0"/>
          </a:p>
        </p:txBody>
      </p:sp>
      <p:sp>
        <p:nvSpPr>
          <p:cNvPr id="11" name="Shape 9"/>
          <p:cNvSpPr/>
          <p:nvPr/>
        </p:nvSpPr>
        <p:spPr>
          <a:xfrm>
            <a:off x="429768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12" name="Shape 10"/>
          <p:cNvSpPr/>
          <p:nvPr/>
        </p:nvSpPr>
        <p:spPr>
          <a:xfrm>
            <a:off x="4572000" y="2487168"/>
            <a:ext cx="502920" cy="502920"/>
          </a:xfrm>
          <a:prstGeom prst="ellipse">
            <a:avLst/>
          </a:prstGeom>
          <a:solidFill>
            <a:srgbClr val="D7DF23"/>
          </a:solidFill>
          <a:ln w="12700">
            <a:solidFill>
              <a:srgbClr val="D7DF23"/>
            </a:solidFill>
            <a:prstDash val="solid"/>
          </a:ln>
        </p:spPr>
        <p:txBody>
          <a:bodyPr/>
          <a:lstStyle/>
          <a:p>
            <a:endParaRPr lang="en-US"/>
          </a:p>
        </p:txBody>
      </p:sp>
      <p:sp>
        <p:nvSpPr>
          <p:cNvPr id="13" name="Text 11"/>
          <p:cNvSpPr txBox="1"/>
          <p:nvPr/>
        </p:nvSpPr>
        <p:spPr>
          <a:xfrm>
            <a:off x="4572000" y="2487168"/>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457200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What did I learn?</a:t>
            </a:r>
            <a:endParaRPr lang="en-US" sz="2000" dirty="0"/>
          </a:p>
        </p:txBody>
      </p:sp>
      <p:sp>
        <p:nvSpPr>
          <p:cNvPr id="15" name="Text 13"/>
          <p:cNvSpPr txBox="1"/>
          <p:nvPr/>
        </p:nvSpPr>
        <p:spPr>
          <a:xfrm>
            <a:off x="457200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What are the three ideas of cell theory? How are prokaryotes and eukaryotes different?</a:t>
            </a:r>
            <a:endParaRPr lang="en-US" sz="1350" dirty="0"/>
          </a:p>
        </p:txBody>
      </p:sp>
      <p:sp>
        <p:nvSpPr>
          <p:cNvPr id="16" name="Shape 14"/>
          <p:cNvSpPr/>
          <p:nvPr/>
        </p:nvSpPr>
        <p:spPr>
          <a:xfrm>
            <a:off x="804672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17" name="Shape 15"/>
          <p:cNvSpPr/>
          <p:nvPr/>
        </p:nvSpPr>
        <p:spPr>
          <a:xfrm>
            <a:off x="8321040" y="2487168"/>
            <a:ext cx="502920" cy="502920"/>
          </a:xfrm>
          <a:prstGeom prst="ellipse">
            <a:avLst/>
          </a:prstGeom>
          <a:solidFill>
            <a:srgbClr val="CF128C"/>
          </a:solidFill>
          <a:ln w="12700">
            <a:solidFill>
              <a:srgbClr val="CF128C"/>
            </a:solidFill>
            <a:prstDash val="solid"/>
          </a:ln>
        </p:spPr>
        <p:txBody>
          <a:bodyPr/>
          <a:lstStyle/>
          <a:p>
            <a:endParaRPr lang="en-US"/>
          </a:p>
        </p:txBody>
      </p:sp>
      <p:sp>
        <p:nvSpPr>
          <p:cNvPr id="18" name="Text 16"/>
          <p:cNvSpPr txBox="1"/>
          <p:nvPr/>
        </p:nvSpPr>
        <p:spPr>
          <a:xfrm>
            <a:off x="8321040" y="24871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832104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How does this explain the phenomenon?</a:t>
            </a:r>
            <a:endParaRPr lang="en-US" sz="2000" dirty="0"/>
          </a:p>
        </p:txBody>
      </p:sp>
      <p:sp>
        <p:nvSpPr>
          <p:cNvPr id="20" name="Text 18"/>
          <p:cNvSpPr txBox="1"/>
          <p:nvPr/>
        </p:nvSpPr>
        <p:spPr>
          <a:xfrm>
            <a:off x="832104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Where did Amina’s new skin cells come from?</a:t>
            </a:r>
            <a:endParaRPr lang="en-US" sz="1350" dirty="0"/>
          </a:p>
        </p:txBody>
      </p:sp>
      <p:sp>
        <p:nvSpPr>
          <p:cNvPr id="21" name="Text 19"/>
          <p:cNvSpPr txBox="1"/>
          <p:nvPr/>
        </p:nvSpPr>
        <p:spPr>
          <a:xfrm>
            <a:off x="548640" y="5257800"/>
            <a:ext cx="10972800" cy="457200"/>
          </a:xfrm>
          <a:prstGeom prst="rect">
            <a:avLst/>
          </a:prstGeom>
          <a:noFill/>
          <a:ln/>
        </p:spPr>
        <p:txBody>
          <a:bodyPr wrap="square" lIns="0" tIns="0" rIns="0" bIns="0" rtlCol="0" anchor="ctr"/>
          <a:lstStyle/>
          <a:p>
            <a:pPr marL="0" indent="0">
              <a:buNone/>
            </a:pPr>
            <a:r>
              <a:rPr lang="en-US" sz="1800" b="1" dirty="0">
                <a:solidFill>
                  <a:srgbClr val="FCBA63"/>
                </a:solidFill>
                <a:latin typeface="Calibri" pitchFamily="34" charset="0"/>
                <a:ea typeface="Calibri" pitchFamily="34" charset="-122"/>
                <a:cs typeface="Calibri" pitchFamily="34" charset="-120"/>
              </a:rPr>
              <a:t>Next lesson: prokaryotes and eukaryotes — two worlds inside one body.</a:t>
            </a:r>
            <a:endParaRPr lang="en-US" sz="1800" dirty="0"/>
          </a:p>
        </p:txBody>
      </p:sp>
      <p:sp>
        <p:nvSpPr>
          <p:cNvPr id="22" name="Text 20"/>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2</a:t>
            </a:r>
            <a:endParaRPr lang="en-US" sz="900" dirty="0"/>
          </a:p>
        </p:txBody>
      </p:sp>
      <p:sp>
        <p:nvSpPr>
          <p:cNvPr id="23" name="Shape 21"/>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24"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25" name="Shape 22"/>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6338</Words>
  <Application>Microsoft Office PowerPoint</Application>
  <PresentationFormat>Widescreen</PresentationFormat>
  <Paragraphs>358</Paragraphs>
  <Slides>21</Slides>
  <Notes>21</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G10 · Cell Structure · Lesson 2 · What Is a Cell?</dc:title>
  <dc:subject>PptxGenJS Presentation</dc:subject>
  <dc:creator>SeaVuria &amp; ARES Education</dc:creator>
  <cp:lastModifiedBy>Mark Knittel</cp:lastModifiedBy>
  <cp:revision>2</cp:revision>
  <dcterms:created xsi:type="dcterms:W3CDTF">2026-10-10T00:21:06Z</dcterms:created>
  <dcterms:modified xsi:type="dcterms:W3CDTF">2026-10-17T17:53:48Z</dcterms:modified>
</cp:coreProperties>
</file>