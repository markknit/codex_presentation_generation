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233"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8870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 MICROSCOPY PRACTICAL 1: ONION EPIDERMAL CELLS (80 minutes, double lesson)
PURPOSE OF THIS LESSON
For five lessons, students have learned about cells from diagrams. Today they see real cells for the first time. They predict, make their own slides, draw what they see, and discover something surprising: onion skin cells have NO chloroplasts. That surprise is the heart of the lesson. It leads to the idea of cell specialisation.
IMPORTANT: Do not show slide 14 (the labelled onion cells) until AFTER students have drawn their own observations. If they see it first, they will draw the picture instead of what is in their microscope.
BEFORE CLASS (full checklist on hidden slide 3)
• Test every microscope. Clean the lenses. Check the lights or mirrors.
• Make one slide yourself first, so you know what students should see.
• Set out a kit for each group of 3–4 (see slide 3).
• Put the BEFORE — Our Predictions heading on the board.
• Safety: goggles, a container for broken glass, paper towels. If you have no lab coats, old shirts or aprons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HOW TO USE THE NOTES
Every slide has notes written for you, in the same order:
• TIME — how long to spend.
• DO — what to do, step by step.
• SAY — words you can read aloud. Change them to suit your class.
• WAIT TIME — how long to stay silent after a question.
• LOOK FOR — what to listen and look for. This is your formative assessment.
• IF… — what to do when students are stuck or something goes wrong.
• WHY THIS WORKS — the reason behind the strategy, so you can use it in other lessons too.
Tip: In PowerPoint, use Presenter View (Slide Show → Use Presenter View) so you can read these notes while students see only the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RESOURCES FROM THE SCHEME OF WORK
Best matches:
• “Plant Cell Structures” (CK-12 FlexBook) — good revision reading before the lesson or for homework.
• “Plant Cell Structures Practice” (CK-12) — good homework.
Marked “not an exact match” — preview first:
• “Comparing animal and plant cells”, “Overview of animal and plant cells” and “Plant vs animal cells” (Khan Academy). Do NOT show these before the practical: they show chloroplasts in plant cells, which would spoil today’s surprise. They fit better after Lesson 7.
• “Plant cell walls” (Khan Academy) — optional extension after the lesson.
NO MICROSCOPES OR TOO FEW?
Rotate groups through the microscopes while others work on their predictions and the drawing guide. If there are no microscopes at all, search ARES for a video of onion cells under a microscope, and use slide 14 as the observation — but tell students it is a drawing, not a real 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SAY
• “For five lessons we have studied cells from diagrams. Today, for the first time, you will see real cells with your own eyes.”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DO
• Read the goals. Students copy the key 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DO
• Read each rule aloud. Point out where the glass container and paper towels are.
• Ask anyone who reacts badly to iodine to tell you now. They use plain water instead.
SAY
• “Scientists follow safety rules because they want to keep doing science tomorrow. These five rules apply all lesson.”
LOOK FOR (formative check)
• Throughout the practical: are goggles on during staining? Is broken glass reported? Note any group that needs reminders, and address it at the START of Lesson 7.
WHY THIS WORKS
• Stating safety rules before the exciting part — not during it — means students hear them. Linking safety to the cut finger from Lesson 1 makes it memorable.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PHASE (10 minutes total)
TIME: 7 minutes
DO
• Hold up a whole onion.
• 4 minutes of silent individual work. Then 2 minutes of pair talk.
SAY
• “This is the same kind of onion Amina was slicing when the cut happened. Today we are going to look inside ONE layer of its skin — not with our eyes, but with a microscope. Before we do: in your practical books, sketch what you predict you will see. Label every structure you expect.”
WAIT TIME
• The full 4 minutes, in silence.
LOOK FOR (formative check)
• Every student has a sketch with at least 3 named structures.
• Students who cannot name any structures: seat them next to a peer who can, and check on them during the practical.
WHY THIS WORKS
• Students have studied plant cell diagrams (Lesson 4), which show chloroplasts. Many will predict chloroplasts. When the microscope shows none, that surprise is what drives learning. Committing to a prediction in writing makes the surprise stronger.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DO
• Cold-call 4 pairs. Choose on purpose: one strong predictor, one who predicted chloroplasts, one who did not, one who is unsure.
• List every predicted structure under BEFORE — Our Predictions.
• Count the hands for chloroplasts and WRITE THE NUMBER on the board. You will come back to it.
SAY
• “Tell me ONE structure you predicted and WHY.”
• “Hold your predictions. In about 20 minutes, your microscope will tell us who was right.”
LOOK FOR (formative check)
• How many students predict chloroplasts? Expect many — that is fine. It sets up the key moment in the Explain phase.
WHY THIS WORKS
• Choosing students with DIFFERENT predictions puts the disagreement in front of the class. Students now want to see who is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PHASE (35 minutes total: demonstration 10, group practical 25)
TIME: Part A — 10 minutes
DO
• Whole class gathers around the front bench (or stands where they can see).
• Do each step slowly. SAY each step out loud as you do it (script below).
• When your slide is focused, invite 3–4 students to look. Then ask the class what they notice.
SAY
• Step 1: “I am peeling back one layer of the onion. I use my fingernail to lift the thin, almost transparent inner skin — the epidermis.”
• Step 2: “Using forceps, I lay the epidermis flat on the slide. No folds — flat.”
• Step 3: “I add ONE drop of iodine stain. The iodine colours the cells so we can see the nucleus.”
• Step 4: “I lower the coverslip at an angle using a mounted needle — like closing a book slowly — to avoid air bubbles.”
• Step 5: “I place the slide on the stage, clip it, and start at LOW power. Coarse focus wheel first, then fine focus.”
• After focusing: “What do you notice? I want 10 seconds of silence — just look.” Then: “Hands up — what can you see?” Take 3 answers.
WAIT TIME
• 10 seconds of silent looking before anyone speaks.
WHY THIS WORKS
• Saying each step aloud while you do it (a “think-aloud demonstration”) shows students both WHAT to do and WHY. They copy the technique more accurately than from written instructions alone.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Part B — 25 minutes
DO
• Groups of 3–4 make their own slides. EVERY student draws in their own practical book.
• Circulate every 3 minutes. Use the prompts below.
• If a group cannot focus, re-focus at their microscope while they watch.
• At 5 minutes left, give the warning below. Then cold-call 2 groups to describe one structure they can see.
SAY
• Prompts while circulating: “Is your coverslip flat?” “Are you on low power first?” “Can you see a cell wall? Trace it with your eye.”
• 5 minutes left: “Everyone must now have at least ONE complete drawing with labels. Check your practical book now.”
LOOK FOR (formative check)
• Two drawings per student (low and high power) with at least 4 labels.
• Magnification written under each drawing.
• “I cannot see chloroplasts” (or similar) recorded.
• Check at least 6 practical books.
IF…
• A drawing looks like the textbook, not the microscope (e.g. nucleus outside the wall, or chloroplasts drawn): kneel next to the student and say: “Look through the eyepiece again — can you trace the outer boundary of the cell with your eye? That boundary IS the cell wall. Now draw only what you can see.”
• Air bubbles (black-edged circles): they are not cells. Lower a new coverslip more slowly.
• The cell membrane is very hard to see, because it is pressed against the cell wall. Accept “I could not see it” — that is an honest observation.
WHY THIS WORKS
• Drawing forces students to look closely and decide what is really there. Asking them to draw ONLY what they see builds honesty with evidence — a core value of science.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PHASE (15 minutes total)
TIME: 4 minutes
DO
• Students gather back as a class. 2 minutes of silent work with a different colour.
• Then the two shows of hands. Count each one ALOUD. Compare with the number you wrote on the board earlier.
SAY
• “Open your practical book to your prediction sketch. Take a different colour pen or pencil. Circle every prediction that your microscope confirmed. Cross out every prediction that was wrong. You have 2 minutes.”
• After the hands: “This is a significant scientific result. The question is WHY.”
WHY THIS WORKS
• Marking their own predictions shows students that being wrong is a normal part of science — and that evidence, not the teacher, decides who is right.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DO
• Ask the title question. Give 15 seconds of silent thinking — no hands yet.
• Cold-call 3 students for their best explanation.
• Then build the explanation together using the four questions on the slide, one at a time. Let students answer each before you click on.
• Finish with the black box: name the idea — cell specialisation.
SAY
• “I want 15 seconds of thinking time — no hands yet.”
• “Give me your best explanation for why there are no chloroplasts in onion skin cells.”
• “This is CELL SPECIALISATION. The onion epidermal cell is specialised for PROTECTION and STORAGE — not photosynthesis. Just like the cells in Amina’s finger are each specialised for one job: platelets for clotting, fibroblasts for collagen, epidermal cells for closing the wound.”
WAIT TIME
• 15 seconds before taking any answers.
WHY THIS WORKS
• A chain of small questions lets students reason their way to the answer themselves. An idea students build is understood and remembered far better than one they are told. Naming the idea (“specialisation”) AFTER they understand it gives them a word for something they already grasp.
SCIENCE NOTE FOR YOU: Onion bulb layers are swollen leaf bases that store food. The inner layers are inside the bulb and get little or no light, so their cells do not develop chloroplasts. Green onion leaves above ground DO have chloroplasts. If a student asks, this is an excellent extension: same plant, same DNA, different cells.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DO
• Students write three sentences in their practical book, alone.
• Circulate and read 4–5 responses as students write. Do not collect.
LOOK FOR (formative check)
• Each response mentions (a) no chloroplasts, (b) the onion layers get no light, and (c) specialisation or Amina’s finger.
• If a student writes only “onion cells have no chloroplasts because they don’t need them”, prompt: “Why don’t they need them? What does a chloroplast DO? Where does the onion grow?”
WHY THIS WORKS
• This is a short Claim–Evidence–Reasoning task: moving from “I saw X” to “X tells us something about how cells work”. That move is the most important thinking skill in the unit.
ANSWER KEY
• Example: “Under the microscope I saw a cell wall, a nucleus and cytoplasm, but I did not see any chloroplasts. This makes sense because the onion layers grow inside the bulb where light does not reach, so the cells have no use for chloroplasts. This is like the cells in Amina’s finger, which each have only the parts they need for their own job.”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(show ONLY after students have drawn)
DO
• Students compare their own drawing with this one and fix only what they genuinely saw but missed — not what they did not see.
SAY
• “This is a drawing of what most people see. If your microscope showed something different, that is still evidence — write it down.”
This is an illustration, not a photograph. Real onion cells are longer and thinner, and the iodine makes them pale yellow-brown. The large vacuole fills most of each cell, so the cytoplasm is a thin layer you may not see.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QUESTION BOARD (7 minutes)
TIME: 7 minutes
DO
• Each GROUP gets two sticky notes: green for evidence, yellow for a new question. 3 minutes.
• Groups post them on the board under “Evidence We Now Have” and “Questions We Still Need to Answer”.
• Read 3 evidence notes aloud. After each, the class votes with thumbs.
SAY
• “Today you looked at a real cell for the first time. On your evidence note, write one thing you can now say with evidence — not just from the textbook, but from YOUR microscope today.”
• If a group is stuck: “What surprised you most today?” or “What would you need to see next to understand the healing finger better?”
• After the vote: “Look at our board — it is growing. By Lesson 12, we should be able to answer the driving question fully.”
LOOK FOR (formative check)
• Every evidence note should mention something actually SEEN today (e.g. “We saw cell walls in plant cells — the animal cells in the wound don’t have these”).
• If a note only repeats the textbook, hand it back: “Can you re-write this using something you actually saw today?”
WHY THIS WORKS
• Separating evidence from questions shows science as a step-by-step process. The thumbs vote teaches students to judge whether evidence really supports a claim — peer evaluation of evidence.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BUILDING PHASE (8 minutes)
TIME: 8 minutes
DO
• Students open the cell model they have been building since Lesson 2. They use a NEW colour for today’s changes.
• Circulate — check especially that the chloroplast note is correct.
• After 5 minutes, give the 60-second prediction task (right-hand box).
• Cold-call 3 students to read their prediction aloud.
• Collect the practical books of ONE group for detailed written feedback (rotate groups each lesson). Return them before Lesson 7.
SAY
• “Open to your unit model — the diagram you have been building. Today your microscope gave you real evidence. Use a NEW colour to update your model. You have 6 minutes.”
• Close: “Hold that prediction. Lesson 7 — we test it. We now have real evidence from a real cell. Our model is stronger. But we still have questions. That is exactly how science works.”
LOOK FOR (formative check)
• At least one change in the new colour that comes from today’s observation, not copied from a textbook.
• The chloroplast note says WHEN chloroplasts are present (cells that get light) and when they are not.
• The prediction names at least one real difference between plant and animal cells.
WHY THIS WORKS
• One model, revised in a new colour each lesson, lets students SEE their understanding grow. Citing sources (“based on evidence from…”) builds the habit of knowing WHY we believe something, not just WHAT.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at the end, or as homework
ANSWER KEY
• Observe: Onion skin cells stained with iodine: brick-shaped cells in rows, a clear cell wall, a large vacuole, a brown-stained nucleus and a thin layer of cytoplasm. NO chloroplasts.
• Learn: Onion skin cells are plant cells with a cell wall, vacuole and nucleus, but no chloroplasts, because the layers of the bulb get no light. This is cell specialisation: these cells are adapted for protection and storage, not photosynthesis.
• Explain: Cells build only the structures they need for their job. Like the specialised cells healing Amina’s finger (platelets for clotting, fibroblasts for collagen, skin cells for closing the wound), the onion skin cell is specialised for its role. Same DNA does not mean the same structures.
TEACHER REFLECTION (before planning Lesson 7)
1. Did every student produce labelled drawings at both low and high power? If not, was it focusing skill, vocabulary, or time? Adjust Lesson 7.
2. Did the missing chloroplasts create real surprise? If students already knew, open Lesson 7 with a more surprising prediction.
3. How many students linked their observation to Amina’s finger? If fewer than 6 in 10, start Lesson 7 with a 3-minute re-read of the phenomenon.
4. Are the new DQB questions specific (e.g. “Will animal cells have a cell wall?”) or vague? Vague questions may mean the DQB routine needs re-modelling.
5. Safety: were the rules followed without reminders? Address any problems at the START of Lesson 7, before the next practical.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ares.local/REPLACE-WITH-REAL-ARES-LINK"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731520" y="1005840"/>
            <a:ext cx="7589520" cy="365760"/>
          </a:xfrm>
          <a:prstGeom prst="rect">
            <a:avLst/>
          </a:prstGeom>
          <a:noFill/>
          <a:ln/>
        </p:spPr>
        <p:txBody>
          <a:bodyPr wrap="square" lIns="0" tIns="0" rIns="0" bIns="0" rtlCol="0" anchor="ctr"/>
          <a:lstStyle/>
          <a:p>
            <a:pPr marL="0" indent="0">
              <a:buNone/>
            </a:pPr>
            <a:r>
              <a:rPr lang="en-US" sz="1300" b="1" kern="0" spc="150" dirty="0">
                <a:solidFill>
                  <a:srgbClr val="D7DF23"/>
                </a:solidFill>
                <a:latin typeface="Calibri" pitchFamily="34" charset="0"/>
                <a:ea typeface="Calibri" pitchFamily="34" charset="-122"/>
                <a:cs typeface="Calibri" pitchFamily="34" charset="-120"/>
              </a:rPr>
              <a:t>GRADE 10 BIOLOGY  ·  CELL STRUCTURE  ·  LESSON 6 OF 12  ·  80 MINUTES</a:t>
            </a:r>
            <a:endParaRPr lang="en-US" sz="1300" dirty="0"/>
          </a:p>
        </p:txBody>
      </p:sp>
      <p:sp>
        <p:nvSpPr>
          <p:cNvPr id="3" name="Text 1"/>
          <p:cNvSpPr txBox="1"/>
          <p:nvPr/>
        </p:nvSpPr>
        <p:spPr>
          <a:xfrm>
            <a:off x="731520" y="1554480"/>
            <a:ext cx="7132320" cy="1828800"/>
          </a:xfrm>
          <a:prstGeom prst="rect">
            <a:avLst/>
          </a:prstGeom>
          <a:noFill/>
          <a:ln/>
        </p:spPr>
        <p:txBody>
          <a:bodyPr wrap="square" lIns="0" tIns="0" rIns="0" bIns="0" rtlCol="0" anchor="t"/>
          <a:lstStyle/>
          <a:p>
            <a:pPr marL="0" indent="0">
              <a:buNone/>
            </a:pPr>
            <a:r>
              <a:rPr lang="en-US" sz="5000" b="1" dirty="0">
                <a:solidFill>
                  <a:srgbClr val="FFFFFF"/>
                </a:solidFill>
                <a:latin typeface="Calibri" pitchFamily="34" charset="0"/>
                <a:ea typeface="Calibri" pitchFamily="34" charset="-122"/>
                <a:cs typeface="Calibri" pitchFamily="34" charset="-120"/>
              </a:rPr>
              <a:t>Looking Inside an Onion</a:t>
            </a:r>
            <a:endParaRPr lang="en-US" sz="5000" dirty="0"/>
          </a:p>
        </p:txBody>
      </p:sp>
      <p:sp>
        <p:nvSpPr>
          <p:cNvPr id="4" name="Text 2"/>
          <p:cNvSpPr txBox="1"/>
          <p:nvPr/>
        </p:nvSpPr>
        <p:spPr>
          <a:xfrm>
            <a:off x="731520" y="3520440"/>
            <a:ext cx="6858000" cy="1188720"/>
          </a:xfrm>
          <a:prstGeom prst="rect">
            <a:avLst/>
          </a:prstGeom>
          <a:noFill/>
          <a:ln/>
        </p:spPr>
        <p:txBody>
          <a:bodyPr wrap="square" lIns="0" tIns="0" rIns="0" bIns="0" rtlCol="0" anchor="t"/>
          <a:lstStyle/>
          <a:p>
            <a:pPr marL="0" indent="0">
              <a:buNone/>
            </a:pPr>
            <a:r>
              <a:rPr lang="en-US" sz="2000" dirty="0">
                <a:solidFill>
                  <a:srgbClr val="C8CBD2"/>
                </a:solidFill>
                <a:latin typeface="Calibri" pitchFamily="34" charset="0"/>
                <a:ea typeface="Calibri" pitchFamily="34" charset="-122"/>
                <a:cs typeface="Calibri" pitchFamily="34" charset="-120"/>
              </a:rPr>
              <a:t>Microscopy practical 1: our first look at real plant cells.</a:t>
            </a:r>
            <a:endParaRPr lang="en-US" sz="2000" dirty="0"/>
          </a:p>
        </p:txBody>
      </p:sp>
      <p:sp>
        <p:nvSpPr>
          <p:cNvPr id="5" name="Text 3"/>
          <p:cNvSpPr txBox="1"/>
          <p:nvPr/>
        </p:nvSpPr>
        <p:spPr>
          <a:xfrm>
            <a:off x="8595360" y="1005840"/>
            <a:ext cx="3017520" cy="365760"/>
          </a:xfrm>
          <a:prstGeom prst="rect">
            <a:avLst/>
          </a:prstGeom>
          <a:noFill/>
          <a:ln/>
        </p:spPr>
        <p:txBody>
          <a:bodyPr wrap="square" lIns="0" tIns="0" rIns="0" bIns="0" rtlCol="0" anchor="ctr"/>
          <a:lstStyle/>
          <a:p>
            <a:pPr marL="0" indent="0">
              <a:buNone/>
            </a:pPr>
            <a:r>
              <a:rPr lang="en-US" sz="1200" b="1" kern="0" spc="300" dirty="0">
                <a:solidFill>
                  <a:srgbClr val="A0A4AD"/>
                </a:solidFill>
                <a:latin typeface="Calibri" pitchFamily="34" charset="0"/>
                <a:ea typeface="Calibri" pitchFamily="34" charset="-122"/>
                <a:cs typeface="Calibri" pitchFamily="34" charset="-120"/>
              </a:rPr>
              <a:t>TODAY’S LESSON</a:t>
            </a:r>
            <a:endParaRPr lang="en-US" sz="1200" dirty="0"/>
          </a:p>
        </p:txBody>
      </p:sp>
      <p:sp>
        <p:nvSpPr>
          <p:cNvPr id="6" name="Shape 4"/>
          <p:cNvSpPr/>
          <p:nvPr/>
        </p:nvSpPr>
        <p:spPr>
          <a:xfrm>
            <a:off x="8595360" y="1554480"/>
            <a:ext cx="420624" cy="420624"/>
          </a:xfrm>
          <a:prstGeom prst="ellipse">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9189720" y="1554480"/>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Predict</a:t>
            </a:r>
            <a:endParaRPr lang="en-US" sz="2000" dirty="0"/>
          </a:p>
        </p:txBody>
      </p:sp>
      <p:sp>
        <p:nvSpPr>
          <p:cNvPr id="8" name="Shape 6"/>
          <p:cNvSpPr/>
          <p:nvPr/>
        </p:nvSpPr>
        <p:spPr>
          <a:xfrm>
            <a:off x="8595360" y="2212848"/>
            <a:ext cx="420624" cy="420624"/>
          </a:xfrm>
          <a:prstGeom prst="ellipse">
            <a:avLst/>
          </a:prstGeom>
          <a:solidFill>
            <a:srgbClr val="D7DF23"/>
          </a:solidFill>
          <a:ln w="12700">
            <a:solidFill>
              <a:srgbClr val="D7DF23"/>
            </a:solidFill>
            <a:prstDash val="solid"/>
          </a:ln>
        </p:spPr>
        <p:txBody>
          <a:bodyPr/>
          <a:lstStyle/>
          <a:p>
            <a:endParaRPr lang="en-US"/>
          </a:p>
        </p:txBody>
      </p:sp>
      <p:sp>
        <p:nvSpPr>
          <p:cNvPr id="9" name="Text 7"/>
          <p:cNvSpPr txBox="1"/>
          <p:nvPr/>
        </p:nvSpPr>
        <p:spPr>
          <a:xfrm>
            <a:off x="9189720" y="2212848"/>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Observe</a:t>
            </a:r>
            <a:endParaRPr lang="en-US" sz="2000" dirty="0"/>
          </a:p>
        </p:txBody>
      </p:sp>
      <p:sp>
        <p:nvSpPr>
          <p:cNvPr id="10" name="Shape 8"/>
          <p:cNvSpPr/>
          <p:nvPr/>
        </p:nvSpPr>
        <p:spPr>
          <a:xfrm>
            <a:off x="8595360" y="2871216"/>
            <a:ext cx="420624" cy="420624"/>
          </a:xfrm>
          <a:prstGeom prst="ellipse">
            <a:avLst/>
          </a:prstGeom>
          <a:solidFill>
            <a:srgbClr val="CF128C"/>
          </a:solidFill>
          <a:ln w="12700">
            <a:solidFill>
              <a:srgbClr val="CF128C"/>
            </a:solidFill>
            <a:prstDash val="solid"/>
          </a:ln>
        </p:spPr>
        <p:txBody>
          <a:bodyPr/>
          <a:lstStyle/>
          <a:p>
            <a:endParaRPr lang="en-US"/>
          </a:p>
        </p:txBody>
      </p:sp>
      <p:sp>
        <p:nvSpPr>
          <p:cNvPr id="11" name="Text 9"/>
          <p:cNvSpPr txBox="1"/>
          <p:nvPr/>
        </p:nvSpPr>
        <p:spPr>
          <a:xfrm>
            <a:off x="9189720" y="2871216"/>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Explain</a:t>
            </a:r>
            <a:endParaRPr lang="en-US" sz="2000" dirty="0"/>
          </a:p>
        </p:txBody>
      </p:sp>
      <p:sp>
        <p:nvSpPr>
          <p:cNvPr id="12" name="Shape 10"/>
          <p:cNvSpPr/>
          <p:nvPr/>
        </p:nvSpPr>
        <p:spPr>
          <a:xfrm>
            <a:off x="8595360" y="3529584"/>
            <a:ext cx="420624" cy="420624"/>
          </a:xfrm>
          <a:prstGeom prst="ellipse">
            <a:avLst/>
          </a:prstGeom>
          <a:solidFill>
            <a:srgbClr val="FCBA63"/>
          </a:solidFill>
          <a:ln w="12700">
            <a:solidFill>
              <a:srgbClr val="FCBA63"/>
            </a:solidFill>
            <a:prstDash val="solid"/>
          </a:ln>
        </p:spPr>
        <p:txBody>
          <a:bodyPr/>
          <a:lstStyle/>
          <a:p>
            <a:endParaRPr lang="en-US"/>
          </a:p>
        </p:txBody>
      </p:sp>
      <p:sp>
        <p:nvSpPr>
          <p:cNvPr id="13" name="Text 11"/>
          <p:cNvSpPr txBox="1"/>
          <p:nvPr/>
        </p:nvSpPr>
        <p:spPr>
          <a:xfrm>
            <a:off x="9189720" y="3529584"/>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Driving Question Board</a:t>
            </a:r>
            <a:endParaRPr lang="en-US" sz="2000" dirty="0"/>
          </a:p>
        </p:txBody>
      </p:sp>
      <p:sp>
        <p:nvSpPr>
          <p:cNvPr id="14" name="Shape 12"/>
          <p:cNvSpPr/>
          <p:nvPr/>
        </p:nvSpPr>
        <p:spPr>
          <a:xfrm>
            <a:off x="8595360" y="4187952"/>
            <a:ext cx="420624" cy="420624"/>
          </a:xfrm>
          <a:prstGeom prst="ellipse">
            <a:avLst/>
          </a:prstGeom>
          <a:solidFill>
            <a:srgbClr val="E44145"/>
          </a:solidFill>
          <a:ln w="12700">
            <a:solidFill>
              <a:srgbClr val="E44145"/>
            </a:solidFill>
            <a:prstDash val="solid"/>
          </a:ln>
        </p:spPr>
        <p:txBody>
          <a:bodyPr/>
          <a:lstStyle/>
          <a:p>
            <a:endParaRPr lang="en-US"/>
          </a:p>
        </p:txBody>
      </p:sp>
      <p:sp>
        <p:nvSpPr>
          <p:cNvPr id="15" name="Text 13"/>
          <p:cNvSpPr txBox="1"/>
          <p:nvPr/>
        </p:nvSpPr>
        <p:spPr>
          <a:xfrm>
            <a:off x="9189720" y="4187952"/>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Model Building</a:t>
            </a:r>
            <a:endParaRPr lang="en-US" sz="2000" dirty="0"/>
          </a:p>
        </p:txBody>
      </p:sp>
      <p:sp>
        <p:nvSpPr>
          <p:cNvPr id="16" name="Text 14"/>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17" name="Shape 15"/>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19" name="Shape 16"/>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How these lessons work: one routine, five phases</a:t>
            </a:r>
            <a:endParaRPr lang="en-US" sz="3400" dirty="0"/>
          </a:p>
        </p:txBody>
      </p:sp>
      <p:sp>
        <p:nvSpPr>
          <p:cNvPr id="5" name="Text 3"/>
          <p:cNvSpPr txBox="1"/>
          <p:nvPr/>
        </p:nvSpPr>
        <p:spPr>
          <a:xfrm>
            <a:off x="548640" y="1508760"/>
            <a:ext cx="9144000" cy="320040"/>
          </a:xfrm>
          <a:prstGeom prst="rect">
            <a:avLst/>
          </a:prstGeom>
          <a:noFill/>
          <a:ln/>
        </p:spPr>
        <p:txBody>
          <a:bodyPr wrap="square" lIns="0" tIns="0" rIns="0" bIns="0" rtlCol="0" anchor="ctr"/>
          <a:lstStyle/>
          <a:p>
            <a:pPr marL="0" indent="0">
              <a:buNone/>
            </a:pPr>
            <a:r>
              <a:rPr lang="en-US" sz="1400" i="1" dirty="0">
                <a:solidFill>
                  <a:srgbClr val="5B6172"/>
                </a:solidFill>
                <a:latin typeface="Calibri" pitchFamily="34" charset="0"/>
                <a:ea typeface="Calibri" pitchFamily="34" charset="-122"/>
                <a:cs typeface="Calibri" pitchFamily="34" charset="-120"/>
              </a:rPr>
              <a:t>This slide is hidden. It will not show when you present.</a:t>
            </a:r>
            <a:endParaRPr lang="en-US" sz="1400" dirty="0"/>
          </a:p>
        </p:txBody>
      </p:sp>
      <p:sp>
        <p:nvSpPr>
          <p:cNvPr id="6" name="Shape 4"/>
          <p:cNvSpPr/>
          <p:nvPr/>
        </p:nvSpPr>
        <p:spPr>
          <a:xfrm>
            <a:off x="548640" y="2011680"/>
            <a:ext cx="2286000" cy="548640"/>
          </a:xfrm>
          <a:prstGeom prst="roundRect">
            <a:avLst>
              <a:gd name="adj" fmla="val 20000"/>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548640" y="2011680"/>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Predict</a:t>
            </a:r>
            <a:endParaRPr lang="en-US" sz="1500" dirty="0"/>
          </a:p>
        </p:txBody>
      </p:sp>
      <p:sp>
        <p:nvSpPr>
          <p:cNvPr id="8" name="Text 6"/>
          <p:cNvSpPr txBox="1"/>
          <p:nvPr/>
        </p:nvSpPr>
        <p:spPr>
          <a:xfrm>
            <a:off x="3017520" y="2011680"/>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write their own idea BEFORE anyone teaches. Writing first gives every student a starting point.</a:t>
            </a:r>
            <a:endParaRPr lang="en-US" sz="1350" dirty="0"/>
          </a:p>
        </p:txBody>
      </p:sp>
      <p:sp>
        <p:nvSpPr>
          <p:cNvPr id="9" name="Shape 7"/>
          <p:cNvSpPr/>
          <p:nvPr/>
        </p:nvSpPr>
        <p:spPr>
          <a:xfrm>
            <a:off x="548640" y="2724912"/>
            <a:ext cx="2286000" cy="548640"/>
          </a:xfrm>
          <a:prstGeom prst="roundRect">
            <a:avLst>
              <a:gd name="adj" fmla="val 20000"/>
            </a:avLst>
          </a:prstGeom>
          <a:solidFill>
            <a:srgbClr val="D7DF23"/>
          </a:solidFill>
          <a:ln w="12700">
            <a:solidFill>
              <a:srgbClr val="D7DF23"/>
            </a:solidFill>
            <a:prstDash val="solid"/>
          </a:ln>
        </p:spPr>
        <p:txBody>
          <a:bodyPr/>
          <a:lstStyle/>
          <a:p>
            <a:endParaRPr lang="en-US"/>
          </a:p>
        </p:txBody>
      </p:sp>
      <p:sp>
        <p:nvSpPr>
          <p:cNvPr id="10" name="Text 8"/>
          <p:cNvSpPr txBox="1"/>
          <p:nvPr/>
        </p:nvSpPr>
        <p:spPr>
          <a:xfrm>
            <a:off x="548640" y="2724912"/>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Observe</a:t>
            </a:r>
            <a:endParaRPr lang="en-US" sz="1500" dirty="0"/>
          </a:p>
        </p:txBody>
      </p:sp>
      <p:sp>
        <p:nvSpPr>
          <p:cNvPr id="11" name="Text 9"/>
          <p:cNvSpPr txBox="1"/>
          <p:nvPr/>
        </p:nvSpPr>
        <p:spPr>
          <a:xfrm>
            <a:off x="3017520" y="2724912"/>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look at evidence: a story, pictures, diagrams, a practical. They record what they see.</a:t>
            </a:r>
            <a:endParaRPr lang="en-US" sz="1350" dirty="0"/>
          </a:p>
        </p:txBody>
      </p:sp>
      <p:sp>
        <p:nvSpPr>
          <p:cNvPr id="12" name="Shape 10"/>
          <p:cNvSpPr/>
          <p:nvPr/>
        </p:nvSpPr>
        <p:spPr>
          <a:xfrm>
            <a:off x="548640" y="3438144"/>
            <a:ext cx="2286000" cy="548640"/>
          </a:xfrm>
          <a:prstGeom prst="roundRect">
            <a:avLst>
              <a:gd name="adj" fmla="val 20000"/>
            </a:avLst>
          </a:prstGeom>
          <a:solidFill>
            <a:srgbClr val="CF128C"/>
          </a:solidFill>
          <a:ln w="12700">
            <a:solidFill>
              <a:srgbClr val="CF128C"/>
            </a:solidFill>
            <a:prstDash val="solid"/>
          </a:ln>
        </p:spPr>
        <p:txBody>
          <a:bodyPr/>
          <a:lstStyle/>
          <a:p>
            <a:endParaRPr lang="en-US"/>
          </a:p>
        </p:txBody>
      </p:sp>
      <p:sp>
        <p:nvSpPr>
          <p:cNvPr id="13" name="Text 11"/>
          <p:cNvSpPr txBox="1"/>
          <p:nvPr/>
        </p:nvSpPr>
        <p:spPr>
          <a:xfrm>
            <a:off x="548640" y="3438144"/>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Explain</a:t>
            </a:r>
            <a:endParaRPr lang="en-US" sz="1500" dirty="0"/>
          </a:p>
        </p:txBody>
      </p:sp>
      <p:sp>
        <p:nvSpPr>
          <p:cNvPr id="14" name="Text 12"/>
          <p:cNvSpPr txBox="1"/>
          <p:nvPr/>
        </p:nvSpPr>
        <p:spPr>
          <a:xfrm>
            <a:off x="3017520" y="3438144"/>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You help students make sense of the evidence. Now you correct ideas — using the evidence.</a:t>
            </a:r>
            <a:endParaRPr lang="en-US" sz="1350" dirty="0"/>
          </a:p>
        </p:txBody>
      </p:sp>
      <p:sp>
        <p:nvSpPr>
          <p:cNvPr id="15" name="Shape 13"/>
          <p:cNvSpPr/>
          <p:nvPr/>
        </p:nvSpPr>
        <p:spPr>
          <a:xfrm>
            <a:off x="548640" y="4151376"/>
            <a:ext cx="2286000" cy="548640"/>
          </a:xfrm>
          <a:prstGeom prst="roundRect">
            <a:avLst>
              <a:gd name="adj" fmla="val 20000"/>
            </a:avLst>
          </a:prstGeom>
          <a:solidFill>
            <a:srgbClr val="FCBA63"/>
          </a:solidFill>
          <a:ln w="12700">
            <a:solidFill>
              <a:srgbClr val="FCBA63"/>
            </a:solidFill>
            <a:prstDash val="solid"/>
          </a:ln>
        </p:spPr>
        <p:txBody>
          <a:bodyPr/>
          <a:lstStyle/>
          <a:p>
            <a:endParaRPr lang="en-US"/>
          </a:p>
        </p:txBody>
      </p:sp>
      <p:sp>
        <p:nvSpPr>
          <p:cNvPr id="16" name="Text 14"/>
          <p:cNvSpPr txBox="1"/>
          <p:nvPr/>
        </p:nvSpPr>
        <p:spPr>
          <a:xfrm>
            <a:off x="548640" y="4151376"/>
            <a:ext cx="2286000" cy="548640"/>
          </a:xfrm>
          <a:prstGeom prst="rect">
            <a:avLst/>
          </a:prstGeom>
          <a:noFill/>
          <a:ln/>
        </p:spPr>
        <p:txBody>
          <a:bodyPr wrap="square" lIns="0" tIns="0" rIns="0" bIns="0" rtlCol="0" anchor="ctr"/>
          <a:lstStyle/>
          <a:p>
            <a:pPr marL="0" indent="0" algn="ctr">
              <a:buNone/>
            </a:pPr>
            <a:r>
              <a:rPr lang="en-US" sz="1300" b="1" dirty="0">
                <a:solidFill>
                  <a:srgbClr val="111111"/>
                </a:solidFill>
                <a:latin typeface="Calibri" pitchFamily="34" charset="0"/>
                <a:ea typeface="Calibri" pitchFamily="34" charset="-122"/>
                <a:cs typeface="Calibri" pitchFamily="34" charset="-120"/>
              </a:rPr>
              <a:t>Driving Question Board</a:t>
            </a:r>
            <a:endParaRPr lang="en-US" sz="1300" dirty="0"/>
          </a:p>
        </p:txBody>
      </p:sp>
      <p:sp>
        <p:nvSpPr>
          <p:cNvPr id="17" name="Text 15"/>
          <p:cNvSpPr txBox="1"/>
          <p:nvPr/>
        </p:nvSpPr>
        <p:spPr>
          <a:xfrm>
            <a:off x="3017520" y="4151376"/>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The Driving Question Board (DQB) shows what the class knows and still wonders. Update it every lesson.</a:t>
            </a:r>
            <a:endParaRPr lang="en-US" sz="1350" dirty="0"/>
          </a:p>
        </p:txBody>
      </p:sp>
      <p:sp>
        <p:nvSpPr>
          <p:cNvPr id="18" name="Shape 16"/>
          <p:cNvSpPr/>
          <p:nvPr/>
        </p:nvSpPr>
        <p:spPr>
          <a:xfrm>
            <a:off x="548640" y="4864608"/>
            <a:ext cx="2286000" cy="548640"/>
          </a:xfrm>
          <a:prstGeom prst="roundRect">
            <a:avLst>
              <a:gd name="adj" fmla="val 20000"/>
            </a:avLst>
          </a:prstGeom>
          <a:solidFill>
            <a:srgbClr val="E44145"/>
          </a:solidFill>
          <a:ln w="12700">
            <a:solidFill>
              <a:srgbClr val="E44145"/>
            </a:solidFill>
            <a:prstDash val="solid"/>
          </a:ln>
        </p:spPr>
        <p:txBody>
          <a:bodyPr/>
          <a:lstStyle/>
          <a:p>
            <a:endParaRPr lang="en-US"/>
          </a:p>
        </p:txBody>
      </p:sp>
      <p:sp>
        <p:nvSpPr>
          <p:cNvPr id="19" name="Text 17"/>
          <p:cNvSpPr txBox="1"/>
          <p:nvPr/>
        </p:nvSpPr>
        <p:spPr>
          <a:xfrm>
            <a:off x="548640" y="4864608"/>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 Building</a:t>
            </a:r>
            <a:endParaRPr lang="en-US" sz="1500" dirty="0"/>
          </a:p>
        </p:txBody>
      </p:sp>
      <p:sp>
        <p:nvSpPr>
          <p:cNvPr id="20" name="Text 18"/>
          <p:cNvSpPr txBox="1"/>
          <p:nvPr/>
        </p:nvSpPr>
        <p:spPr>
          <a:xfrm>
            <a:off x="3017520" y="4864608"/>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Each student keeps one model that they revise across the unit. Revising IS the learning.</a:t>
            </a:r>
            <a:endParaRPr lang="en-US" sz="1350" dirty="0"/>
          </a:p>
        </p:txBody>
      </p:sp>
      <p:sp>
        <p:nvSpPr>
          <p:cNvPr id="21" name="Shape 19"/>
          <p:cNvSpPr/>
          <p:nvPr/>
        </p:nvSpPr>
        <p:spPr>
          <a:xfrm>
            <a:off x="8229600" y="2011680"/>
            <a:ext cx="3410712" cy="3429000"/>
          </a:xfrm>
          <a:prstGeom prst="roundRect">
            <a:avLst>
              <a:gd name="adj" fmla="val 3217"/>
            </a:avLst>
          </a:prstGeom>
          <a:solidFill>
            <a:srgbClr val="F5F6F9"/>
          </a:solidFill>
          <a:ln w="9525">
            <a:solidFill>
              <a:srgbClr val="E3E6ED"/>
            </a:solidFill>
            <a:prstDash val="solid"/>
          </a:ln>
        </p:spPr>
        <p:txBody>
          <a:bodyPr/>
          <a:lstStyle/>
          <a:p>
            <a:endParaRPr lang="en-US"/>
          </a:p>
        </p:txBody>
      </p:sp>
      <p:sp>
        <p:nvSpPr>
          <p:cNvPr id="22" name="Text 20"/>
          <p:cNvSpPr txBox="1"/>
          <p:nvPr/>
        </p:nvSpPr>
        <p:spPr>
          <a:xfrm>
            <a:off x="8458200" y="2194560"/>
            <a:ext cx="3017520" cy="31089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Three habits, every lesson</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Wait time. </a:t>
            </a:r>
            <a:r>
              <a:rPr lang="en-US" sz="1300" dirty="0">
                <a:solidFill>
                  <a:srgbClr val="111111"/>
                </a:solidFill>
                <a:latin typeface="Calibri" pitchFamily="34" charset="0"/>
                <a:ea typeface="Calibri" pitchFamily="34" charset="-122"/>
                <a:cs typeface="Calibri" pitchFamily="34" charset="-120"/>
              </a:rPr>
              <a:t>Count silently to 5–10 seconds after a question. Do not rephrase.</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Do not correct yet. </a:t>
            </a:r>
            <a:r>
              <a:rPr lang="en-US" sz="1300" dirty="0">
                <a:solidFill>
                  <a:srgbClr val="111111"/>
                </a:solidFill>
                <a:latin typeface="Calibri" pitchFamily="34" charset="0"/>
                <a:ea typeface="Calibri" pitchFamily="34" charset="-122"/>
                <a:cs typeface="Calibri" pitchFamily="34" charset="-120"/>
              </a:rPr>
              <a:t>In Predict and Observe, record ideas exactly as students say them.</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Call on everyone. </a:t>
            </a:r>
            <a:r>
              <a:rPr lang="en-US" sz="1300" dirty="0">
                <a:solidFill>
                  <a:srgbClr val="111111"/>
                </a:solidFill>
                <a:latin typeface="Calibri" pitchFamily="34" charset="0"/>
                <a:ea typeface="Calibri" pitchFamily="34" charset="-122"/>
                <a:cs typeface="Calibri" pitchFamily="34" charset="-120"/>
              </a:rPr>
              <a:t>Choose students who do not usually raise a hand.</a:t>
            </a:r>
            <a:endParaRPr lang="en-US" sz="1300" dirty="0"/>
          </a:p>
        </p:txBody>
      </p:sp>
      <p:sp>
        <p:nvSpPr>
          <p:cNvPr id="23" name="Shape 21"/>
          <p:cNvSpPr/>
          <p:nvPr/>
        </p:nvSpPr>
        <p:spPr>
          <a:xfrm>
            <a:off x="548640" y="5715000"/>
            <a:ext cx="274320" cy="274320"/>
          </a:xfrm>
          <a:prstGeom prst="ellipse">
            <a:avLst/>
          </a:prstGeom>
          <a:solidFill>
            <a:srgbClr val="FFFFFF"/>
          </a:solidFill>
          <a:ln w="15875">
            <a:solidFill>
              <a:srgbClr val="111111"/>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612648" y="5779008"/>
            <a:ext cx="146304" cy="146304"/>
          </a:xfrm>
          <a:prstGeom prst="rect">
            <a:avLst/>
          </a:prstGeom>
        </p:spPr>
      </p:pic>
      <p:sp>
        <p:nvSpPr>
          <p:cNvPr id="25" name="Text 22"/>
          <p:cNvSpPr txBox="1"/>
          <p:nvPr/>
        </p:nvSpPr>
        <p:spPr>
          <a:xfrm>
            <a:off x="960120" y="5669280"/>
            <a:ext cx="10058400" cy="36576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A “Check for understanding” label means this slide includes a formative check. The Notes tell you what to look for.</a:t>
            </a:r>
            <a:endParaRPr lang="en-US" sz="1250" dirty="0"/>
          </a:p>
        </p:txBody>
      </p:sp>
      <p:sp>
        <p:nvSpPr>
          <p:cNvPr id="26" name="Text 2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27" name="Shape 2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8"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29" name="Shape 2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10106863" y="6350508"/>
            <a:ext cx="1417320" cy="265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Lesson 6 at a glance</a:t>
            </a:r>
            <a:endParaRPr lang="en-US" sz="3400" dirty="0"/>
          </a:p>
        </p:txBody>
      </p:sp>
      <p:sp>
        <p:nvSpPr>
          <p:cNvPr id="5" name="Text 3"/>
          <p:cNvSpPr txBox="1"/>
          <p:nvPr/>
        </p:nvSpPr>
        <p:spPr>
          <a:xfrm>
            <a:off x="548640" y="1600200"/>
            <a:ext cx="18745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PHASE</a:t>
            </a:r>
            <a:endParaRPr lang="en-US" sz="1050" dirty="0"/>
          </a:p>
        </p:txBody>
      </p:sp>
      <p:sp>
        <p:nvSpPr>
          <p:cNvPr id="6" name="Text 4"/>
          <p:cNvSpPr txBox="1"/>
          <p:nvPr/>
        </p:nvSpPr>
        <p:spPr>
          <a:xfrm>
            <a:off x="2514600" y="1600200"/>
            <a:ext cx="77724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TIME</a:t>
            </a:r>
            <a:endParaRPr lang="en-US" sz="1050" dirty="0"/>
          </a:p>
        </p:txBody>
      </p:sp>
      <p:sp>
        <p:nvSpPr>
          <p:cNvPr id="7" name="Text 5"/>
          <p:cNvSpPr txBox="1"/>
          <p:nvPr/>
        </p:nvSpPr>
        <p:spPr>
          <a:xfrm>
            <a:off x="3337560" y="1600200"/>
            <a:ext cx="448056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WHAT STUDENTS DO</a:t>
            </a:r>
            <a:endParaRPr lang="en-US" sz="1050" dirty="0"/>
          </a:p>
        </p:txBody>
      </p:sp>
      <p:sp>
        <p:nvSpPr>
          <p:cNvPr id="8" name="Shape 6"/>
          <p:cNvSpPr/>
          <p:nvPr/>
        </p:nvSpPr>
        <p:spPr>
          <a:xfrm>
            <a:off x="548640" y="1975104"/>
            <a:ext cx="1783080" cy="457200"/>
          </a:xfrm>
          <a:prstGeom prst="roundRect">
            <a:avLst>
              <a:gd name="adj" fmla="val 16000"/>
            </a:avLst>
          </a:prstGeom>
          <a:solidFill>
            <a:srgbClr val="47C6E4"/>
          </a:solidFill>
          <a:ln w="12700">
            <a:solidFill>
              <a:srgbClr val="47C6E4"/>
            </a:solidFill>
            <a:prstDash val="solid"/>
          </a:ln>
        </p:spPr>
        <p:txBody>
          <a:bodyPr/>
          <a:lstStyle/>
          <a:p>
            <a:endParaRPr lang="en-US"/>
          </a:p>
        </p:txBody>
      </p:sp>
      <p:sp>
        <p:nvSpPr>
          <p:cNvPr id="9" name="Text 7"/>
          <p:cNvSpPr txBox="1"/>
          <p:nvPr/>
        </p:nvSpPr>
        <p:spPr>
          <a:xfrm>
            <a:off x="548640" y="1975104"/>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Predict</a:t>
            </a:r>
            <a:endParaRPr lang="en-US" sz="1200" dirty="0"/>
          </a:p>
        </p:txBody>
      </p:sp>
      <p:sp>
        <p:nvSpPr>
          <p:cNvPr id="10" name="Text 8"/>
          <p:cNvSpPr txBox="1"/>
          <p:nvPr/>
        </p:nvSpPr>
        <p:spPr>
          <a:xfrm>
            <a:off x="2514600" y="1920240"/>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10 min</a:t>
            </a:r>
            <a:endParaRPr lang="en-US" sz="1250" dirty="0"/>
          </a:p>
        </p:txBody>
      </p:sp>
      <p:sp>
        <p:nvSpPr>
          <p:cNvPr id="11" name="Text 9"/>
          <p:cNvSpPr txBox="1"/>
          <p:nvPr/>
        </p:nvSpPr>
        <p:spPr>
          <a:xfrm>
            <a:off x="3337560" y="1920240"/>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Look at a whole onion. Sketch and label a predicted onion cell. Will there be chloroplasts?</a:t>
            </a:r>
            <a:endParaRPr lang="en-US" sz="1150" dirty="0"/>
          </a:p>
        </p:txBody>
      </p:sp>
      <p:sp>
        <p:nvSpPr>
          <p:cNvPr id="12" name="Shape 10"/>
          <p:cNvSpPr/>
          <p:nvPr/>
        </p:nvSpPr>
        <p:spPr>
          <a:xfrm>
            <a:off x="548640" y="2542032"/>
            <a:ext cx="1783080" cy="457200"/>
          </a:xfrm>
          <a:prstGeom prst="roundRect">
            <a:avLst>
              <a:gd name="adj" fmla="val 16000"/>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548640" y="2542032"/>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14" name="Text 12"/>
          <p:cNvSpPr txBox="1"/>
          <p:nvPr/>
        </p:nvSpPr>
        <p:spPr>
          <a:xfrm>
            <a:off x="2514600" y="2487168"/>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10 min</a:t>
            </a:r>
            <a:endParaRPr lang="en-US" sz="1250" dirty="0"/>
          </a:p>
        </p:txBody>
      </p:sp>
      <p:sp>
        <p:nvSpPr>
          <p:cNvPr id="15" name="Text 13"/>
          <p:cNvSpPr txBox="1"/>
          <p:nvPr/>
        </p:nvSpPr>
        <p:spPr>
          <a:xfrm>
            <a:off x="3337560" y="2487168"/>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A. Watch the teacher make a slide, step by step.</a:t>
            </a:r>
            <a:endParaRPr lang="en-US" sz="1150" dirty="0"/>
          </a:p>
        </p:txBody>
      </p:sp>
      <p:sp>
        <p:nvSpPr>
          <p:cNvPr id="16" name="Shape 14"/>
          <p:cNvSpPr/>
          <p:nvPr/>
        </p:nvSpPr>
        <p:spPr>
          <a:xfrm>
            <a:off x="548640" y="3108960"/>
            <a:ext cx="1783080" cy="457200"/>
          </a:xfrm>
          <a:prstGeom prst="roundRect">
            <a:avLst>
              <a:gd name="adj" fmla="val 16000"/>
            </a:avLst>
          </a:prstGeom>
          <a:solidFill>
            <a:srgbClr val="D7DF23"/>
          </a:solidFill>
          <a:ln w="12700">
            <a:solidFill>
              <a:srgbClr val="D7DF23"/>
            </a:solidFill>
            <a:prstDash val="solid"/>
          </a:ln>
        </p:spPr>
        <p:txBody>
          <a:bodyPr/>
          <a:lstStyle/>
          <a:p>
            <a:endParaRPr lang="en-US"/>
          </a:p>
        </p:txBody>
      </p:sp>
      <p:sp>
        <p:nvSpPr>
          <p:cNvPr id="17" name="Text 15"/>
          <p:cNvSpPr txBox="1"/>
          <p:nvPr/>
        </p:nvSpPr>
        <p:spPr>
          <a:xfrm>
            <a:off x="548640" y="3108960"/>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18" name="Text 16"/>
          <p:cNvSpPr txBox="1"/>
          <p:nvPr/>
        </p:nvSpPr>
        <p:spPr>
          <a:xfrm>
            <a:off x="2514600" y="3054096"/>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25 min</a:t>
            </a:r>
            <a:endParaRPr lang="en-US" sz="1250" dirty="0"/>
          </a:p>
        </p:txBody>
      </p:sp>
      <p:sp>
        <p:nvSpPr>
          <p:cNvPr id="19" name="Text 17"/>
          <p:cNvSpPr txBox="1"/>
          <p:nvPr/>
        </p:nvSpPr>
        <p:spPr>
          <a:xfrm>
            <a:off x="3337560" y="3054096"/>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B. Groups make their own slides. Each student draws cells at low and high power.</a:t>
            </a:r>
            <a:endParaRPr lang="en-US" sz="1150" dirty="0"/>
          </a:p>
        </p:txBody>
      </p:sp>
      <p:sp>
        <p:nvSpPr>
          <p:cNvPr id="20" name="Shape 18"/>
          <p:cNvSpPr/>
          <p:nvPr/>
        </p:nvSpPr>
        <p:spPr>
          <a:xfrm>
            <a:off x="548640" y="3675888"/>
            <a:ext cx="1783080" cy="457200"/>
          </a:xfrm>
          <a:prstGeom prst="roundRect">
            <a:avLst>
              <a:gd name="adj" fmla="val 16000"/>
            </a:avLst>
          </a:prstGeom>
          <a:solidFill>
            <a:srgbClr val="CF128C"/>
          </a:solidFill>
          <a:ln w="12700">
            <a:solidFill>
              <a:srgbClr val="CF128C"/>
            </a:solidFill>
            <a:prstDash val="solid"/>
          </a:ln>
        </p:spPr>
        <p:txBody>
          <a:bodyPr/>
          <a:lstStyle/>
          <a:p>
            <a:endParaRPr lang="en-US"/>
          </a:p>
        </p:txBody>
      </p:sp>
      <p:sp>
        <p:nvSpPr>
          <p:cNvPr id="21" name="Text 19"/>
          <p:cNvSpPr txBox="1"/>
          <p:nvPr/>
        </p:nvSpPr>
        <p:spPr>
          <a:xfrm>
            <a:off x="548640" y="3675888"/>
            <a:ext cx="1783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Explain</a:t>
            </a:r>
            <a:endParaRPr lang="en-US" sz="1200" dirty="0"/>
          </a:p>
        </p:txBody>
      </p:sp>
      <p:sp>
        <p:nvSpPr>
          <p:cNvPr id="22" name="Text 20"/>
          <p:cNvSpPr txBox="1"/>
          <p:nvPr/>
        </p:nvSpPr>
        <p:spPr>
          <a:xfrm>
            <a:off x="2514600" y="3621024"/>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15 min</a:t>
            </a:r>
            <a:endParaRPr lang="en-US" sz="1250" dirty="0"/>
          </a:p>
        </p:txBody>
      </p:sp>
      <p:sp>
        <p:nvSpPr>
          <p:cNvPr id="23" name="Text 21"/>
          <p:cNvSpPr txBox="1"/>
          <p:nvPr/>
        </p:nvSpPr>
        <p:spPr>
          <a:xfrm>
            <a:off x="3337560" y="3621024"/>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Mark predictions right or wrong. Why no chloroplasts? Write a 3-sentence explanation.</a:t>
            </a:r>
            <a:endParaRPr lang="en-US" sz="1150" dirty="0"/>
          </a:p>
        </p:txBody>
      </p:sp>
      <p:sp>
        <p:nvSpPr>
          <p:cNvPr id="24" name="Shape 22"/>
          <p:cNvSpPr/>
          <p:nvPr/>
        </p:nvSpPr>
        <p:spPr>
          <a:xfrm>
            <a:off x="548640" y="4242816"/>
            <a:ext cx="1783080" cy="457200"/>
          </a:xfrm>
          <a:prstGeom prst="roundRect">
            <a:avLst>
              <a:gd name="adj" fmla="val 16000"/>
            </a:avLst>
          </a:prstGeom>
          <a:solidFill>
            <a:srgbClr val="FCBA63"/>
          </a:solidFill>
          <a:ln w="12700">
            <a:solidFill>
              <a:srgbClr val="FCBA63"/>
            </a:solidFill>
            <a:prstDash val="solid"/>
          </a:ln>
        </p:spPr>
        <p:txBody>
          <a:bodyPr/>
          <a:lstStyle/>
          <a:p>
            <a:endParaRPr lang="en-US"/>
          </a:p>
        </p:txBody>
      </p:sp>
      <p:sp>
        <p:nvSpPr>
          <p:cNvPr id="25" name="Text 23"/>
          <p:cNvSpPr txBox="1"/>
          <p:nvPr/>
        </p:nvSpPr>
        <p:spPr>
          <a:xfrm>
            <a:off x="548640" y="4242816"/>
            <a:ext cx="1783080" cy="457200"/>
          </a:xfrm>
          <a:prstGeom prst="rect">
            <a:avLst/>
          </a:prstGeom>
          <a:noFill/>
          <a:ln/>
        </p:spPr>
        <p:txBody>
          <a:bodyPr wrap="square" lIns="0" tIns="0" rIns="0" bIns="0" rtlCol="0" anchor="ctr"/>
          <a:lstStyle/>
          <a:p>
            <a:pPr marL="0" indent="0" algn="ctr">
              <a:buNone/>
            </a:pPr>
            <a:r>
              <a:rPr lang="en-US" sz="1050" b="1" dirty="0">
                <a:solidFill>
                  <a:srgbClr val="111111"/>
                </a:solidFill>
                <a:latin typeface="Calibri" pitchFamily="34" charset="0"/>
                <a:ea typeface="Calibri" pitchFamily="34" charset="-122"/>
                <a:cs typeface="Calibri" pitchFamily="34" charset="-120"/>
              </a:rPr>
              <a:t>Driving Question Board</a:t>
            </a:r>
            <a:endParaRPr lang="en-US" sz="1050" dirty="0"/>
          </a:p>
        </p:txBody>
      </p:sp>
      <p:sp>
        <p:nvSpPr>
          <p:cNvPr id="26" name="Text 24"/>
          <p:cNvSpPr txBox="1"/>
          <p:nvPr/>
        </p:nvSpPr>
        <p:spPr>
          <a:xfrm>
            <a:off x="2514600" y="4187952"/>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7 min</a:t>
            </a:r>
            <a:endParaRPr lang="en-US" sz="1250" dirty="0"/>
          </a:p>
        </p:txBody>
      </p:sp>
      <p:sp>
        <p:nvSpPr>
          <p:cNvPr id="27" name="Text 25"/>
          <p:cNvSpPr txBox="1"/>
          <p:nvPr/>
        </p:nvSpPr>
        <p:spPr>
          <a:xfrm>
            <a:off x="3337560" y="4187952"/>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Group notes: evidence we now have, and new questions. Thumbs vote on each answer.</a:t>
            </a:r>
            <a:endParaRPr lang="en-US" sz="1150" dirty="0"/>
          </a:p>
        </p:txBody>
      </p:sp>
      <p:sp>
        <p:nvSpPr>
          <p:cNvPr id="28" name="Shape 26"/>
          <p:cNvSpPr/>
          <p:nvPr/>
        </p:nvSpPr>
        <p:spPr>
          <a:xfrm>
            <a:off x="548640" y="4809744"/>
            <a:ext cx="1783080" cy="457200"/>
          </a:xfrm>
          <a:prstGeom prst="roundRect">
            <a:avLst>
              <a:gd name="adj" fmla="val 16000"/>
            </a:avLst>
          </a:prstGeom>
          <a:solidFill>
            <a:srgbClr val="E44145"/>
          </a:solidFill>
          <a:ln w="12700">
            <a:solidFill>
              <a:srgbClr val="E44145"/>
            </a:solidFill>
            <a:prstDash val="solid"/>
          </a:ln>
        </p:spPr>
        <p:txBody>
          <a:bodyPr/>
          <a:lstStyle/>
          <a:p>
            <a:endParaRPr lang="en-US"/>
          </a:p>
        </p:txBody>
      </p:sp>
      <p:sp>
        <p:nvSpPr>
          <p:cNvPr id="29" name="Text 27"/>
          <p:cNvSpPr txBox="1"/>
          <p:nvPr/>
        </p:nvSpPr>
        <p:spPr>
          <a:xfrm>
            <a:off x="548640" y="4809744"/>
            <a:ext cx="1783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Building</a:t>
            </a:r>
            <a:endParaRPr lang="en-US" sz="1200" dirty="0"/>
          </a:p>
        </p:txBody>
      </p:sp>
      <p:sp>
        <p:nvSpPr>
          <p:cNvPr id="30" name="Text 28"/>
          <p:cNvSpPr txBox="1"/>
          <p:nvPr/>
        </p:nvSpPr>
        <p:spPr>
          <a:xfrm>
            <a:off x="2514600" y="4754880"/>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8 min</a:t>
            </a:r>
            <a:endParaRPr lang="en-US" sz="1250" dirty="0"/>
          </a:p>
        </p:txBody>
      </p:sp>
      <p:sp>
        <p:nvSpPr>
          <p:cNvPr id="31" name="Text 29"/>
          <p:cNvSpPr txBox="1"/>
          <p:nvPr/>
        </p:nvSpPr>
        <p:spPr>
          <a:xfrm>
            <a:off x="3337560" y="4754880"/>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Revise the cell model in a new colour. Predict what will differ in an animal cell.</a:t>
            </a:r>
            <a:endParaRPr lang="en-US" sz="1150" dirty="0"/>
          </a:p>
        </p:txBody>
      </p:sp>
      <p:sp>
        <p:nvSpPr>
          <p:cNvPr id="32" name="Shape 30"/>
          <p:cNvSpPr/>
          <p:nvPr/>
        </p:nvSpPr>
        <p:spPr>
          <a:xfrm>
            <a:off x="8092440" y="1600200"/>
            <a:ext cx="3547872" cy="2057400"/>
          </a:xfrm>
          <a:prstGeom prst="roundRect">
            <a:avLst>
              <a:gd name="adj" fmla="val 5333"/>
            </a:avLst>
          </a:prstGeom>
          <a:solidFill>
            <a:srgbClr val="F5F6F9"/>
          </a:solidFill>
          <a:ln w="9525">
            <a:solidFill>
              <a:srgbClr val="E3E6ED"/>
            </a:solidFill>
            <a:prstDash val="solid"/>
          </a:ln>
        </p:spPr>
        <p:txBody>
          <a:bodyPr/>
          <a:lstStyle/>
          <a:p>
            <a:endParaRPr lang="en-US"/>
          </a:p>
        </p:txBody>
      </p:sp>
      <p:sp>
        <p:nvSpPr>
          <p:cNvPr id="33" name="Text 31"/>
          <p:cNvSpPr txBox="1"/>
          <p:nvPr/>
        </p:nvSpPr>
        <p:spPr>
          <a:xfrm>
            <a:off x="8275320" y="1737360"/>
            <a:ext cx="3246120" cy="1828800"/>
          </a:xfrm>
          <a:prstGeom prst="rect">
            <a:avLst/>
          </a:prstGeom>
          <a:noFill/>
          <a:ln/>
        </p:spPr>
        <p:txBody>
          <a:bodyPr wrap="square" lIns="0" tIns="0" rIns="0" bIns="0" rtlCol="0" anchor="t"/>
          <a:lstStyle/>
          <a:p>
            <a:pPr marL="0" indent="0">
              <a:spcAft>
                <a:spcPts val="200"/>
              </a:spcAft>
              <a:buNone/>
            </a:pPr>
            <a:r>
              <a:rPr lang="en-US" sz="1400" b="1" dirty="0">
                <a:solidFill>
                  <a:srgbClr val="111111"/>
                </a:solidFill>
                <a:latin typeface="Calibri" pitchFamily="34" charset="0"/>
                <a:ea typeface="Calibri" pitchFamily="34" charset="-122"/>
                <a:cs typeface="Calibri" pitchFamily="34" charset="-120"/>
              </a:rPr>
              <a:t>Prepare before class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Onions (1 per group) — red or white</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Glass slides, coverslips, forceps, mounted needles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Iodine solution in dropper bottles; water</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Microscopes (1 per group); goggles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Paper towels; container for broken glass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Practical books, pencils, rulers, coloured pens</a:t>
            </a:r>
            <a:endParaRPr lang="en-US" sz="1100" dirty="0"/>
          </a:p>
        </p:txBody>
      </p:sp>
      <p:sp>
        <p:nvSpPr>
          <p:cNvPr id="34" name="Text 32"/>
          <p:cNvSpPr txBox="1"/>
          <p:nvPr/>
        </p:nvSpPr>
        <p:spPr>
          <a:xfrm>
            <a:off x="8092440" y="3794760"/>
            <a:ext cx="34747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ARES RESOURCES</a:t>
            </a:r>
            <a:endParaRPr lang="en-US" sz="1050" dirty="0"/>
          </a:p>
        </p:txBody>
      </p:sp>
      <p:sp>
        <p:nvSpPr>
          <p:cNvPr id="35" name="Shape 33">
            <a:hlinkClick r:id="rId3" tooltip="Opens in ARES"/>
          </p:cNvPr>
          <p:cNvSpPr/>
          <p:nvPr/>
        </p:nvSpPr>
        <p:spPr>
          <a:xfrm>
            <a:off x="8092440" y="41148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36" name="Image 0" descr="preencoded.png"/>
          <p:cNvPicPr>
            <a:picLocks noChangeAspect="1"/>
          </p:cNvPicPr>
          <p:nvPr/>
        </p:nvPicPr>
        <p:blipFill>
          <a:blip r:embed="rId4"/>
          <a:stretch>
            <a:fillRect/>
          </a:stretch>
        </p:blipFill>
        <p:spPr>
          <a:xfrm>
            <a:off x="8257032" y="4215384"/>
            <a:ext cx="182880" cy="182880"/>
          </a:xfrm>
          <a:prstGeom prst="rect">
            <a:avLst/>
          </a:prstGeom>
        </p:spPr>
      </p:pic>
      <p:sp>
        <p:nvSpPr>
          <p:cNvPr id="37" name="Text 34">
            <a:hlinkClick r:id="rId3" tooltip="Opens in ARES"/>
          </p:cNvPr>
          <p:cNvSpPr txBox="1"/>
          <p:nvPr/>
        </p:nvSpPr>
        <p:spPr>
          <a:xfrm>
            <a:off x="8549640" y="41148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Plant Cell Structures — CK-12 reading</a:t>
            </a:r>
            <a:endParaRPr lang="en-US" sz="1200" dirty="0"/>
          </a:p>
        </p:txBody>
      </p:sp>
      <p:sp>
        <p:nvSpPr>
          <p:cNvPr id="38" name="Shape 35">
            <a:hlinkClick r:id="rId3" tooltip="Opens in ARES"/>
          </p:cNvPr>
          <p:cNvSpPr/>
          <p:nvPr/>
        </p:nvSpPr>
        <p:spPr>
          <a:xfrm>
            <a:off x="8092440" y="45720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39" name="Image 1" descr="preencoded.png"/>
          <p:cNvPicPr>
            <a:picLocks noChangeAspect="1"/>
          </p:cNvPicPr>
          <p:nvPr/>
        </p:nvPicPr>
        <p:blipFill>
          <a:blip r:embed="rId4"/>
          <a:stretch>
            <a:fillRect/>
          </a:stretch>
        </p:blipFill>
        <p:spPr>
          <a:xfrm>
            <a:off x="8257032" y="4672584"/>
            <a:ext cx="182880" cy="182880"/>
          </a:xfrm>
          <a:prstGeom prst="rect">
            <a:avLst/>
          </a:prstGeom>
        </p:spPr>
      </p:pic>
      <p:sp>
        <p:nvSpPr>
          <p:cNvPr id="40" name="Text 36">
            <a:hlinkClick r:id="rId3" tooltip="Opens in ARES"/>
          </p:cNvPr>
          <p:cNvSpPr txBox="1"/>
          <p:nvPr/>
        </p:nvSpPr>
        <p:spPr>
          <a:xfrm>
            <a:off x="8549640" y="45720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Plant Cell Structures Practice — CK-12</a:t>
            </a:r>
            <a:endParaRPr lang="en-US" sz="1200" dirty="0"/>
          </a:p>
        </p:txBody>
      </p:sp>
      <p:sp>
        <p:nvSpPr>
          <p:cNvPr id="41" name="Shape 37">
            <a:hlinkClick r:id="rId3" tooltip="Opens in ARES"/>
          </p:cNvPr>
          <p:cNvSpPr/>
          <p:nvPr/>
        </p:nvSpPr>
        <p:spPr>
          <a:xfrm>
            <a:off x="8092440" y="50292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42" name="Image 2" descr="preencoded.png"/>
          <p:cNvPicPr>
            <a:picLocks noChangeAspect="1"/>
          </p:cNvPicPr>
          <p:nvPr/>
        </p:nvPicPr>
        <p:blipFill>
          <a:blip r:embed="rId5"/>
          <a:stretch>
            <a:fillRect/>
          </a:stretch>
        </p:blipFill>
        <p:spPr>
          <a:xfrm>
            <a:off x="8257032" y="5129784"/>
            <a:ext cx="182880" cy="182880"/>
          </a:xfrm>
          <a:prstGeom prst="rect">
            <a:avLst/>
          </a:prstGeom>
        </p:spPr>
      </p:pic>
      <p:sp>
        <p:nvSpPr>
          <p:cNvPr id="43" name="Text 38">
            <a:hlinkClick r:id="rId3" tooltip="Opens in ARES"/>
          </p:cNvPr>
          <p:cNvSpPr txBox="1"/>
          <p:nvPr/>
        </p:nvSpPr>
        <p:spPr>
          <a:xfrm>
            <a:off x="8549640" y="50292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Comparing animal &amp; plant cells — Khan</a:t>
            </a:r>
            <a:endParaRPr lang="en-US" sz="1200" dirty="0"/>
          </a:p>
        </p:txBody>
      </p:sp>
      <p:sp>
        <p:nvSpPr>
          <p:cNvPr id="44" name="Text 39"/>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45" name="Shape 40"/>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46" name="Image 3" descr="preencoded.png"/>
          <p:cNvPicPr>
            <a:picLocks noChangeAspect="1"/>
          </p:cNvPicPr>
          <p:nvPr/>
        </p:nvPicPr>
        <p:blipFill>
          <a:blip r:embed="rId6"/>
          <a:stretch>
            <a:fillRect/>
          </a:stretch>
        </p:blipFill>
        <p:spPr>
          <a:xfrm>
            <a:off x="9219895" y="6291072"/>
            <a:ext cx="713232" cy="384048"/>
          </a:xfrm>
          <a:prstGeom prst="rect">
            <a:avLst/>
          </a:prstGeom>
        </p:spPr>
      </p:pic>
      <p:sp>
        <p:nvSpPr>
          <p:cNvPr id="47" name="Shape 41"/>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48" name="Image 4" descr="preencoded.png"/>
          <p:cNvPicPr>
            <a:picLocks noChangeAspect="1"/>
          </p:cNvPicPr>
          <p:nvPr/>
        </p:nvPicPr>
        <p:blipFill>
          <a:blip r:embed="rId7"/>
          <a:stretch>
            <a:fillRect/>
          </a:stretch>
        </p:blipFill>
        <p:spPr>
          <a:xfrm>
            <a:off x="10106863" y="6350508"/>
            <a:ext cx="1417320" cy="2651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UNIT MAP</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Where we are in the unit</a:t>
            </a:r>
            <a:endParaRPr lang="en-US" sz="3400" dirty="0"/>
          </a:p>
        </p:txBody>
      </p:sp>
      <p:sp>
        <p:nvSpPr>
          <p:cNvPr id="5" name="Shape 3"/>
          <p:cNvSpPr/>
          <p:nvPr/>
        </p:nvSpPr>
        <p:spPr>
          <a:xfrm>
            <a:off x="914400" y="2743200"/>
            <a:ext cx="10362895" cy="0"/>
          </a:xfrm>
          <a:prstGeom prst="line">
            <a:avLst/>
          </a:prstGeom>
          <a:noFill/>
          <a:ln w="38100">
            <a:solidFill>
              <a:srgbClr val="E3E6ED"/>
            </a:solidFill>
            <a:prstDash val="solid"/>
          </a:ln>
        </p:spPr>
        <p:txBody>
          <a:bodyPr/>
          <a:lstStyle/>
          <a:p>
            <a:endParaRPr lang="en-US"/>
          </a:p>
        </p:txBody>
      </p:sp>
      <p:sp>
        <p:nvSpPr>
          <p:cNvPr id="6" name="Shape 4"/>
          <p:cNvSpPr/>
          <p:nvPr/>
        </p:nvSpPr>
        <p:spPr>
          <a:xfrm>
            <a:off x="914400" y="2743200"/>
            <a:ext cx="4710407" cy="0"/>
          </a:xfrm>
          <a:prstGeom prst="line">
            <a:avLst/>
          </a:prstGeom>
          <a:noFill/>
          <a:ln w="38100">
            <a:solidFill>
              <a:srgbClr val="111111"/>
            </a:solidFill>
            <a:prstDash val="solid"/>
          </a:ln>
        </p:spPr>
        <p:txBody>
          <a:bodyPr/>
          <a:lstStyle/>
          <a:p>
            <a:endParaRPr lang="en-US"/>
          </a:p>
        </p:txBody>
      </p:sp>
      <p:sp>
        <p:nvSpPr>
          <p:cNvPr id="7" name="Shape 5"/>
          <p:cNvSpPr/>
          <p:nvPr/>
        </p:nvSpPr>
        <p:spPr>
          <a:xfrm>
            <a:off x="676656"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8" name="Text 6"/>
          <p:cNvSpPr txBox="1"/>
          <p:nvPr/>
        </p:nvSpPr>
        <p:spPr>
          <a:xfrm>
            <a:off x="676656"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470791"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The healing cut</a:t>
            </a:r>
            <a:endParaRPr lang="en-US" sz="1050" dirty="0"/>
          </a:p>
        </p:txBody>
      </p:sp>
      <p:sp>
        <p:nvSpPr>
          <p:cNvPr id="10" name="Shape 8"/>
          <p:cNvSpPr/>
          <p:nvPr/>
        </p:nvSpPr>
        <p:spPr>
          <a:xfrm>
            <a:off x="1618737"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11" name="Text 9"/>
          <p:cNvSpPr txBox="1"/>
          <p:nvPr/>
        </p:nvSpPr>
        <p:spPr>
          <a:xfrm>
            <a:off x="1618737"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412873"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What is a cell?</a:t>
            </a:r>
            <a:endParaRPr lang="en-US" sz="1050" dirty="0"/>
          </a:p>
        </p:txBody>
      </p:sp>
      <p:sp>
        <p:nvSpPr>
          <p:cNvPr id="13" name="Shape 11"/>
          <p:cNvSpPr/>
          <p:nvPr/>
        </p:nvSpPr>
        <p:spPr>
          <a:xfrm>
            <a:off x="2560819"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14" name="Text 12"/>
          <p:cNvSpPr txBox="1"/>
          <p:nvPr/>
        </p:nvSpPr>
        <p:spPr>
          <a:xfrm>
            <a:off x="2560819"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235495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Prokaryotes &amp; eukaryotes</a:t>
            </a:r>
            <a:endParaRPr lang="en-US" sz="1050" dirty="0"/>
          </a:p>
        </p:txBody>
      </p:sp>
      <p:sp>
        <p:nvSpPr>
          <p:cNvPr id="16" name="Shape 14"/>
          <p:cNvSpPr/>
          <p:nvPr/>
        </p:nvSpPr>
        <p:spPr>
          <a:xfrm>
            <a:off x="3502900"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17" name="Text 15"/>
          <p:cNvSpPr txBox="1"/>
          <p:nvPr/>
        </p:nvSpPr>
        <p:spPr>
          <a:xfrm>
            <a:off x="3502900"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329703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Plant cells</a:t>
            </a:r>
            <a:endParaRPr lang="en-US" sz="1050" dirty="0"/>
          </a:p>
        </p:txBody>
      </p:sp>
      <p:sp>
        <p:nvSpPr>
          <p:cNvPr id="19" name="Shape 17"/>
          <p:cNvSpPr/>
          <p:nvPr/>
        </p:nvSpPr>
        <p:spPr>
          <a:xfrm>
            <a:off x="4444982" y="2505456"/>
            <a:ext cx="475488" cy="475488"/>
          </a:xfrm>
          <a:prstGeom prst="ellipse">
            <a:avLst/>
          </a:prstGeom>
          <a:solidFill>
            <a:srgbClr val="111111"/>
          </a:solidFill>
          <a:ln w="19050">
            <a:solidFill>
              <a:srgbClr val="111111"/>
            </a:solidFill>
            <a:prstDash val="solid"/>
          </a:ln>
        </p:spPr>
        <p:txBody>
          <a:bodyPr/>
          <a:lstStyle/>
          <a:p>
            <a:endParaRPr lang="en-US"/>
          </a:p>
        </p:txBody>
      </p:sp>
      <p:sp>
        <p:nvSpPr>
          <p:cNvPr id="20" name="Text 18"/>
          <p:cNvSpPr txBox="1"/>
          <p:nvPr/>
        </p:nvSpPr>
        <p:spPr>
          <a:xfrm>
            <a:off x="4444982" y="250545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423911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Animal cells</a:t>
            </a:r>
            <a:endParaRPr lang="en-US" sz="1050" dirty="0"/>
          </a:p>
        </p:txBody>
      </p:sp>
      <p:sp>
        <p:nvSpPr>
          <p:cNvPr id="22" name="Shape 20"/>
          <p:cNvSpPr/>
          <p:nvPr/>
        </p:nvSpPr>
        <p:spPr>
          <a:xfrm>
            <a:off x="5259047" y="2377440"/>
            <a:ext cx="731520" cy="731520"/>
          </a:xfrm>
          <a:prstGeom prst="ellipse">
            <a:avLst/>
          </a:prstGeom>
          <a:solidFill>
            <a:srgbClr val="47C6E4"/>
          </a:solidFill>
          <a:ln w="19050">
            <a:solidFill>
              <a:srgbClr val="47C6E4"/>
            </a:solidFill>
            <a:prstDash val="solid"/>
          </a:ln>
        </p:spPr>
        <p:txBody>
          <a:bodyPr/>
          <a:lstStyle/>
          <a:p>
            <a:endParaRPr lang="en-US"/>
          </a:p>
        </p:txBody>
      </p:sp>
      <p:sp>
        <p:nvSpPr>
          <p:cNvPr id="23" name="Text 21"/>
          <p:cNvSpPr txBox="1"/>
          <p:nvPr/>
        </p:nvSpPr>
        <p:spPr>
          <a:xfrm>
            <a:off x="5259047" y="2377440"/>
            <a:ext cx="731520" cy="73152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6</a:t>
            </a:r>
            <a:endParaRPr lang="en-US" sz="2200" dirty="0"/>
          </a:p>
        </p:txBody>
      </p:sp>
      <p:sp>
        <p:nvSpPr>
          <p:cNvPr id="24" name="Text 22"/>
          <p:cNvSpPr txBox="1"/>
          <p:nvPr/>
        </p:nvSpPr>
        <p:spPr>
          <a:xfrm>
            <a:off x="5181198" y="3200400"/>
            <a:ext cx="887217" cy="685800"/>
          </a:xfrm>
          <a:prstGeom prst="rect">
            <a:avLst/>
          </a:prstGeom>
          <a:noFill/>
          <a:ln/>
        </p:spPr>
        <p:txBody>
          <a:bodyPr wrap="square" lIns="0" tIns="0" rIns="0" bIns="0" rtlCol="0" anchor="t"/>
          <a:lstStyle/>
          <a:p>
            <a:pPr marL="0" indent="0" algn="ctr">
              <a:buNone/>
            </a:pPr>
            <a:r>
              <a:rPr lang="en-US" sz="1050" b="1" dirty="0">
                <a:solidFill>
                  <a:srgbClr val="111111"/>
                </a:solidFill>
                <a:latin typeface="Calibri" pitchFamily="34" charset="0"/>
                <a:ea typeface="Calibri" pitchFamily="34" charset="-122"/>
                <a:cs typeface="Calibri" pitchFamily="34" charset="-120"/>
              </a:rPr>
              <a:t>Onion cells (practical)</a:t>
            </a:r>
            <a:endParaRPr lang="en-US" sz="1050" dirty="0"/>
          </a:p>
        </p:txBody>
      </p:sp>
      <p:sp>
        <p:nvSpPr>
          <p:cNvPr id="25" name="Shape 23"/>
          <p:cNvSpPr/>
          <p:nvPr/>
        </p:nvSpPr>
        <p:spPr>
          <a:xfrm>
            <a:off x="6329144"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6" name="Text 24"/>
          <p:cNvSpPr txBox="1"/>
          <p:nvPr/>
        </p:nvSpPr>
        <p:spPr>
          <a:xfrm>
            <a:off x="6329144"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7</a:t>
            </a:r>
            <a:endParaRPr lang="en-US" sz="1400" dirty="0"/>
          </a:p>
        </p:txBody>
      </p:sp>
      <p:sp>
        <p:nvSpPr>
          <p:cNvPr id="27" name="Text 25"/>
          <p:cNvSpPr txBox="1"/>
          <p:nvPr/>
        </p:nvSpPr>
        <p:spPr>
          <a:xfrm>
            <a:off x="6123280"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Cheek cells (practical)</a:t>
            </a:r>
            <a:endParaRPr lang="en-US" sz="1050" dirty="0"/>
          </a:p>
        </p:txBody>
      </p:sp>
      <p:sp>
        <p:nvSpPr>
          <p:cNvPr id="28" name="Shape 26"/>
          <p:cNvSpPr/>
          <p:nvPr/>
        </p:nvSpPr>
        <p:spPr>
          <a:xfrm>
            <a:off x="7271226"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9" name="Text 27"/>
          <p:cNvSpPr txBox="1"/>
          <p:nvPr/>
        </p:nvSpPr>
        <p:spPr>
          <a:xfrm>
            <a:off x="7271226"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8</a:t>
            </a:r>
            <a:endParaRPr lang="en-US" sz="1400" dirty="0"/>
          </a:p>
        </p:txBody>
      </p:sp>
      <p:sp>
        <p:nvSpPr>
          <p:cNvPr id="30" name="Text 28"/>
          <p:cNvSpPr txBox="1"/>
          <p:nvPr/>
        </p:nvSpPr>
        <p:spPr>
          <a:xfrm>
            <a:off x="7065361"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animal cells</a:t>
            </a:r>
            <a:endParaRPr lang="en-US" sz="1050" dirty="0"/>
          </a:p>
        </p:txBody>
      </p:sp>
      <p:sp>
        <p:nvSpPr>
          <p:cNvPr id="31" name="Shape 29"/>
          <p:cNvSpPr/>
          <p:nvPr/>
        </p:nvSpPr>
        <p:spPr>
          <a:xfrm>
            <a:off x="8213307"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2" name="Text 30"/>
          <p:cNvSpPr txBox="1"/>
          <p:nvPr/>
        </p:nvSpPr>
        <p:spPr>
          <a:xfrm>
            <a:off x="8213307"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9</a:t>
            </a:r>
            <a:endParaRPr lang="en-US" sz="1400" dirty="0"/>
          </a:p>
        </p:txBody>
      </p:sp>
      <p:sp>
        <p:nvSpPr>
          <p:cNvPr id="33" name="Text 31"/>
          <p:cNvSpPr txBox="1"/>
          <p:nvPr/>
        </p:nvSpPr>
        <p:spPr>
          <a:xfrm>
            <a:off x="8007442"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plant cells</a:t>
            </a:r>
            <a:endParaRPr lang="en-US" sz="1050" dirty="0"/>
          </a:p>
        </p:txBody>
      </p:sp>
      <p:sp>
        <p:nvSpPr>
          <p:cNvPr id="34" name="Shape 32"/>
          <p:cNvSpPr/>
          <p:nvPr/>
        </p:nvSpPr>
        <p:spPr>
          <a:xfrm>
            <a:off x="9155388"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5" name="Text 33"/>
          <p:cNvSpPr txBox="1"/>
          <p:nvPr/>
        </p:nvSpPr>
        <p:spPr>
          <a:xfrm>
            <a:off x="9155388"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10</a:t>
            </a:r>
            <a:endParaRPr lang="en-US" sz="1400" dirty="0"/>
          </a:p>
        </p:txBody>
      </p:sp>
      <p:sp>
        <p:nvSpPr>
          <p:cNvPr id="36" name="Text 34"/>
          <p:cNvSpPr txBox="1"/>
          <p:nvPr/>
        </p:nvSpPr>
        <p:spPr>
          <a:xfrm>
            <a:off x="894952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Cell organisation</a:t>
            </a:r>
            <a:endParaRPr lang="en-US" sz="1050" dirty="0"/>
          </a:p>
        </p:txBody>
      </p:sp>
      <p:sp>
        <p:nvSpPr>
          <p:cNvPr id="37" name="Shape 35"/>
          <p:cNvSpPr/>
          <p:nvPr/>
        </p:nvSpPr>
        <p:spPr>
          <a:xfrm>
            <a:off x="10097470"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8" name="Text 36"/>
          <p:cNvSpPr txBox="1"/>
          <p:nvPr/>
        </p:nvSpPr>
        <p:spPr>
          <a:xfrm>
            <a:off x="10097470"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11</a:t>
            </a:r>
            <a:endParaRPr lang="en-US" sz="1400" dirty="0"/>
          </a:p>
        </p:txBody>
      </p:sp>
      <p:sp>
        <p:nvSpPr>
          <p:cNvPr id="39" name="Text 37"/>
          <p:cNvSpPr txBox="1"/>
          <p:nvPr/>
        </p:nvSpPr>
        <p:spPr>
          <a:xfrm>
            <a:off x="989160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Putting it together</a:t>
            </a:r>
            <a:endParaRPr lang="en-US" sz="1050" dirty="0"/>
          </a:p>
        </p:txBody>
      </p:sp>
      <p:sp>
        <p:nvSpPr>
          <p:cNvPr id="40" name="Shape 38"/>
          <p:cNvSpPr/>
          <p:nvPr/>
        </p:nvSpPr>
        <p:spPr>
          <a:xfrm>
            <a:off x="11039551"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41" name="Text 39"/>
          <p:cNvSpPr txBox="1"/>
          <p:nvPr/>
        </p:nvSpPr>
        <p:spPr>
          <a:xfrm>
            <a:off x="11039551"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12</a:t>
            </a:r>
            <a:endParaRPr lang="en-US" sz="1400" dirty="0"/>
          </a:p>
        </p:txBody>
      </p:sp>
      <p:sp>
        <p:nvSpPr>
          <p:cNvPr id="42" name="Text 40"/>
          <p:cNvSpPr txBox="1"/>
          <p:nvPr/>
        </p:nvSpPr>
        <p:spPr>
          <a:xfrm>
            <a:off x="1083368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Final explanation</a:t>
            </a:r>
            <a:endParaRPr lang="en-US" sz="1050" dirty="0"/>
          </a:p>
        </p:txBody>
      </p:sp>
      <p:sp>
        <p:nvSpPr>
          <p:cNvPr id="43" name="Text 41"/>
          <p:cNvSpPr txBox="1"/>
          <p:nvPr/>
        </p:nvSpPr>
        <p:spPr>
          <a:xfrm>
            <a:off x="4710407" y="1874520"/>
            <a:ext cx="1828800" cy="320040"/>
          </a:xfrm>
          <a:prstGeom prst="rect">
            <a:avLst/>
          </a:prstGeom>
          <a:noFill/>
          <a:ln/>
        </p:spPr>
        <p:txBody>
          <a:bodyPr wrap="square" lIns="0" tIns="0" rIns="0" bIns="0" rtlCol="0" anchor="ctr"/>
          <a:lstStyle/>
          <a:p>
            <a:pPr marL="0" indent="0" algn="ctr">
              <a:buNone/>
            </a:pPr>
            <a:r>
              <a:rPr lang="en-US" sz="1200" b="1" kern="0" spc="200" dirty="0">
                <a:solidFill>
                  <a:srgbClr val="0B6F87"/>
                </a:solidFill>
                <a:latin typeface="Calibri" pitchFamily="34" charset="0"/>
                <a:ea typeface="Calibri" pitchFamily="34" charset="-122"/>
                <a:cs typeface="Calibri" pitchFamily="34" charset="-120"/>
              </a:rPr>
              <a:t>YOU ARE HERE</a:t>
            </a:r>
            <a:endParaRPr lang="en-US" sz="1200" dirty="0"/>
          </a:p>
        </p:txBody>
      </p:sp>
      <p:sp>
        <p:nvSpPr>
          <p:cNvPr id="44" name="Shape 42"/>
          <p:cNvSpPr/>
          <p:nvPr/>
        </p:nvSpPr>
        <p:spPr>
          <a:xfrm>
            <a:off x="548640" y="4160520"/>
            <a:ext cx="5394960" cy="1874520"/>
          </a:xfrm>
          <a:prstGeom prst="roundRect">
            <a:avLst>
              <a:gd name="adj" fmla="val 5854"/>
            </a:avLst>
          </a:prstGeom>
          <a:solidFill>
            <a:srgbClr val="F5F6F9"/>
          </a:solidFill>
          <a:ln w="9525">
            <a:solidFill>
              <a:srgbClr val="E3E6ED"/>
            </a:solidFill>
            <a:prstDash val="solid"/>
          </a:ln>
        </p:spPr>
        <p:txBody>
          <a:bodyPr/>
          <a:lstStyle/>
          <a:p>
            <a:endParaRPr lang="en-US"/>
          </a:p>
        </p:txBody>
      </p:sp>
      <p:sp>
        <p:nvSpPr>
          <p:cNvPr id="45" name="Text 43"/>
          <p:cNvSpPr txBox="1"/>
          <p:nvPr/>
        </p:nvSpPr>
        <p:spPr>
          <a:xfrm>
            <a:off x="822960" y="4343400"/>
            <a:ext cx="4846320" cy="1554480"/>
          </a:xfrm>
          <a:prstGeom prst="rect">
            <a:avLst/>
          </a:prstGeom>
          <a:noFill/>
          <a:ln/>
        </p:spPr>
        <p:txBody>
          <a:bodyPr wrap="square" lIns="0" tIns="0" rIns="0" bIns="0" rtlCol="0" anchor="t"/>
          <a:lstStyle/>
          <a:p>
            <a:pPr marL="0" indent="0">
              <a:buNone/>
            </a:pPr>
            <a:r>
              <a:rPr lang="en-US" sz="1300" b="1" dirty="0">
                <a:solidFill>
                  <a:srgbClr val="5B6172"/>
                </a:solidFill>
                <a:latin typeface="Calibri" pitchFamily="34" charset="0"/>
                <a:ea typeface="Calibri" pitchFamily="34" charset="-122"/>
                <a:cs typeface="Calibri" pitchFamily="34" charset="-120"/>
              </a:rPr>
              <a:t>So far</a:t>
            </a:r>
            <a:endParaRPr lang="en-US" sz="1300" dirty="0"/>
          </a:p>
          <a:p>
            <a:pPr marL="0" indent="0">
              <a:buNone/>
            </a:pPr>
            <a:r>
              <a:rPr lang="en-US" sz="1700" dirty="0">
                <a:solidFill>
                  <a:srgbClr val="111111"/>
                </a:solidFill>
                <a:latin typeface="Calibri" pitchFamily="34" charset="0"/>
                <a:ea typeface="Calibri" pitchFamily="34" charset="-122"/>
                <a:cs typeface="Calibri" pitchFamily="34" charset="-120"/>
              </a:rPr>
              <a:t>We learned about plant and animal cells from diagrams. Today we look at REAL cells.</a:t>
            </a:r>
            <a:endParaRPr lang="en-US" sz="1300" dirty="0"/>
          </a:p>
        </p:txBody>
      </p:sp>
      <p:sp>
        <p:nvSpPr>
          <p:cNvPr id="46" name="Shape 44"/>
          <p:cNvSpPr/>
          <p:nvPr/>
        </p:nvSpPr>
        <p:spPr>
          <a:xfrm>
            <a:off x="6263640" y="4160520"/>
            <a:ext cx="5394960" cy="1874520"/>
          </a:xfrm>
          <a:prstGeom prst="roundRect">
            <a:avLst>
              <a:gd name="adj" fmla="val 5854"/>
            </a:avLst>
          </a:prstGeom>
          <a:solidFill>
            <a:srgbClr val="E3F6FB"/>
          </a:solidFill>
          <a:ln w="9525">
            <a:solidFill>
              <a:srgbClr val="E3F6FB"/>
            </a:solidFill>
            <a:prstDash val="solid"/>
          </a:ln>
        </p:spPr>
        <p:txBody>
          <a:bodyPr/>
          <a:lstStyle/>
          <a:p>
            <a:endParaRPr lang="en-US"/>
          </a:p>
        </p:txBody>
      </p:sp>
      <p:sp>
        <p:nvSpPr>
          <p:cNvPr id="47" name="Text 45"/>
          <p:cNvSpPr txBox="1"/>
          <p:nvPr/>
        </p:nvSpPr>
        <p:spPr>
          <a:xfrm>
            <a:off x="6537960" y="4343400"/>
            <a:ext cx="4846320" cy="1554480"/>
          </a:xfrm>
          <a:prstGeom prst="rect">
            <a:avLst/>
          </a:prstGeom>
          <a:noFill/>
          <a:ln/>
        </p:spPr>
        <p:txBody>
          <a:bodyPr wrap="square" lIns="0" tIns="0" rIns="0" bIns="0" rtlCol="0" anchor="t"/>
          <a:lstStyle/>
          <a:p>
            <a:pPr marL="0" indent="0">
              <a:buNone/>
            </a:pPr>
            <a:r>
              <a:rPr lang="en-US" sz="1300" b="1" dirty="0">
                <a:solidFill>
                  <a:srgbClr val="0B6F87"/>
                </a:solidFill>
                <a:latin typeface="Calibri" pitchFamily="34" charset="0"/>
                <a:ea typeface="Calibri" pitchFamily="34" charset="-122"/>
                <a:cs typeface="Calibri" pitchFamily="34" charset="-120"/>
              </a:rPr>
              <a:t>Driving question for the whole unit</a:t>
            </a:r>
            <a:endParaRPr lang="en-US" sz="1300" dirty="0"/>
          </a:p>
          <a:p>
            <a:pPr marL="0" indent="0">
              <a:buNone/>
            </a:pPr>
            <a:r>
              <a:rPr lang="en-US" sz="1700" b="1" dirty="0">
                <a:solidFill>
                  <a:srgbClr val="111111"/>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1300" dirty="0"/>
          </a:p>
        </p:txBody>
      </p:sp>
      <p:sp>
        <p:nvSpPr>
          <p:cNvPr id="48" name="Text 46"/>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49" name="Shape 47"/>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50"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51" name="Shape 48"/>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52"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By the end of this lesson you can…</a:t>
            </a:r>
            <a:endParaRPr lang="en-US" sz="3400" dirty="0"/>
          </a:p>
        </p:txBody>
      </p:sp>
      <p:sp>
        <p:nvSpPr>
          <p:cNvPr id="5" name="Shape 3"/>
          <p:cNvSpPr/>
          <p:nvPr/>
        </p:nvSpPr>
        <p:spPr>
          <a:xfrm>
            <a:off x="548640" y="192024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6150" y="2117750"/>
            <a:ext cx="336499" cy="336499"/>
          </a:xfrm>
          <a:prstGeom prst="rect">
            <a:avLst/>
          </a:prstGeom>
        </p:spPr>
      </p:pic>
      <p:sp>
        <p:nvSpPr>
          <p:cNvPr id="7" name="Text 4"/>
          <p:cNvSpPr txBox="1"/>
          <p:nvPr/>
        </p:nvSpPr>
        <p:spPr>
          <a:xfrm>
            <a:off x="1508760" y="192024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Make </a:t>
            </a:r>
            <a:r>
              <a:rPr lang="en-US" sz="2000" dirty="0">
                <a:solidFill>
                  <a:srgbClr val="111111"/>
                </a:solidFill>
                <a:latin typeface="Calibri" pitchFamily="34" charset="0"/>
                <a:ea typeface="Calibri" pitchFamily="34" charset="-122"/>
                <a:cs typeface="Calibri" pitchFamily="34" charset="-120"/>
              </a:rPr>
              <a:t>a temporary slide of onion skin and stain it.</a:t>
            </a:r>
            <a:endParaRPr lang="en-US" sz="2000" dirty="0"/>
          </a:p>
        </p:txBody>
      </p:sp>
      <p:sp>
        <p:nvSpPr>
          <p:cNvPr id="8" name="Shape 5"/>
          <p:cNvSpPr/>
          <p:nvPr/>
        </p:nvSpPr>
        <p:spPr>
          <a:xfrm>
            <a:off x="548640" y="3108960"/>
            <a:ext cx="731520" cy="731520"/>
          </a:xfrm>
          <a:prstGeom prst="ellipse">
            <a:avLst/>
          </a:prstGeom>
          <a:solidFill>
            <a:srgbClr val="D7DF23"/>
          </a:solidFill>
          <a:ln w="12700">
            <a:solidFill>
              <a:srgbClr val="D7DF23"/>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46150" y="3306470"/>
            <a:ext cx="336499" cy="336499"/>
          </a:xfrm>
          <a:prstGeom prst="rect">
            <a:avLst/>
          </a:prstGeom>
        </p:spPr>
      </p:pic>
      <p:sp>
        <p:nvSpPr>
          <p:cNvPr id="10" name="Text 6"/>
          <p:cNvSpPr txBox="1"/>
          <p:nvPr/>
        </p:nvSpPr>
        <p:spPr>
          <a:xfrm>
            <a:off x="1508760" y="310896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Observe and draw </a:t>
            </a:r>
            <a:r>
              <a:rPr lang="en-US" sz="2000" dirty="0">
                <a:solidFill>
                  <a:srgbClr val="111111"/>
                </a:solidFill>
                <a:latin typeface="Calibri" pitchFamily="34" charset="0"/>
                <a:ea typeface="Calibri" pitchFamily="34" charset="-122"/>
                <a:cs typeface="Calibri" pitchFamily="34" charset="-120"/>
              </a:rPr>
              <a:t>onion cells at low and high power.</a:t>
            </a:r>
            <a:endParaRPr lang="en-US" sz="2000" dirty="0"/>
          </a:p>
        </p:txBody>
      </p:sp>
      <p:sp>
        <p:nvSpPr>
          <p:cNvPr id="11" name="Shape 7"/>
          <p:cNvSpPr/>
          <p:nvPr/>
        </p:nvSpPr>
        <p:spPr>
          <a:xfrm>
            <a:off x="548640" y="4297680"/>
            <a:ext cx="731520" cy="731520"/>
          </a:xfrm>
          <a:prstGeom prst="ellipse">
            <a:avLst/>
          </a:prstGeom>
          <a:solidFill>
            <a:srgbClr val="CF128C"/>
          </a:solidFill>
          <a:ln w="12700">
            <a:solidFill>
              <a:srgbClr val="CF128C"/>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746150" y="4495190"/>
            <a:ext cx="336499" cy="336499"/>
          </a:xfrm>
          <a:prstGeom prst="rect">
            <a:avLst/>
          </a:prstGeom>
        </p:spPr>
      </p:pic>
      <p:sp>
        <p:nvSpPr>
          <p:cNvPr id="13" name="Text 8"/>
          <p:cNvSpPr txBox="1"/>
          <p:nvPr/>
        </p:nvSpPr>
        <p:spPr>
          <a:xfrm>
            <a:off x="1508760" y="4297680"/>
            <a:ext cx="585216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Explain </a:t>
            </a:r>
            <a:r>
              <a:rPr lang="en-US" sz="2000" dirty="0">
                <a:solidFill>
                  <a:srgbClr val="111111"/>
                </a:solidFill>
                <a:latin typeface="Calibri" pitchFamily="34" charset="0"/>
                <a:ea typeface="Calibri" pitchFamily="34" charset="-122"/>
                <a:cs typeface="Calibri" pitchFamily="34" charset="-120"/>
              </a:rPr>
              <a:t>why onion skin cells have no chloroplasts.</a:t>
            </a:r>
            <a:endParaRPr lang="en-US" sz="2000" dirty="0"/>
          </a:p>
        </p:txBody>
      </p:sp>
      <p:sp>
        <p:nvSpPr>
          <p:cNvPr id="14" name="Shape 9"/>
          <p:cNvSpPr/>
          <p:nvPr/>
        </p:nvSpPr>
        <p:spPr>
          <a:xfrm>
            <a:off x="7680960" y="1874520"/>
            <a:ext cx="3959352" cy="3749040"/>
          </a:xfrm>
          <a:prstGeom prst="roundRect">
            <a:avLst>
              <a:gd name="adj" fmla="val 2927"/>
            </a:avLst>
          </a:prstGeom>
          <a:solidFill>
            <a:srgbClr val="F5F6F9"/>
          </a:solidFill>
          <a:ln w="9525">
            <a:solidFill>
              <a:srgbClr val="E3E6ED"/>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7973568" y="2148840"/>
            <a:ext cx="329184" cy="329184"/>
          </a:xfrm>
          <a:prstGeom prst="rect">
            <a:avLst/>
          </a:prstGeom>
        </p:spPr>
      </p:pic>
      <p:sp>
        <p:nvSpPr>
          <p:cNvPr id="16" name="Text 10"/>
          <p:cNvSpPr txBox="1"/>
          <p:nvPr/>
        </p:nvSpPr>
        <p:spPr>
          <a:xfrm>
            <a:off x="8458200" y="2103120"/>
            <a:ext cx="2743200" cy="411480"/>
          </a:xfrm>
          <a:prstGeom prst="rect">
            <a:avLst/>
          </a:prstGeom>
          <a:noFill/>
          <a:ln/>
        </p:spPr>
        <p:txBody>
          <a:bodyPr wrap="square" lIns="0" tIns="0" rIns="0" bIns="0" rtlCol="0" anchor="ctr"/>
          <a:lstStyle/>
          <a:p>
            <a:pPr marL="0" indent="0">
              <a:buNone/>
            </a:pPr>
            <a:r>
              <a:rPr lang="en-US" sz="1800" b="1" dirty="0">
                <a:solidFill>
                  <a:srgbClr val="111111"/>
                </a:solidFill>
                <a:latin typeface="Calibri" pitchFamily="34" charset="0"/>
                <a:ea typeface="Calibri" pitchFamily="34" charset="-122"/>
                <a:cs typeface="Calibri" pitchFamily="34" charset="-120"/>
              </a:rPr>
              <a:t>Key words</a:t>
            </a:r>
            <a:endParaRPr lang="en-US" sz="1800" dirty="0"/>
          </a:p>
        </p:txBody>
      </p:sp>
      <p:sp>
        <p:nvSpPr>
          <p:cNvPr id="17" name="Text 11"/>
          <p:cNvSpPr txBox="1"/>
          <p:nvPr/>
        </p:nvSpPr>
        <p:spPr>
          <a:xfrm>
            <a:off x="7973568" y="2651760"/>
            <a:ext cx="3474720" cy="2834640"/>
          </a:xfrm>
          <a:prstGeom prst="rect">
            <a:avLst/>
          </a:prstGeom>
          <a:noFill/>
          <a:ln/>
        </p:spPr>
        <p:txBody>
          <a:bodyPr wrap="square" lIns="0" tIns="0" rIns="0" bIns="0" rtlCol="0" anchor="t"/>
          <a:lstStyle/>
          <a:p>
            <a:pPr marL="0" indent="0">
              <a:buNone/>
            </a:pPr>
            <a:r>
              <a:rPr lang="en-US" sz="1300" b="1" dirty="0">
                <a:solidFill>
                  <a:srgbClr val="111111"/>
                </a:solidFill>
                <a:latin typeface="Calibri" pitchFamily="34" charset="0"/>
                <a:ea typeface="Calibri" pitchFamily="34" charset="-122"/>
                <a:cs typeface="Calibri" pitchFamily="34" charset="-120"/>
              </a:rPr>
              <a:t>epidermis</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the thin outer layer of skin on a leaf or onion layer</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temporary slide</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slide you make in class (a “wet mount”)</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stain</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dye, e.g. iodine, that makes parts visible</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magnification</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how many times bigger the image looks</a:t>
            </a:r>
            <a:endParaRPr lang="en-US" sz="1300" dirty="0"/>
          </a:p>
          <a:p>
            <a:pPr marL="0" indent="0">
              <a:buNone/>
            </a:pPr>
            <a:r>
              <a:rPr lang="en-US" sz="4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specialisation</a:t>
            </a:r>
            <a:endParaRPr lang="en-US" sz="1300" dirty="0"/>
          </a:p>
          <a:p>
            <a:pPr marL="0" indent="0">
              <a:buNone/>
            </a:pPr>
            <a:r>
              <a:rPr lang="en-US" sz="1300" dirty="0">
                <a:solidFill>
                  <a:srgbClr val="5B6172"/>
                </a:solidFill>
                <a:latin typeface="Calibri" pitchFamily="34" charset="0"/>
                <a:ea typeface="Calibri" pitchFamily="34" charset="-122"/>
                <a:cs typeface="Calibri" pitchFamily="34" charset="-120"/>
              </a:rPr>
              <a:t>a cell having only the parts it needs for its job</a:t>
            </a:r>
            <a:endParaRPr lang="en-US" sz="1300" dirty="0"/>
          </a:p>
        </p:txBody>
      </p:sp>
      <p:sp>
        <p:nvSpPr>
          <p:cNvPr id="18" name="Text 1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19" name="Shape 13"/>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0" name="Image 4" descr="preencoded.png"/>
          <p:cNvPicPr>
            <a:picLocks noChangeAspect="1"/>
          </p:cNvPicPr>
          <p:nvPr/>
        </p:nvPicPr>
        <p:blipFill>
          <a:blip r:embed="rId6"/>
          <a:stretch>
            <a:fillRect/>
          </a:stretch>
        </p:blipFill>
        <p:spPr>
          <a:xfrm>
            <a:off x="9219895" y="6291072"/>
            <a:ext cx="713232" cy="384048"/>
          </a:xfrm>
          <a:prstGeom prst="rect">
            <a:avLst/>
          </a:prstGeom>
        </p:spPr>
      </p:pic>
      <p:sp>
        <p:nvSpPr>
          <p:cNvPr id="21" name="Shape 1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2" name="Image 5" descr="preencoded.png"/>
          <p:cNvPicPr>
            <a:picLocks noChangeAspect="1"/>
          </p:cNvPicPr>
          <p:nvPr/>
        </p:nvPicPr>
        <p:blipFill>
          <a:blip r:embed="rId7"/>
          <a:stretch>
            <a:fillRect/>
          </a:stretch>
        </p:blipFill>
        <p:spPr>
          <a:xfrm>
            <a:off x="10106863" y="6350508"/>
            <a:ext cx="1417320" cy="2651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01168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201168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SAFETY FIRST</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Five rules for today’s practical</a:t>
            </a:r>
            <a:endParaRPr lang="en-US" sz="3400" dirty="0"/>
          </a:p>
        </p:txBody>
      </p:sp>
      <p:sp>
        <p:nvSpPr>
          <p:cNvPr id="5" name="Shape 3"/>
          <p:cNvSpPr/>
          <p:nvPr/>
        </p:nvSpPr>
        <p:spPr>
          <a:xfrm>
            <a:off x="548640" y="1783080"/>
            <a:ext cx="594360" cy="594360"/>
          </a:xfrm>
          <a:prstGeom prst="ellipse">
            <a:avLst/>
          </a:prstGeom>
          <a:solidFill>
            <a:srgbClr val="E44145"/>
          </a:solidFill>
          <a:ln w="12700">
            <a:solidFill>
              <a:srgbClr val="E4414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09117" y="1943557"/>
            <a:ext cx="273406" cy="273406"/>
          </a:xfrm>
          <a:prstGeom prst="rect">
            <a:avLst/>
          </a:prstGeom>
        </p:spPr>
      </p:pic>
      <p:sp>
        <p:nvSpPr>
          <p:cNvPr id="7" name="Text 4"/>
          <p:cNvSpPr txBox="1"/>
          <p:nvPr/>
        </p:nvSpPr>
        <p:spPr>
          <a:xfrm>
            <a:off x="1371600" y="1783080"/>
            <a:ext cx="10241280" cy="594360"/>
          </a:xfrm>
          <a:prstGeom prst="rect">
            <a:avLst/>
          </a:prstGeom>
          <a:noFill/>
          <a:ln/>
        </p:spPr>
        <p:txBody>
          <a:bodyPr wrap="square" lIns="0" tIns="0" rIns="0" bIns="0" rtlCol="0" anchor="ctr"/>
          <a:lstStyle/>
          <a:p>
            <a:pPr marL="0" indent="0">
              <a:buNone/>
            </a:pPr>
            <a:r>
              <a:rPr lang="en-US" sz="2000" dirty="0">
                <a:solidFill>
                  <a:srgbClr val="111111"/>
                </a:solidFill>
                <a:latin typeface="Calibri" pitchFamily="34" charset="0"/>
                <a:ea typeface="Calibri" pitchFamily="34" charset="-122"/>
                <a:cs typeface="Calibri" pitchFamily="34" charset="-120"/>
              </a:rPr>
              <a:t>Wear goggles when you use iodine. Keep it off your skin and out of your eyes.</a:t>
            </a:r>
            <a:endParaRPr lang="en-US" sz="2000" dirty="0"/>
          </a:p>
        </p:txBody>
      </p:sp>
      <p:sp>
        <p:nvSpPr>
          <p:cNvPr id="8" name="Shape 5"/>
          <p:cNvSpPr/>
          <p:nvPr/>
        </p:nvSpPr>
        <p:spPr>
          <a:xfrm>
            <a:off x="548640" y="2560320"/>
            <a:ext cx="594360" cy="594360"/>
          </a:xfrm>
          <a:prstGeom prst="ellipse">
            <a:avLst/>
          </a:prstGeom>
          <a:solidFill>
            <a:srgbClr val="E44145"/>
          </a:solidFill>
          <a:ln w="12700">
            <a:solidFill>
              <a:srgbClr val="E44145"/>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09117" y="2720797"/>
            <a:ext cx="273406" cy="273406"/>
          </a:xfrm>
          <a:prstGeom prst="rect">
            <a:avLst/>
          </a:prstGeom>
        </p:spPr>
      </p:pic>
      <p:sp>
        <p:nvSpPr>
          <p:cNvPr id="10" name="Text 6"/>
          <p:cNvSpPr txBox="1"/>
          <p:nvPr/>
        </p:nvSpPr>
        <p:spPr>
          <a:xfrm>
            <a:off x="1371600" y="2560320"/>
            <a:ext cx="10241280" cy="594360"/>
          </a:xfrm>
          <a:prstGeom prst="rect">
            <a:avLst/>
          </a:prstGeom>
          <a:noFill/>
          <a:ln/>
        </p:spPr>
        <p:txBody>
          <a:bodyPr wrap="square" lIns="0" tIns="0" rIns="0" bIns="0" rtlCol="0" anchor="ctr"/>
          <a:lstStyle/>
          <a:p>
            <a:pPr marL="0" indent="0">
              <a:buNone/>
            </a:pPr>
            <a:r>
              <a:rPr lang="en-US" sz="2000" dirty="0">
                <a:solidFill>
                  <a:srgbClr val="111111"/>
                </a:solidFill>
                <a:latin typeface="Calibri" pitchFamily="34" charset="0"/>
                <a:ea typeface="Calibri" pitchFamily="34" charset="-122"/>
                <a:cs typeface="Calibri" pitchFamily="34" charset="-120"/>
              </a:rPr>
              <a:t>Glass slides and coverslips break. Hold them by the edges.</a:t>
            </a:r>
            <a:endParaRPr lang="en-US" sz="2000" dirty="0"/>
          </a:p>
        </p:txBody>
      </p:sp>
      <p:sp>
        <p:nvSpPr>
          <p:cNvPr id="11" name="Shape 7"/>
          <p:cNvSpPr/>
          <p:nvPr/>
        </p:nvSpPr>
        <p:spPr>
          <a:xfrm>
            <a:off x="548640" y="3337560"/>
            <a:ext cx="594360" cy="594360"/>
          </a:xfrm>
          <a:prstGeom prst="ellipse">
            <a:avLst/>
          </a:prstGeom>
          <a:solidFill>
            <a:srgbClr val="E44145"/>
          </a:solidFill>
          <a:ln w="12700">
            <a:solidFill>
              <a:srgbClr val="E44145"/>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09117" y="3498037"/>
            <a:ext cx="273406" cy="273406"/>
          </a:xfrm>
          <a:prstGeom prst="rect">
            <a:avLst/>
          </a:prstGeom>
        </p:spPr>
      </p:pic>
      <p:sp>
        <p:nvSpPr>
          <p:cNvPr id="13" name="Text 8"/>
          <p:cNvSpPr txBox="1"/>
          <p:nvPr/>
        </p:nvSpPr>
        <p:spPr>
          <a:xfrm>
            <a:off x="1371600" y="3337560"/>
            <a:ext cx="10241280" cy="594360"/>
          </a:xfrm>
          <a:prstGeom prst="rect">
            <a:avLst/>
          </a:prstGeom>
          <a:noFill/>
          <a:ln/>
        </p:spPr>
        <p:txBody>
          <a:bodyPr wrap="square" lIns="0" tIns="0" rIns="0" bIns="0" rtlCol="0" anchor="ctr"/>
          <a:lstStyle/>
          <a:p>
            <a:pPr marL="0" indent="0">
              <a:buNone/>
            </a:pPr>
            <a:r>
              <a:rPr lang="en-US" sz="2000" dirty="0">
                <a:solidFill>
                  <a:srgbClr val="111111"/>
                </a:solidFill>
                <a:latin typeface="Calibri" pitchFamily="34" charset="0"/>
                <a:ea typeface="Calibri" pitchFamily="34" charset="-122"/>
                <a:cs typeface="Calibri" pitchFamily="34" charset="-120"/>
              </a:rPr>
              <a:t>Broken glass? Tell your teacher. It goes in the glass container — never the bin.</a:t>
            </a:r>
            <a:endParaRPr lang="en-US" sz="2000" dirty="0"/>
          </a:p>
        </p:txBody>
      </p:sp>
      <p:sp>
        <p:nvSpPr>
          <p:cNvPr id="14" name="Shape 9"/>
          <p:cNvSpPr/>
          <p:nvPr/>
        </p:nvSpPr>
        <p:spPr>
          <a:xfrm>
            <a:off x="548640" y="4114800"/>
            <a:ext cx="594360" cy="594360"/>
          </a:xfrm>
          <a:prstGeom prst="ellipse">
            <a:avLst/>
          </a:prstGeom>
          <a:solidFill>
            <a:srgbClr val="E44145"/>
          </a:solidFill>
          <a:ln w="12700">
            <a:solidFill>
              <a:srgbClr val="E44145"/>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709117" y="4275277"/>
            <a:ext cx="273406" cy="273406"/>
          </a:xfrm>
          <a:prstGeom prst="rect">
            <a:avLst/>
          </a:prstGeom>
        </p:spPr>
      </p:pic>
      <p:sp>
        <p:nvSpPr>
          <p:cNvPr id="16" name="Text 10"/>
          <p:cNvSpPr txBox="1"/>
          <p:nvPr/>
        </p:nvSpPr>
        <p:spPr>
          <a:xfrm>
            <a:off x="1371600" y="4114800"/>
            <a:ext cx="10241280" cy="594360"/>
          </a:xfrm>
          <a:prstGeom prst="rect">
            <a:avLst/>
          </a:prstGeom>
          <a:noFill/>
          <a:ln/>
        </p:spPr>
        <p:txBody>
          <a:bodyPr wrap="square" lIns="0" tIns="0" rIns="0" bIns="0" rtlCol="0" anchor="ctr"/>
          <a:lstStyle/>
          <a:p>
            <a:pPr marL="0" indent="0">
              <a:buNone/>
            </a:pPr>
            <a:r>
              <a:rPr lang="en-US" sz="2000" dirty="0">
                <a:solidFill>
                  <a:srgbClr val="111111"/>
                </a:solidFill>
                <a:latin typeface="Calibri" pitchFamily="34" charset="0"/>
                <a:ea typeface="Calibri" pitchFamily="34" charset="-122"/>
                <a:cs typeface="Calibri" pitchFamily="34" charset="-120"/>
              </a:rPr>
              <a:t>No blades or scalpels. Peel the onion by hand and use forceps.</a:t>
            </a:r>
            <a:endParaRPr lang="en-US" sz="2000" dirty="0"/>
          </a:p>
        </p:txBody>
      </p:sp>
      <p:sp>
        <p:nvSpPr>
          <p:cNvPr id="17" name="Shape 11"/>
          <p:cNvSpPr/>
          <p:nvPr/>
        </p:nvSpPr>
        <p:spPr>
          <a:xfrm>
            <a:off x="548640" y="4892040"/>
            <a:ext cx="594360" cy="594360"/>
          </a:xfrm>
          <a:prstGeom prst="ellipse">
            <a:avLst/>
          </a:prstGeom>
          <a:solidFill>
            <a:srgbClr val="E44145"/>
          </a:solidFill>
          <a:ln w="12700">
            <a:solidFill>
              <a:srgbClr val="E44145"/>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709117" y="5052517"/>
            <a:ext cx="273406" cy="273406"/>
          </a:xfrm>
          <a:prstGeom prst="rect">
            <a:avLst/>
          </a:prstGeom>
        </p:spPr>
      </p:pic>
      <p:sp>
        <p:nvSpPr>
          <p:cNvPr id="19" name="Text 12"/>
          <p:cNvSpPr txBox="1"/>
          <p:nvPr/>
        </p:nvSpPr>
        <p:spPr>
          <a:xfrm>
            <a:off x="1371600" y="4892040"/>
            <a:ext cx="10241280" cy="594360"/>
          </a:xfrm>
          <a:prstGeom prst="rect">
            <a:avLst/>
          </a:prstGeom>
          <a:noFill/>
          <a:ln/>
        </p:spPr>
        <p:txBody>
          <a:bodyPr wrap="square" lIns="0" tIns="0" rIns="0" bIns="0" rtlCol="0" anchor="ctr"/>
          <a:lstStyle/>
          <a:p>
            <a:pPr marL="0" indent="0">
              <a:buNone/>
            </a:pPr>
            <a:r>
              <a:rPr lang="en-US" sz="2000" dirty="0">
                <a:solidFill>
                  <a:srgbClr val="111111"/>
                </a:solidFill>
                <a:latin typeface="Calibri" pitchFamily="34" charset="0"/>
                <a:ea typeface="Calibri" pitchFamily="34" charset="-122"/>
                <a:cs typeface="Calibri" pitchFamily="34" charset="-120"/>
              </a:rPr>
              <a:t>Keep microscope cables away from walkways.</a:t>
            </a:r>
            <a:endParaRPr lang="en-US" sz="2000" dirty="0"/>
          </a:p>
        </p:txBody>
      </p:sp>
      <p:sp>
        <p:nvSpPr>
          <p:cNvPr id="20" name="Text 1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21" name="Shape 1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2" name="Image 5" descr="preencoded.png"/>
          <p:cNvPicPr>
            <a:picLocks noChangeAspect="1"/>
          </p:cNvPicPr>
          <p:nvPr/>
        </p:nvPicPr>
        <p:blipFill>
          <a:blip r:embed="rId8"/>
          <a:stretch>
            <a:fillRect/>
          </a:stretch>
        </p:blipFill>
        <p:spPr>
          <a:xfrm>
            <a:off x="9219895" y="6291072"/>
            <a:ext cx="713232" cy="384048"/>
          </a:xfrm>
          <a:prstGeom prst="rect">
            <a:avLst/>
          </a:prstGeom>
        </p:spPr>
      </p:pic>
      <p:sp>
        <p:nvSpPr>
          <p:cNvPr id="23" name="Shape 1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4" name="Image 6" descr="preencoded.png"/>
          <p:cNvPicPr>
            <a:picLocks noChangeAspect="1"/>
          </p:cNvPicPr>
          <p:nvPr/>
        </p:nvPicPr>
        <p:blipFill>
          <a:blip r:embed="rId9"/>
          <a:stretch>
            <a:fillRect/>
          </a:stretch>
        </p:blipFill>
        <p:spPr>
          <a:xfrm>
            <a:off x="10106863" y="6350508"/>
            <a:ext cx="1417320" cy="2651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200" b="1" dirty="0">
                <a:solidFill>
                  <a:srgbClr val="111111"/>
                </a:solidFill>
                <a:latin typeface="Calibri" pitchFamily="34" charset="0"/>
                <a:ea typeface="Calibri" pitchFamily="34" charset="-122"/>
                <a:cs typeface="Calibri" pitchFamily="34" charset="-120"/>
              </a:rPr>
              <a:t>What will ONE onion skin cell look like under a microscope?</a:t>
            </a:r>
            <a:endParaRPr lang="en-US" sz="32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74520"/>
            <a:ext cx="7223760" cy="2926080"/>
          </a:xfrm>
          <a:prstGeom prst="roundRect">
            <a:avLst>
              <a:gd name="adj" fmla="val 3750"/>
            </a:avLst>
          </a:prstGeom>
          <a:solidFill>
            <a:srgbClr val="E3F6FB"/>
          </a:solidFill>
          <a:ln w="9525">
            <a:solidFill>
              <a:srgbClr val="E3F6FB"/>
            </a:solidFill>
            <a:prstDash val="solid"/>
          </a:ln>
        </p:spPr>
        <p:txBody>
          <a:bodyPr/>
          <a:lstStyle/>
          <a:p>
            <a:endParaRPr lang="en-US"/>
          </a:p>
        </p:txBody>
      </p:sp>
      <p:sp>
        <p:nvSpPr>
          <p:cNvPr id="11" name="Shape 7"/>
          <p:cNvSpPr/>
          <p:nvPr/>
        </p:nvSpPr>
        <p:spPr>
          <a:xfrm>
            <a:off x="868680" y="214884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66190" y="2346350"/>
            <a:ext cx="336499" cy="336499"/>
          </a:xfrm>
          <a:prstGeom prst="rect">
            <a:avLst/>
          </a:prstGeom>
        </p:spPr>
      </p:pic>
      <p:sp>
        <p:nvSpPr>
          <p:cNvPr id="13" name="Text 8"/>
          <p:cNvSpPr txBox="1"/>
          <p:nvPr/>
        </p:nvSpPr>
        <p:spPr>
          <a:xfrm>
            <a:off x="1828800" y="2148840"/>
            <a:ext cx="5760720" cy="2560320"/>
          </a:xfrm>
          <a:prstGeom prst="rect">
            <a:avLst/>
          </a:prstGeom>
          <a:noFill/>
          <a:ln/>
        </p:spPr>
        <p:txBody>
          <a:bodyPr wrap="square" lIns="0" tIns="0" rIns="0" bIns="0" rtlCol="0" anchor="t"/>
          <a:lstStyle/>
          <a:p>
            <a:pPr marL="0" indent="0">
              <a:spcAft>
                <a:spcPts val="600"/>
              </a:spcAft>
              <a:buNone/>
            </a:pPr>
            <a:r>
              <a:rPr lang="en-US" sz="1900" b="1" dirty="0">
                <a:solidFill>
                  <a:srgbClr val="111111"/>
                </a:solidFill>
                <a:latin typeface="Calibri" pitchFamily="34" charset="0"/>
                <a:ea typeface="Calibri" pitchFamily="34" charset="-122"/>
                <a:cs typeface="Calibri" pitchFamily="34" charset="-120"/>
              </a:rPr>
              <a:t>In your practical book:</a:t>
            </a:r>
            <a:endParaRPr lang="en-US" sz="1900" dirty="0"/>
          </a:p>
          <a:p>
            <a:pPr marL="342900" indent="-342900">
              <a:spcAft>
                <a:spcPts val="600"/>
              </a:spcAft>
              <a:buSzPct val="100000"/>
              <a:buFont typeface="+mj-lt"/>
              <a:buAutoNum type="arabicPeriod"/>
            </a:pPr>
            <a:r>
              <a:rPr lang="en-US" sz="1900" dirty="0">
                <a:solidFill>
                  <a:srgbClr val="111111"/>
                </a:solidFill>
                <a:latin typeface="Calibri" pitchFamily="34" charset="0"/>
                <a:ea typeface="Calibri" pitchFamily="34" charset="-122"/>
                <a:cs typeface="Calibri" pitchFamily="34" charset="-120"/>
              </a:rPr>
              <a:t>Sketch one onion skin cell. Label every structure you expect to see.</a:t>
            </a:r>
            <a:endParaRPr lang="en-US" sz="1900" dirty="0"/>
          </a:p>
          <a:p>
            <a:pPr marL="342900" indent="-342900">
              <a:spcAft>
                <a:spcPts val="600"/>
              </a:spcAft>
              <a:buSzPct val="100000"/>
              <a:buFont typeface="+mj-lt"/>
              <a:buAutoNum type="arabicPeriod"/>
            </a:pPr>
            <a:r>
              <a:rPr lang="en-US" sz="1900" dirty="0">
                <a:solidFill>
                  <a:srgbClr val="111111"/>
                </a:solidFill>
                <a:latin typeface="Calibri" pitchFamily="34" charset="0"/>
                <a:ea typeface="Calibri" pitchFamily="34" charset="-122"/>
                <a:cs typeface="Calibri" pitchFamily="34" charset="-120"/>
              </a:rPr>
              <a:t>List every structure you expect to see.</a:t>
            </a:r>
            <a:endParaRPr lang="en-US" sz="1900" dirty="0"/>
          </a:p>
          <a:p>
            <a:pPr marL="342900" indent="-342900">
              <a:spcAft>
                <a:spcPts val="600"/>
              </a:spcAft>
              <a:buSzPct val="100000"/>
              <a:buFont typeface="+mj-lt"/>
              <a:buAutoNum type="arabicPeriod"/>
            </a:pPr>
            <a:r>
              <a:rPr lang="en-US" sz="1900" b="1" dirty="0">
                <a:solidFill>
                  <a:srgbClr val="111111"/>
                </a:solidFill>
                <a:latin typeface="Calibri" pitchFamily="34" charset="0"/>
                <a:ea typeface="Calibri" pitchFamily="34" charset="-122"/>
                <a:cs typeface="Calibri" pitchFamily="34" charset="-120"/>
              </a:rPr>
              <a:t>Will there be chloroplasts? Explain your reasoning.</a:t>
            </a:r>
            <a:endParaRPr lang="en-US" sz="1900" dirty="0"/>
          </a:p>
        </p:txBody>
      </p:sp>
      <p:sp>
        <p:nvSpPr>
          <p:cNvPr id="14" name="Shape 9"/>
          <p:cNvSpPr/>
          <p:nvPr/>
        </p:nvSpPr>
        <p:spPr>
          <a:xfrm>
            <a:off x="8138160" y="187452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321040" y="2029968"/>
            <a:ext cx="237744" cy="237744"/>
          </a:xfrm>
          <a:prstGeom prst="rect">
            <a:avLst/>
          </a:prstGeom>
        </p:spPr>
      </p:pic>
      <p:sp>
        <p:nvSpPr>
          <p:cNvPr id="16" name="Text 10"/>
          <p:cNvSpPr txBox="1"/>
          <p:nvPr/>
        </p:nvSpPr>
        <p:spPr>
          <a:xfrm>
            <a:off x="8641080" y="187452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4:00</a:t>
            </a:r>
            <a:endParaRPr lang="en-US" sz="2200" dirty="0"/>
          </a:p>
        </p:txBody>
      </p:sp>
      <p:sp>
        <p:nvSpPr>
          <p:cNvPr id="17" name="Text 11"/>
          <p:cNvSpPr txBox="1"/>
          <p:nvPr/>
        </p:nvSpPr>
        <p:spPr>
          <a:xfrm>
            <a:off x="8138160" y="2514600"/>
            <a:ext cx="3474720" cy="365760"/>
          </a:xfrm>
          <a:prstGeom prst="rect">
            <a:avLst/>
          </a:prstGeom>
          <a:noFill/>
          <a:ln/>
        </p:spPr>
        <p:txBody>
          <a:bodyPr wrap="square" lIns="0" tIns="0" rIns="0" bIns="0" rtlCol="0" anchor="ctr"/>
          <a:lstStyle/>
          <a:p>
            <a:pPr marL="0" indent="0">
              <a:buNone/>
            </a:pPr>
            <a:r>
              <a:rPr lang="en-US" sz="1500" dirty="0">
                <a:solidFill>
                  <a:srgbClr val="5B6172"/>
                </a:solidFill>
                <a:latin typeface="Calibri" pitchFamily="34" charset="0"/>
                <a:ea typeface="Calibri" pitchFamily="34" charset="-122"/>
                <a:cs typeface="Calibri" pitchFamily="34" charset="-120"/>
              </a:rPr>
              <a:t>Alone and silent first.</a:t>
            </a:r>
            <a:endParaRPr lang="en-US" sz="1500" dirty="0"/>
          </a:p>
        </p:txBody>
      </p:sp>
      <p:sp>
        <p:nvSpPr>
          <p:cNvPr id="18" name="Shape 12"/>
          <p:cNvSpPr/>
          <p:nvPr/>
        </p:nvSpPr>
        <p:spPr>
          <a:xfrm>
            <a:off x="8138160" y="310896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321040" y="3264408"/>
            <a:ext cx="237744" cy="237744"/>
          </a:xfrm>
          <a:prstGeom prst="rect">
            <a:avLst/>
          </a:prstGeom>
        </p:spPr>
      </p:pic>
      <p:sp>
        <p:nvSpPr>
          <p:cNvPr id="20" name="Text 13"/>
          <p:cNvSpPr txBox="1"/>
          <p:nvPr/>
        </p:nvSpPr>
        <p:spPr>
          <a:xfrm>
            <a:off x="8641080" y="310896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2:00</a:t>
            </a:r>
            <a:endParaRPr lang="en-US" sz="2200" dirty="0"/>
          </a:p>
        </p:txBody>
      </p:sp>
      <p:sp>
        <p:nvSpPr>
          <p:cNvPr id="21" name="Text 14"/>
          <p:cNvSpPr txBox="1"/>
          <p:nvPr/>
        </p:nvSpPr>
        <p:spPr>
          <a:xfrm>
            <a:off x="8138160" y="3749040"/>
            <a:ext cx="3474720" cy="914400"/>
          </a:xfrm>
          <a:prstGeom prst="rect">
            <a:avLst/>
          </a:prstGeom>
          <a:noFill/>
          <a:ln/>
        </p:spPr>
        <p:txBody>
          <a:bodyPr wrap="square" lIns="0" tIns="0" rIns="0" bIns="0" rtlCol="0" anchor="t"/>
          <a:lstStyle/>
          <a:p>
            <a:pPr marL="0" indent="0">
              <a:buNone/>
            </a:pPr>
            <a:r>
              <a:rPr lang="en-US" sz="1500" dirty="0">
                <a:solidFill>
                  <a:srgbClr val="5B6172"/>
                </a:solidFill>
                <a:latin typeface="Calibri" pitchFamily="34" charset="0"/>
                <a:ea typeface="Calibri" pitchFamily="34" charset="-122"/>
                <a:cs typeface="Calibri" pitchFamily="34" charset="-120"/>
              </a:rPr>
              <a:t>Then compare with your partner: what is the same? What is different?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BEFORE — our predictions</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828800"/>
            <a:ext cx="6766560" cy="2377440"/>
          </a:xfrm>
          <a:prstGeom prst="roundRect">
            <a:avLst>
              <a:gd name="adj" fmla="val 4615"/>
            </a:avLst>
          </a:prstGeom>
          <a:solidFill>
            <a:srgbClr val="E3F6FB"/>
          </a:solidFill>
          <a:ln w="9525">
            <a:solidFill>
              <a:srgbClr val="E3F6FB"/>
            </a:solidFill>
            <a:prstDash val="solid"/>
          </a:ln>
        </p:spPr>
        <p:txBody>
          <a:bodyPr/>
          <a:lstStyle/>
          <a:p>
            <a:endParaRPr lang="en-US"/>
          </a:p>
        </p:txBody>
      </p:sp>
      <p:sp>
        <p:nvSpPr>
          <p:cNvPr id="14" name="Shape 9"/>
          <p:cNvSpPr/>
          <p:nvPr/>
        </p:nvSpPr>
        <p:spPr>
          <a:xfrm>
            <a:off x="868680" y="2148840"/>
            <a:ext cx="822960" cy="822960"/>
          </a:xfrm>
          <a:prstGeom prst="ellipse">
            <a:avLst/>
          </a:prstGeom>
          <a:solidFill>
            <a:srgbClr val="47C6E4"/>
          </a:solidFill>
          <a:ln w="12700">
            <a:solidFill>
              <a:srgbClr val="47C6E4"/>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1090879" y="2371039"/>
            <a:ext cx="378562" cy="378562"/>
          </a:xfrm>
          <a:prstGeom prst="rect">
            <a:avLst/>
          </a:prstGeom>
        </p:spPr>
      </p:pic>
      <p:sp>
        <p:nvSpPr>
          <p:cNvPr id="16" name="Text 10"/>
          <p:cNvSpPr txBox="1"/>
          <p:nvPr/>
        </p:nvSpPr>
        <p:spPr>
          <a:xfrm>
            <a:off x="1920240" y="2148840"/>
            <a:ext cx="5212080" cy="1828800"/>
          </a:xfrm>
          <a:prstGeom prst="rect">
            <a:avLst/>
          </a:prstGeom>
          <a:noFill/>
          <a:ln/>
        </p:spPr>
        <p:txBody>
          <a:bodyPr wrap="square" lIns="0" tIns="0" rIns="0" bIns="0" rtlCol="0" anchor="t"/>
          <a:lstStyle/>
          <a:p>
            <a:pPr marL="0" indent="0">
              <a:buNone/>
            </a:pPr>
            <a:r>
              <a:rPr lang="en-US" sz="2100" b="1" dirty="0">
                <a:solidFill>
                  <a:srgbClr val="111111"/>
                </a:solidFill>
                <a:latin typeface="Calibri" pitchFamily="34" charset="0"/>
                <a:ea typeface="Calibri" pitchFamily="34" charset="-122"/>
                <a:cs typeface="Calibri" pitchFamily="34" charset="-120"/>
              </a:rPr>
              <a:t>Tell us ONE structure you predicted — and WHY.</a:t>
            </a:r>
            <a:endParaRPr lang="en-US" sz="2100" dirty="0"/>
          </a:p>
          <a:p>
            <a:pPr marL="0" indent="0">
              <a:buNone/>
            </a:pPr>
            <a:r>
              <a:rPr lang="en-US" sz="2100" dirty="0">
                <a:solidFill>
                  <a:srgbClr val="111111"/>
                </a:solidFill>
                <a:latin typeface="Calibri" pitchFamily="34" charset="0"/>
                <a:ea typeface="Calibri" pitchFamily="34" charset="-122"/>
                <a:cs typeface="Calibri" pitchFamily="34" charset="-120"/>
              </a:rPr>
              <a:t>Your teacher will list them on the board. No corrections yet.</a:t>
            </a:r>
            <a:endParaRPr lang="en-US" sz="2100" dirty="0"/>
          </a:p>
        </p:txBody>
      </p:sp>
      <p:sp>
        <p:nvSpPr>
          <p:cNvPr id="17" name="Shape 11"/>
          <p:cNvSpPr/>
          <p:nvPr/>
        </p:nvSpPr>
        <p:spPr>
          <a:xfrm>
            <a:off x="7589520" y="1828800"/>
            <a:ext cx="4050792" cy="2377440"/>
          </a:xfrm>
          <a:prstGeom prst="roundRect">
            <a:avLst>
              <a:gd name="adj" fmla="val 4615"/>
            </a:avLst>
          </a:prstGeom>
          <a:solidFill>
            <a:srgbClr val="FFFFFF"/>
          </a:solidFill>
          <a:ln w="9525">
            <a:solidFill>
              <a:srgbClr val="111111"/>
            </a:solidFill>
            <a:prstDash val="solid"/>
          </a:ln>
        </p:spPr>
        <p:txBody>
          <a:bodyPr/>
          <a:lstStyle/>
          <a:p>
            <a:endParaRPr lang="en-US"/>
          </a:p>
        </p:txBody>
      </p:sp>
      <p:sp>
        <p:nvSpPr>
          <p:cNvPr id="18" name="Text 12"/>
          <p:cNvSpPr txBox="1"/>
          <p:nvPr/>
        </p:nvSpPr>
        <p:spPr>
          <a:xfrm>
            <a:off x="7818120" y="2057400"/>
            <a:ext cx="3657600" cy="1920240"/>
          </a:xfrm>
          <a:prstGeom prst="rect">
            <a:avLst/>
          </a:prstGeom>
          <a:noFill/>
          <a:ln/>
        </p:spPr>
        <p:txBody>
          <a:bodyPr wrap="square" lIns="0" tIns="0" rIns="0" bIns="0" rtlCol="0" anchor="t"/>
          <a:lstStyle/>
          <a:p>
            <a:pPr marL="0" indent="0">
              <a:buNone/>
            </a:pPr>
            <a:r>
              <a:rPr lang="en-US" sz="1600" b="1" dirty="0">
                <a:solidFill>
                  <a:srgbClr val="5B6172"/>
                </a:solidFill>
                <a:latin typeface="Calibri" pitchFamily="34" charset="0"/>
                <a:ea typeface="Calibri" pitchFamily="34" charset="-122"/>
                <a:cs typeface="Calibri" pitchFamily="34" charset="-120"/>
              </a:rPr>
              <a:t>Show of hands</a:t>
            </a:r>
            <a:endParaRPr lang="en-US" sz="1600" dirty="0"/>
          </a:p>
          <a:p>
            <a:pPr marL="0" indent="0">
              <a:buNone/>
            </a:pPr>
            <a:r>
              <a:rPr lang="en-US" sz="2400" b="1" dirty="0">
                <a:solidFill>
                  <a:srgbClr val="111111"/>
                </a:solidFill>
                <a:latin typeface="Calibri" pitchFamily="34" charset="0"/>
                <a:ea typeface="Calibri" pitchFamily="34" charset="-122"/>
                <a:cs typeface="Calibri" pitchFamily="34" charset="-120"/>
              </a:rPr>
              <a:t>Who predicted chloroplasts?</a:t>
            </a:r>
            <a:endParaRPr lang="en-US" sz="1600" dirty="0"/>
          </a:p>
        </p:txBody>
      </p:sp>
      <p:sp>
        <p:nvSpPr>
          <p:cNvPr id="19" name="Text 13"/>
          <p:cNvSpPr txBox="1"/>
          <p:nvPr/>
        </p:nvSpPr>
        <p:spPr>
          <a:xfrm>
            <a:off x="548640" y="4572000"/>
            <a:ext cx="10972800" cy="457200"/>
          </a:xfrm>
          <a:prstGeom prst="rect">
            <a:avLst/>
          </a:prstGeom>
          <a:noFill/>
          <a:ln/>
        </p:spPr>
        <p:txBody>
          <a:bodyPr wrap="square" lIns="0" tIns="0" rIns="0" bIns="0" rtlCol="0" anchor="ctr"/>
          <a:lstStyle/>
          <a:p>
            <a:pPr marL="0" indent="0">
              <a:buNone/>
            </a:pPr>
            <a:r>
              <a:rPr lang="en-US" sz="1800" i="1" dirty="0">
                <a:solidFill>
                  <a:srgbClr val="0B6F87"/>
                </a:solidFill>
                <a:latin typeface="Calibri" pitchFamily="34" charset="0"/>
                <a:ea typeface="Calibri" pitchFamily="34" charset="-122"/>
                <a:cs typeface="Calibri" pitchFamily="34" charset="-120"/>
              </a:rPr>
              <a:t>Hold your predictions. In about 20 minutes, your microscope will tell us who was right.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Watch first: how to make an onion slide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783080"/>
            <a:ext cx="2103120" cy="3429000"/>
          </a:xfrm>
          <a:prstGeom prst="roundRect">
            <a:avLst>
              <a:gd name="adj" fmla="val 5217"/>
            </a:avLst>
          </a:prstGeom>
          <a:solidFill>
            <a:srgbClr val="F7F9D9"/>
          </a:solidFill>
          <a:ln w="9525">
            <a:solidFill>
              <a:srgbClr val="F7F9D9"/>
            </a:solidFill>
            <a:prstDash val="solid"/>
          </a:ln>
        </p:spPr>
        <p:txBody>
          <a:bodyPr/>
          <a:lstStyle/>
          <a:p>
            <a:endParaRPr lang="en-US"/>
          </a:p>
        </p:txBody>
      </p:sp>
      <p:sp>
        <p:nvSpPr>
          <p:cNvPr id="11" name="Shape 7"/>
          <p:cNvSpPr/>
          <p:nvPr/>
        </p:nvSpPr>
        <p:spPr>
          <a:xfrm>
            <a:off x="777240" y="2011680"/>
            <a:ext cx="685800" cy="685800"/>
          </a:xfrm>
          <a:prstGeom prst="ellipse">
            <a:avLst/>
          </a:prstGeom>
          <a:solidFill>
            <a:srgbClr val="D7DF23"/>
          </a:solidFill>
          <a:ln w="12700">
            <a:solidFill>
              <a:srgbClr val="D7DF23"/>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962406" y="2196846"/>
            <a:ext cx="315468" cy="315468"/>
          </a:xfrm>
          <a:prstGeom prst="rect">
            <a:avLst/>
          </a:prstGeom>
        </p:spPr>
      </p:pic>
      <p:sp>
        <p:nvSpPr>
          <p:cNvPr id="13" name="Text 8"/>
          <p:cNvSpPr txBox="1"/>
          <p:nvPr/>
        </p:nvSpPr>
        <p:spPr>
          <a:xfrm>
            <a:off x="1965960" y="1965960"/>
            <a:ext cx="457200" cy="548640"/>
          </a:xfrm>
          <a:prstGeom prst="rect">
            <a:avLst/>
          </a:prstGeom>
          <a:noFill/>
          <a:ln/>
        </p:spPr>
        <p:txBody>
          <a:bodyPr wrap="square" lIns="0" tIns="0" rIns="0" bIns="0" rtlCol="0" anchor="ctr"/>
          <a:lstStyle/>
          <a:p>
            <a:pPr marL="0" indent="0" algn="r">
              <a:buNone/>
            </a:pPr>
            <a:r>
              <a:rPr lang="en-US" sz="3000" b="1" dirty="0">
                <a:solidFill>
                  <a:srgbClr val="B6BA5A"/>
                </a:solidFill>
                <a:latin typeface="Calibri" pitchFamily="34" charset="0"/>
                <a:ea typeface="Calibri" pitchFamily="34" charset="-122"/>
                <a:cs typeface="Calibri" pitchFamily="34" charset="-120"/>
              </a:rPr>
              <a:t>1</a:t>
            </a:r>
            <a:endParaRPr lang="en-US" sz="3000" dirty="0"/>
          </a:p>
        </p:txBody>
      </p:sp>
      <p:sp>
        <p:nvSpPr>
          <p:cNvPr id="14" name="Text 9"/>
          <p:cNvSpPr txBox="1"/>
          <p:nvPr/>
        </p:nvSpPr>
        <p:spPr>
          <a:xfrm>
            <a:off x="777240" y="2834640"/>
            <a:ext cx="1737360" cy="45720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Peel</a:t>
            </a:r>
            <a:endParaRPr lang="en-US" sz="2100" dirty="0"/>
          </a:p>
        </p:txBody>
      </p:sp>
      <p:sp>
        <p:nvSpPr>
          <p:cNvPr id="15" name="Text 10"/>
          <p:cNvSpPr txBox="1"/>
          <p:nvPr/>
        </p:nvSpPr>
        <p:spPr>
          <a:xfrm>
            <a:off x="777240" y="3291840"/>
            <a:ext cx="1737360" cy="1828800"/>
          </a:xfrm>
          <a:prstGeom prst="rect">
            <a:avLst/>
          </a:prstGeom>
          <a:noFill/>
          <a:ln/>
        </p:spPr>
        <p:txBody>
          <a:bodyPr wrap="square" lIns="0" tIns="0" rIns="0" bIns="0" rtlCol="0" anchor="t"/>
          <a:lstStyle/>
          <a:p>
            <a:pPr marL="0" indent="0">
              <a:buNone/>
            </a:pPr>
            <a:r>
              <a:rPr lang="en-US" sz="1450" dirty="0">
                <a:solidFill>
                  <a:srgbClr val="111111"/>
                </a:solidFill>
                <a:latin typeface="Calibri" pitchFamily="34" charset="0"/>
                <a:ea typeface="Calibri" pitchFamily="34" charset="-122"/>
                <a:cs typeface="Calibri" pitchFamily="34" charset="-120"/>
              </a:rPr>
              <a:t>Lift the thin, see-through skin from the INSIDE of one onion layer.</a:t>
            </a:r>
            <a:endParaRPr lang="en-US" sz="1450" dirty="0"/>
          </a:p>
        </p:txBody>
      </p:sp>
      <p:sp>
        <p:nvSpPr>
          <p:cNvPr id="16" name="Shape 11"/>
          <p:cNvSpPr/>
          <p:nvPr/>
        </p:nvSpPr>
        <p:spPr>
          <a:xfrm>
            <a:off x="2788920" y="1783080"/>
            <a:ext cx="2103120" cy="3429000"/>
          </a:xfrm>
          <a:prstGeom prst="roundRect">
            <a:avLst>
              <a:gd name="adj" fmla="val 5217"/>
            </a:avLst>
          </a:prstGeom>
          <a:solidFill>
            <a:srgbClr val="F7F9D9"/>
          </a:solidFill>
          <a:ln w="9525">
            <a:solidFill>
              <a:srgbClr val="F7F9D9"/>
            </a:solidFill>
            <a:prstDash val="solid"/>
          </a:ln>
        </p:spPr>
        <p:txBody>
          <a:bodyPr/>
          <a:lstStyle/>
          <a:p>
            <a:endParaRPr lang="en-US"/>
          </a:p>
        </p:txBody>
      </p:sp>
      <p:sp>
        <p:nvSpPr>
          <p:cNvPr id="17" name="Shape 12"/>
          <p:cNvSpPr/>
          <p:nvPr/>
        </p:nvSpPr>
        <p:spPr>
          <a:xfrm>
            <a:off x="3017520" y="2011680"/>
            <a:ext cx="685800" cy="685800"/>
          </a:xfrm>
          <a:prstGeom prst="ellipse">
            <a:avLst/>
          </a:prstGeom>
          <a:solidFill>
            <a:srgbClr val="D7DF23"/>
          </a:solidFill>
          <a:ln w="12700">
            <a:solidFill>
              <a:srgbClr val="D7DF23"/>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3202686" y="2196846"/>
            <a:ext cx="315468" cy="315468"/>
          </a:xfrm>
          <a:prstGeom prst="rect">
            <a:avLst/>
          </a:prstGeom>
        </p:spPr>
      </p:pic>
      <p:sp>
        <p:nvSpPr>
          <p:cNvPr id="19" name="Text 13"/>
          <p:cNvSpPr txBox="1"/>
          <p:nvPr/>
        </p:nvSpPr>
        <p:spPr>
          <a:xfrm>
            <a:off x="4206240" y="1965960"/>
            <a:ext cx="457200" cy="548640"/>
          </a:xfrm>
          <a:prstGeom prst="rect">
            <a:avLst/>
          </a:prstGeom>
          <a:noFill/>
          <a:ln/>
        </p:spPr>
        <p:txBody>
          <a:bodyPr wrap="square" lIns="0" tIns="0" rIns="0" bIns="0" rtlCol="0" anchor="ctr"/>
          <a:lstStyle/>
          <a:p>
            <a:pPr marL="0" indent="0" algn="r">
              <a:buNone/>
            </a:pPr>
            <a:r>
              <a:rPr lang="en-US" sz="3000" b="1" dirty="0">
                <a:solidFill>
                  <a:srgbClr val="B6BA5A"/>
                </a:solidFill>
                <a:latin typeface="Calibri" pitchFamily="34" charset="0"/>
                <a:ea typeface="Calibri" pitchFamily="34" charset="-122"/>
                <a:cs typeface="Calibri" pitchFamily="34" charset="-120"/>
              </a:rPr>
              <a:t>2</a:t>
            </a:r>
            <a:endParaRPr lang="en-US" sz="3000" dirty="0"/>
          </a:p>
        </p:txBody>
      </p:sp>
      <p:sp>
        <p:nvSpPr>
          <p:cNvPr id="20" name="Text 14"/>
          <p:cNvSpPr txBox="1"/>
          <p:nvPr/>
        </p:nvSpPr>
        <p:spPr>
          <a:xfrm>
            <a:off x="3017520" y="2834640"/>
            <a:ext cx="1737360" cy="45720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Lay flat</a:t>
            </a:r>
            <a:endParaRPr lang="en-US" sz="2100" dirty="0"/>
          </a:p>
        </p:txBody>
      </p:sp>
      <p:sp>
        <p:nvSpPr>
          <p:cNvPr id="21" name="Text 15"/>
          <p:cNvSpPr txBox="1"/>
          <p:nvPr/>
        </p:nvSpPr>
        <p:spPr>
          <a:xfrm>
            <a:off x="3017520" y="3291840"/>
            <a:ext cx="1737360" cy="1828800"/>
          </a:xfrm>
          <a:prstGeom prst="rect">
            <a:avLst/>
          </a:prstGeom>
          <a:noFill/>
          <a:ln/>
        </p:spPr>
        <p:txBody>
          <a:bodyPr wrap="square" lIns="0" tIns="0" rIns="0" bIns="0" rtlCol="0" anchor="t"/>
          <a:lstStyle/>
          <a:p>
            <a:pPr marL="0" indent="0">
              <a:buNone/>
            </a:pPr>
            <a:r>
              <a:rPr lang="en-US" sz="1450" dirty="0">
                <a:solidFill>
                  <a:srgbClr val="111111"/>
                </a:solidFill>
                <a:latin typeface="Calibri" pitchFamily="34" charset="0"/>
                <a:ea typeface="Calibri" pitchFamily="34" charset="-122"/>
                <a:cs typeface="Calibri" pitchFamily="34" charset="-120"/>
              </a:rPr>
              <a:t>Use forceps to lay it flat on the slide. No folds.</a:t>
            </a:r>
            <a:endParaRPr lang="en-US" sz="1450" dirty="0"/>
          </a:p>
        </p:txBody>
      </p:sp>
      <p:sp>
        <p:nvSpPr>
          <p:cNvPr id="22" name="Shape 16"/>
          <p:cNvSpPr/>
          <p:nvPr/>
        </p:nvSpPr>
        <p:spPr>
          <a:xfrm>
            <a:off x="5029200" y="1783080"/>
            <a:ext cx="2103120" cy="3429000"/>
          </a:xfrm>
          <a:prstGeom prst="roundRect">
            <a:avLst>
              <a:gd name="adj" fmla="val 5217"/>
            </a:avLst>
          </a:prstGeom>
          <a:solidFill>
            <a:srgbClr val="F7F9D9"/>
          </a:solidFill>
          <a:ln w="9525">
            <a:solidFill>
              <a:srgbClr val="F7F9D9"/>
            </a:solidFill>
            <a:prstDash val="solid"/>
          </a:ln>
        </p:spPr>
        <p:txBody>
          <a:bodyPr/>
          <a:lstStyle/>
          <a:p>
            <a:endParaRPr lang="en-US"/>
          </a:p>
        </p:txBody>
      </p:sp>
      <p:sp>
        <p:nvSpPr>
          <p:cNvPr id="23" name="Shape 17"/>
          <p:cNvSpPr/>
          <p:nvPr/>
        </p:nvSpPr>
        <p:spPr>
          <a:xfrm>
            <a:off x="5257800" y="2011680"/>
            <a:ext cx="685800" cy="685800"/>
          </a:xfrm>
          <a:prstGeom prst="ellipse">
            <a:avLst/>
          </a:prstGeom>
          <a:solidFill>
            <a:srgbClr val="D7DF23"/>
          </a:solidFill>
          <a:ln w="12700">
            <a:solidFill>
              <a:srgbClr val="D7DF23"/>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5442966" y="2196846"/>
            <a:ext cx="315468" cy="315468"/>
          </a:xfrm>
          <a:prstGeom prst="rect">
            <a:avLst/>
          </a:prstGeom>
        </p:spPr>
      </p:pic>
      <p:sp>
        <p:nvSpPr>
          <p:cNvPr id="25" name="Text 18"/>
          <p:cNvSpPr txBox="1"/>
          <p:nvPr/>
        </p:nvSpPr>
        <p:spPr>
          <a:xfrm>
            <a:off x="6446520" y="1965960"/>
            <a:ext cx="457200" cy="548640"/>
          </a:xfrm>
          <a:prstGeom prst="rect">
            <a:avLst/>
          </a:prstGeom>
          <a:noFill/>
          <a:ln/>
        </p:spPr>
        <p:txBody>
          <a:bodyPr wrap="square" lIns="0" tIns="0" rIns="0" bIns="0" rtlCol="0" anchor="ctr"/>
          <a:lstStyle/>
          <a:p>
            <a:pPr marL="0" indent="0" algn="r">
              <a:buNone/>
            </a:pPr>
            <a:r>
              <a:rPr lang="en-US" sz="3000" b="1" dirty="0">
                <a:solidFill>
                  <a:srgbClr val="B6BA5A"/>
                </a:solidFill>
                <a:latin typeface="Calibri" pitchFamily="34" charset="0"/>
                <a:ea typeface="Calibri" pitchFamily="34" charset="-122"/>
                <a:cs typeface="Calibri" pitchFamily="34" charset="-120"/>
              </a:rPr>
              <a:t>3</a:t>
            </a:r>
            <a:endParaRPr lang="en-US" sz="3000" dirty="0"/>
          </a:p>
        </p:txBody>
      </p:sp>
      <p:sp>
        <p:nvSpPr>
          <p:cNvPr id="26" name="Text 19"/>
          <p:cNvSpPr txBox="1"/>
          <p:nvPr/>
        </p:nvSpPr>
        <p:spPr>
          <a:xfrm>
            <a:off x="5257800" y="2834640"/>
            <a:ext cx="1737360" cy="45720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Stain</a:t>
            </a:r>
            <a:endParaRPr lang="en-US" sz="2100" dirty="0"/>
          </a:p>
        </p:txBody>
      </p:sp>
      <p:sp>
        <p:nvSpPr>
          <p:cNvPr id="27" name="Text 20"/>
          <p:cNvSpPr txBox="1"/>
          <p:nvPr/>
        </p:nvSpPr>
        <p:spPr>
          <a:xfrm>
            <a:off x="5257800" y="3291840"/>
            <a:ext cx="1737360" cy="1828800"/>
          </a:xfrm>
          <a:prstGeom prst="rect">
            <a:avLst/>
          </a:prstGeom>
          <a:noFill/>
          <a:ln/>
        </p:spPr>
        <p:txBody>
          <a:bodyPr wrap="square" lIns="0" tIns="0" rIns="0" bIns="0" rtlCol="0" anchor="t"/>
          <a:lstStyle/>
          <a:p>
            <a:pPr marL="0" indent="0">
              <a:buNone/>
            </a:pPr>
            <a:r>
              <a:rPr lang="en-US" sz="1450" dirty="0">
                <a:solidFill>
                  <a:srgbClr val="111111"/>
                </a:solidFill>
                <a:latin typeface="Calibri" pitchFamily="34" charset="0"/>
                <a:ea typeface="Calibri" pitchFamily="34" charset="-122"/>
                <a:cs typeface="Calibri" pitchFamily="34" charset="-120"/>
              </a:rPr>
              <a:t>Add ONE drop of iodine onto the skin.</a:t>
            </a:r>
            <a:endParaRPr lang="en-US" sz="1450" dirty="0"/>
          </a:p>
        </p:txBody>
      </p:sp>
      <p:sp>
        <p:nvSpPr>
          <p:cNvPr id="28" name="Shape 21"/>
          <p:cNvSpPr/>
          <p:nvPr/>
        </p:nvSpPr>
        <p:spPr>
          <a:xfrm>
            <a:off x="7269480" y="1783080"/>
            <a:ext cx="2103120" cy="3429000"/>
          </a:xfrm>
          <a:prstGeom prst="roundRect">
            <a:avLst>
              <a:gd name="adj" fmla="val 5217"/>
            </a:avLst>
          </a:prstGeom>
          <a:solidFill>
            <a:srgbClr val="F7F9D9"/>
          </a:solidFill>
          <a:ln w="9525">
            <a:solidFill>
              <a:srgbClr val="F7F9D9"/>
            </a:solidFill>
            <a:prstDash val="solid"/>
          </a:ln>
        </p:spPr>
        <p:txBody>
          <a:bodyPr/>
          <a:lstStyle/>
          <a:p>
            <a:endParaRPr lang="en-US"/>
          </a:p>
        </p:txBody>
      </p:sp>
      <p:sp>
        <p:nvSpPr>
          <p:cNvPr id="29" name="Shape 22"/>
          <p:cNvSpPr/>
          <p:nvPr/>
        </p:nvSpPr>
        <p:spPr>
          <a:xfrm>
            <a:off x="7498080" y="2011680"/>
            <a:ext cx="685800" cy="685800"/>
          </a:xfrm>
          <a:prstGeom prst="ellipse">
            <a:avLst/>
          </a:prstGeom>
          <a:solidFill>
            <a:srgbClr val="D7DF23"/>
          </a:solidFill>
          <a:ln w="12700">
            <a:solidFill>
              <a:srgbClr val="D7DF23"/>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7683246" y="2196846"/>
            <a:ext cx="315468" cy="315468"/>
          </a:xfrm>
          <a:prstGeom prst="rect">
            <a:avLst/>
          </a:prstGeom>
        </p:spPr>
      </p:pic>
      <p:sp>
        <p:nvSpPr>
          <p:cNvPr id="31" name="Text 23"/>
          <p:cNvSpPr txBox="1"/>
          <p:nvPr/>
        </p:nvSpPr>
        <p:spPr>
          <a:xfrm>
            <a:off x="8686800" y="1965960"/>
            <a:ext cx="457200" cy="548640"/>
          </a:xfrm>
          <a:prstGeom prst="rect">
            <a:avLst/>
          </a:prstGeom>
          <a:noFill/>
          <a:ln/>
        </p:spPr>
        <p:txBody>
          <a:bodyPr wrap="square" lIns="0" tIns="0" rIns="0" bIns="0" rtlCol="0" anchor="ctr"/>
          <a:lstStyle/>
          <a:p>
            <a:pPr marL="0" indent="0" algn="r">
              <a:buNone/>
            </a:pPr>
            <a:r>
              <a:rPr lang="en-US" sz="3000" b="1" dirty="0">
                <a:solidFill>
                  <a:srgbClr val="B6BA5A"/>
                </a:solidFill>
                <a:latin typeface="Calibri" pitchFamily="34" charset="0"/>
                <a:ea typeface="Calibri" pitchFamily="34" charset="-122"/>
                <a:cs typeface="Calibri" pitchFamily="34" charset="-120"/>
              </a:rPr>
              <a:t>4</a:t>
            </a:r>
            <a:endParaRPr lang="en-US" sz="3000" dirty="0"/>
          </a:p>
        </p:txBody>
      </p:sp>
      <p:sp>
        <p:nvSpPr>
          <p:cNvPr id="32" name="Text 24"/>
          <p:cNvSpPr txBox="1"/>
          <p:nvPr/>
        </p:nvSpPr>
        <p:spPr>
          <a:xfrm>
            <a:off x="7498080" y="2834640"/>
            <a:ext cx="1737360" cy="45720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Cover</a:t>
            </a:r>
            <a:endParaRPr lang="en-US" sz="2100" dirty="0"/>
          </a:p>
        </p:txBody>
      </p:sp>
      <p:sp>
        <p:nvSpPr>
          <p:cNvPr id="33" name="Text 25"/>
          <p:cNvSpPr txBox="1"/>
          <p:nvPr/>
        </p:nvSpPr>
        <p:spPr>
          <a:xfrm>
            <a:off x="7498080" y="3291840"/>
            <a:ext cx="1737360" cy="1828800"/>
          </a:xfrm>
          <a:prstGeom prst="rect">
            <a:avLst/>
          </a:prstGeom>
          <a:noFill/>
          <a:ln/>
        </p:spPr>
        <p:txBody>
          <a:bodyPr wrap="square" lIns="0" tIns="0" rIns="0" bIns="0" rtlCol="0" anchor="t"/>
          <a:lstStyle/>
          <a:p>
            <a:pPr marL="0" indent="0">
              <a:buNone/>
            </a:pPr>
            <a:r>
              <a:rPr lang="en-US" sz="1450" dirty="0">
                <a:solidFill>
                  <a:srgbClr val="111111"/>
                </a:solidFill>
                <a:latin typeface="Calibri" pitchFamily="34" charset="0"/>
                <a:ea typeface="Calibri" pitchFamily="34" charset="-122"/>
                <a:cs typeface="Calibri" pitchFamily="34" charset="-120"/>
              </a:rPr>
              <a:t>Lower the coverslip at an angle — like closing a book slowly — to stop air bubbles.</a:t>
            </a:r>
            <a:endParaRPr lang="en-US" sz="1450" dirty="0"/>
          </a:p>
        </p:txBody>
      </p:sp>
      <p:sp>
        <p:nvSpPr>
          <p:cNvPr id="34" name="Shape 26"/>
          <p:cNvSpPr/>
          <p:nvPr/>
        </p:nvSpPr>
        <p:spPr>
          <a:xfrm>
            <a:off x="9509760" y="1783080"/>
            <a:ext cx="2103120" cy="3429000"/>
          </a:xfrm>
          <a:prstGeom prst="roundRect">
            <a:avLst>
              <a:gd name="adj" fmla="val 5217"/>
            </a:avLst>
          </a:prstGeom>
          <a:solidFill>
            <a:srgbClr val="F7F9D9"/>
          </a:solidFill>
          <a:ln w="9525">
            <a:solidFill>
              <a:srgbClr val="F7F9D9"/>
            </a:solidFill>
            <a:prstDash val="solid"/>
          </a:ln>
        </p:spPr>
        <p:txBody>
          <a:bodyPr/>
          <a:lstStyle/>
          <a:p>
            <a:endParaRPr lang="en-US"/>
          </a:p>
        </p:txBody>
      </p:sp>
      <p:sp>
        <p:nvSpPr>
          <p:cNvPr id="35" name="Shape 27"/>
          <p:cNvSpPr/>
          <p:nvPr/>
        </p:nvSpPr>
        <p:spPr>
          <a:xfrm>
            <a:off x="9738360" y="2011680"/>
            <a:ext cx="685800" cy="685800"/>
          </a:xfrm>
          <a:prstGeom prst="ellipse">
            <a:avLst/>
          </a:prstGeom>
          <a:solidFill>
            <a:srgbClr val="D7DF23"/>
          </a:solidFill>
          <a:ln w="12700">
            <a:solidFill>
              <a:srgbClr val="D7DF23"/>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9923526" y="2196846"/>
            <a:ext cx="315468" cy="315468"/>
          </a:xfrm>
          <a:prstGeom prst="rect">
            <a:avLst/>
          </a:prstGeom>
        </p:spPr>
      </p:pic>
      <p:sp>
        <p:nvSpPr>
          <p:cNvPr id="37" name="Text 28"/>
          <p:cNvSpPr txBox="1"/>
          <p:nvPr/>
        </p:nvSpPr>
        <p:spPr>
          <a:xfrm>
            <a:off x="10927080" y="1965960"/>
            <a:ext cx="457200" cy="548640"/>
          </a:xfrm>
          <a:prstGeom prst="rect">
            <a:avLst/>
          </a:prstGeom>
          <a:noFill/>
          <a:ln/>
        </p:spPr>
        <p:txBody>
          <a:bodyPr wrap="square" lIns="0" tIns="0" rIns="0" bIns="0" rtlCol="0" anchor="ctr"/>
          <a:lstStyle/>
          <a:p>
            <a:pPr marL="0" indent="0" algn="r">
              <a:buNone/>
            </a:pPr>
            <a:r>
              <a:rPr lang="en-US" sz="3000" b="1" dirty="0">
                <a:solidFill>
                  <a:srgbClr val="B6BA5A"/>
                </a:solidFill>
                <a:latin typeface="Calibri" pitchFamily="34" charset="0"/>
                <a:ea typeface="Calibri" pitchFamily="34" charset="-122"/>
                <a:cs typeface="Calibri" pitchFamily="34" charset="-120"/>
              </a:rPr>
              <a:t>5</a:t>
            </a:r>
            <a:endParaRPr lang="en-US" sz="3000" dirty="0"/>
          </a:p>
        </p:txBody>
      </p:sp>
      <p:sp>
        <p:nvSpPr>
          <p:cNvPr id="38" name="Text 29"/>
          <p:cNvSpPr txBox="1"/>
          <p:nvPr/>
        </p:nvSpPr>
        <p:spPr>
          <a:xfrm>
            <a:off x="9738360" y="2834640"/>
            <a:ext cx="1737360" cy="457200"/>
          </a:xfrm>
          <a:prstGeom prst="rect">
            <a:avLst/>
          </a:prstGeom>
          <a:noFill/>
          <a:ln/>
        </p:spPr>
        <p:txBody>
          <a:bodyPr wrap="square" lIns="0" tIns="0" rIns="0" bIns="0" rtlCol="0" anchor="ctr"/>
          <a:lstStyle/>
          <a:p>
            <a:pPr marL="0" indent="0">
              <a:buNone/>
            </a:pPr>
            <a:r>
              <a:rPr lang="en-US" sz="2100" b="1" dirty="0">
                <a:solidFill>
                  <a:srgbClr val="111111"/>
                </a:solidFill>
                <a:latin typeface="Calibri" pitchFamily="34" charset="0"/>
                <a:ea typeface="Calibri" pitchFamily="34" charset="-122"/>
                <a:cs typeface="Calibri" pitchFamily="34" charset="-120"/>
              </a:rPr>
              <a:t>Focus</a:t>
            </a:r>
            <a:endParaRPr lang="en-US" sz="2100" dirty="0"/>
          </a:p>
        </p:txBody>
      </p:sp>
      <p:sp>
        <p:nvSpPr>
          <p:cNvPr id="39" name="Text 30"/>
          <p:cNvSpPr txBox="1"/>
          <p:nvPr/>
        </p:nvSpPr>
        <p:spPr>
          <a:xfrm>
            <a:off x="9738360" y="3291840"/>
            <a:ext cx="1737360" cy="1828800"/>
          </a:xfrm>
          <a:prstGeom prst="rect">
            <a:avLst/>
          </a:prstGeom>
          <a:noFill/>
          <a:ln/>
        </p:spPr>
        <p:txBody>
          <a:bodyPr wrap="square" lIns="0" tIns="0" rIns="0" bIns="0" rtlCol="0" anchor="t"/>
          <a:lstStyle/>
          <a:p>
            <a:pPr marL="0" indent="0">
              <a:buNone/>
            </a:pPr>
            <a:r>
              <a:rPr lang="en-US" sz="1450" dirty="0">
                <a:solidFill>
                  <a:srgbClr val="111111"/>
                </a:solidFill>
                <a:latin typeface="Calibri" pitchFamily="34" charset="0"/>
                <a:ea typeface="Calibri" pitchFamily="34" charset="-122"/>
                <a:cs typeface="Calibri" pitchFamily="34" charset="-120"/>
              </a:rPr>
              <a:t>Start on LOW power. Coarse focus first, then fine focus.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000" b="1" dirty="0">
                <a:solidFill>
                  <a:srgbClr val="111111"/>
                </a:solidFill>
                <a:latin typeface="Calibri" pitchFamily="34" charset="0"/>
                <a:ea typeface="Calibri" pitchFamily="34" charset="-122"/>
                <a:cs typeface="Calibri" pitchFamily="34" charset="-120"/>
              </a:rPr>
              <a:t>Your turn: make your slide, then draw what YOU see</a:t>
            </a:r>
            <a:endParaRPr lang="en-US" sz="30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783080"/>
            <a:ext cx="502920" cy="502920"/>
          </a:xfrm>
          <a:prstGeom prst="ellipse">
            <a:avLst/>
          </a:prstGeom>
          <a:solidFill>
            <a:srgbClr val="D7DF23"/>
          </a:solidFill>
          <a:ln w="12700">
            <a:solidFill>
              <a:srgbClr val="D7DF23"/>
            </a:solidFill>
            <a:prstDash val="solid"/>
          </a:ln>
        </p:spPr>
        <p:txBody>
          <a:bodyPr/>
          <a:lstStyle/>
          <a:p>
            <a:endParaRPr lang="en-US"/>
          </a:p>
        </p:txBody>
      </p:sp>
      <p:sp>
        <p:nvSpPr>
          <p:cNvPr id="14" name="Text 9"/>
          <p:cNvSpPr txBox="1"/>
          <p:nvPr/>
        </p:nvSpPr>
        <p:spPr>
          <a:xfrm>
            <a:off x="548640" y="1783080"/>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1</a:t>
            </a:r>
            <a:endParaRPr lang="en-US" sz="1800" dirty="0"/>
          </a:p>
        </p:txBody>
      </p:sp>
      <p:sp>
        <p:nvSpPr>
          <p:cNvPr id="15" name="Text 10"/>
          <p:cNvSpPr txBox="1"/>
          <p:nvPr/>
        </p:nvSpPr>
        <p:spPr>
          <a:xfrm>
            <a:off x="1280160" y="1783080"/>
            <a:ext cx="6675120" cy="502920"/>
          </a:xfrm>
          <a:prstGeom prst="rect">
            <a:avLst/>
          </a:prstGeom>
          <a:noFill/>
          <a:ln/>
        </p:spPr>
        <p:txBody>
          <a:bodyPr wrap="square" lIns="0" tIns="0" rIns="0" bIns="0" rtlCol="0" anchor="ctr"/>
          <a:lstStyle/>
          <a:p>
            <a:pPr marL="0" indent="0">
              <a:buNone/>
            </a:pPr>
            <a:r>
              <a:rPr lang="en-US" sz="1900" dirty="0">
                <a:solidFill>
                  <a:srgbClr val="111111"/>
                </a:solidFill>
                <a:latin typeface="Calibri" pitchFamily="34" charset="0"/>
                <a:ea typeface="Calibri" pitchFamily="34" charset="-122"/>
                <a:cs typeface="Calibri" pitchFamily="34" charset="-120"/>
              </a:rPr>
              <a:t>Draw 3–4 cells at LOW power.</a:t>
            </a:r>
            <a:endParaRPr lang="en-US" sz="1900" dirty="0"/>
          </a:p>
        </p:txBody>
      </p:sp>
      <p:sp>
        <p:nvSpPr>
          <p:cNvPr id="16" name="Shape 11"/>
          <p:cNvSpPr/>
          <p:nvPr/>
        </p:nvSpPr>
        <p:spPr>
          <a:xfrm>
            <a:off x="548640" y="2468880"/>
            <a:ext cx="502920" cy="502920"/>
          </a:xfrm>
          <a:prstGeom prst="ellipse">
            <a:avLst/>
          </a:prstGeom>
          <a:solidFill>
            <a:srgbClr val="D7DF23"/>
          </a:solidFill>
          <a:ln w="12700">
            <a:solidFill>
              <a:srgbClr val="D7DF23"/>
            </a:solidFill>
            <a:prstDash val="solid"/>
          </a:ln>
        </p:spPr>
        <p:txBody>
          <a:bodyPr/>
          <a:lstStyle/>
          <a:p>
            <a:endParaRPr lang="en-US"/>
          </a:p>
        </p:txBody>
      </p:sp>
      <p:sp>
        <p:nvSpPr>
          <p:cNvPr id="17" name="Text 12"/>
          <p:cNvSpPr txBox="1"/>
          <p:nvPr/>
        </p:nvSpPr>
        <p:spPr>
          <a:xfrm>
            <a:off x="548640" y="2468880"/>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2</a:t>
            </a:r>
            <a:endParaRPr lang="en-US" sz="1800" dirty="0"/>
          </a:p>
        </p:txBody>
      </p:sp>
      <p:sp>
        <p:nvSpPr>
          <p:cNvPr id="18" name="Text 13"/>
          <p:cNvSpPr txBox="1"/>
          <p:nvPr/>
        </p:nvSpPr>
        <p:spPr>
          <a:xfrm>
            <a:off x="1280160" y="2468880"/>
            <a:ext cx="6675120" cy="502920"/>
          </a:xfrm>
          <a:prstGeom prst="rect">
            <a:avLst/>
          </a:prstGeom>
          <a:noFill/>
          <a:ln/>
        </p:spPr>
        <p:txBody>
          <a:bodyPr wrap="square" lIns="0" tIns="0" rIns="0" bIns="0" rtlCol="0" anchor="ctr"/>
          <a:lstStyle/>
          <a:p>
            <a:pPr marL="0" indent="0">
              <a:buNone/>
            </a:pPr>
            <a:r>
              <a:rPr lang="en-US" sz="1900" dirty="0">
                <a:solidFill>
                  <a:srgbClr val="111111"/>
                </a:solidFill>
                <a:latin typeface="Calibri" pitchFamily="34" charset="0"/>
                <a:ea typeface="Calibri" pitchFamily="34" charset="-122"/>
                <a:cs typeface="Calibri" pitchFamily="34" charset="-120"/>
              </a:rPr>
              <a:t>Draw ONE cell at HIGH power.</a:t>
            </a:r>
            <a:endParaRPr lang="en-US" sz="1900" dirty="0"/>
          </a:p>
        </p:txBody>
      </p:sp>
      <p:sp>
        <p:nvSpPr>
          <p:cNvPr id="19" name="Shape 14"/>
          <p:cNvSpPr/>
          <p:nvPr/>
        </p:nvSpPr>
        <p:spPr>
          <a:xfrm>
            <a:off x="548640" y="3154680"/>
            <a:ext cx="502920" cy="502920"/>
          </a:xfrm>
          <a:prstGeom prst="ellipse">
            <a:avLst/>
          </a:prstGeom>
          <a:solidFill>
            <a:srgbClr val="D7DF23"/>
          </a:solidFill>
          <a:ln w="12700">
            <a:solidFill>
              <a:srgbClr val="D7DF23"/>
            </a:solidFill>
            <a:prstDash val="solid"/>
          </a:ln>
        </p:spPr>
        <p:txBody>
          <a:bodyPr/>
          <a:lstStyle/>
          <a:p>
            <a:endParaRPr lang="en-US"/>
          </a:p>
        </p:txBody>
      </p:sp>
      <p:sp>
        <p:nvSpPr>
          <p:cNvPr id="20" name="Text 15"/>
          <p:cNvSpPr txBox="1"/>
          <p:nvPr/>
        </p:nvSpPr>
        <p:spPr>
          <a:xfrm>
            <a:off x="548640" y="3154680"/>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3</a:t>
            </a:r>
            <a:endParaRPr lang="en-US" sz="1800" dirty="0"/>
          </a:p>
        </p:txBody>
      </p:sp>
      <p:sp>
        <p:nvSpPr>
          <p:cNvPr id="21" name="Text 16"/>
          <p:cNvSpPr txBox="1"/>
          <p:nvPr/>
        </p:nvSpPr>
        <p:spPr>
          <a:xfrm>
            <a:off x="1280160" y="3154680"/>
            <a:ext cx="6675120" cy="502920"/>
          </a:xfrm>
          <a:prstGeom prst="rect">
            <a:avLst/>
          </a:prstGeom>
          <a:noFill/>
          <a:ln/>
        </p:spPr>
        <p:txBody>
          <a:bodyPr wrap="square" lIns="0" tIns="0" rIns="0" bIns="0" rtlCol="0" anchor="ctr"/>
          <a:lstStyle/>
          <a:p>
            <a:pPr marL="0" indent="0">
              <a:buNone/>
            </a:pPr>
            <a:r>
              <a:rPr lang="en-US" sz="1900" dirty="0">
                <a:solidFill>
                  <a:srgbClr val="111111"/>
                </a:solidFill>
                <a:latin typeface="Calibri" pitchFamily="34" charset="0"/>
                <a:ea typeface="Calibri" pitchFamily="34" charset="-122"/>
                <a:cs typeface="Calibri" pitchFamily="34" charset="-120"/>
              </a:rPr>
              <a:t>Label what you can see: cell wall, cell membrane, vacuole, nucleus, cytoplasm.</a:t>
            </a:r>
            <a:endParaRPr lang="en-US" sz="1900" dirty="0"/>
          </a:p>
        </p:txBody>
      </p:sp>
      <p:sp>
        <p:nvSpPr>
          <p:cNvPr id="22" name="Shape 17"/>
          <p:cNvSpPr/>
          <p:nvPr/>
        </p:nvSpPr>
        <p:spPr>
          <a:xfrm>
            <a:off x="548640" y="3840480"/>
            <a:ext cx="502920" cy="502920"/>
          </a:xfrm>
          <a:prstGeom prst="ellipse">
            <a:avLst/>
          </a:prstGeom>
          <a:solidFill>
            <a:srgbClr val="D7DF23"/>
          </a:solidFill>
          <a:ln w="12700">
            <a:solidFill>
              <a:srgbClr val="D7DF23"/>
            </a:solidFill>
            <a:prstDash val="solid"/>
          </a:ln>
        </p:spPr>
        <p:txBody>
          <a:bodyPr/>
          <a:lstStyle/>
          <a:p>
            <a:endParaRPr lang="en-US"/>
          </a:p>
        </p:txBody>
      </p:sp>
      <p:sp>
        <p:nvSpPr>
          <p:cNvPr id="23" name="Text 18"/>
          <p:cNvSpPr txBox="1"/>
          <p:nvPr/>
        </p:nvSpPr>
        <p:spPr>
          <a:xfrm>
            <a:off x="548640" y="3840480"/>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4</a:t>
            </a:r>
            <a:endParaRPr lang="en-US" sz="1800" dirty="0"/>
          </a:p>
        </p:txBody>
      </p:sp>
      <p:sp>
        <p:nvSpPr>
          <p:cNvPr id="24" name="Text 19"/>
          <p:cNvSpPr txBox="1"/>
          <p:nvPr/>
        </p:nvSpPr>
        <p:spPr>
          <a:xfrm>
            <a:off x="1280160" y="3840480"/>
            <a:ext cx="6675120" cy="502920"/>
          </a:xfrm>
          <a:prstGeom prst="rect">
            <a:avLst/>
          </a:prstGeom>
          <a:noFill/>
          <a:ln/>
        </p:spPr>
        <p:txBody>
          <a:bodyPr wrap="square" lIns="0" tIns="0" rIns="0" bIns="0" rtlCol="0" anchor="ctr"/>
          <a:lstStyle/>
          <a:p>
            <a:pPr marL="0" indent="0">
              <a:buNone/>
            </a:pPr>
            <a:r>
              <a:rPr lang="en-US" sz="1900" b="1" dirty="0">
                <a:solidFill>
                  <a:srgbClr val="111111"/>
                </a:solidFill>
                <a:latin typeface="Calibri" pitchFamily="34" charset="0"/>
                <a:ea typeface="Calibri" pitchFamily="34" charset="-122"/>
                <a:cs typeface="Calibri" pitchFamily="34" charset="-120"/>
              </a:rPr>
              <a:t>Write: “I can / cannot see chloroplasts.”</a:t>
            </a:r>
            <a:endParaRPr lang="en-US" sz="1900" dirty="0"/>
          </a:p>
        </p:txBody>
      </p:sp>
      <p:sp>
        <p:nvSpPr>
          <p:cNvPr id="25" name="Shape 20"/>
          <p:cNvSpPr/>
          <p:nvPr/>
        </p:nvSpPr>
        <p:spPr>
          <a:xfrm>
            <a:off x="548640" y="4526280"/>
            <a:ext cx="502920" cy="502920"/>
          </a:xfrm>
          <a:prstGeom prst="ellipse">
            <a:avLst/>
          </a:prstGeom>
          <a:solidFill>
            <a:srgbClr val="D7DF23"/>
          </a:solidFill>
          <a:ln w="12700">
            <a:solidFill>
              <a:srgbClr val="D7DF23"/>
            </a:solidFill>
            <a:prstDash val="solid"/>
          </a:ln>
        </p:spPr>
        <p:txBody>
          <a:bodyPr/>
          <a:lstStyle/>
          <a:p>
            <a:endParaRPr lang="en-US"/>
          </a:p>
        </p:txBody>
      </p:sp>
      <p:sp>
        <p:nvSpPr>
          <p:cNvPr id="26" name="Text 21"/>
          <p:cNvSpPr txBox="1"/>
          <p:nvPr/>
        </p:nvSpPr>
        <p:spPr>
          <a:xfrm>
            <a:off x="548640" y="4526280"/>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5</a:t>
            </a:r>
            <a:endParaRPr lang="en-US" sz="1800" dirty="0"/>
          </a:p>
        </p:txBody>
      </p:sp>
      <p:sp>
        <p:nvSpPr>
          <p:cNvPr id="27" name="Text 22"/>
          <p:cNvSpPr txBox="1"/>
          <p:nvPr/>
        </p:nvSpPr>
        <p:spPr>
          <a:xfrm>
            <a:off x="1280160" y="4526280"/>
            <a:ext cx="6675120" cy="502920"/>
          </a:xfrm>
          <a:prstGeom prst="rect">
            <a:avLst/>
          </a:prstGeom>
          <a:noFill/>
          <a:ln/>
        </p:spPr>
        <p:txBody>
          <a:bodyPr wrap="square" lIns="0" tIns="0" rIns="0" bIns="0" rtlCol="0" anchor="ctr"/>
          <a:lstStyle/>
          <a:p>
            <a:pPr marL="0" indent="0">
              <a:buNone/>
            </a:pPr>
            <a:r>
              <a:rPr lang="en-US" sz="1900" dirty="0">
                <a:solidFill>
                  <a:srgbClr val="111111"/>
                </a:solidFill>
                <a:latin typeface="Calibri" pitchFamily="34" charset="0"/>
                <a:ea typeface="Calibri" pitchFamily="34" charset="-122"/>
                <a:cs typeface="Calibri" pitchFamily="34" charset="-120"/>
              </a:rPr>
              <a:t>Write the magnification under each drawing.</a:t>
            </a:r>
            <a:endParaRPr lang="en-US" sz="1900" dirty="0"/>
          </a:p>
        </p:txBody>
      </p:sp>
      <p:sp>
        <p:nvSpPr>
          <p:cNvPr id="28" name="Shape 23"/>
          <p:cNvSpPr/>
          <p:nvPr/>
        </p:nvSpPr>
        <p:spPr>
          <a:xfrm>
            <a:off x="8229600" y="1783080"/>
            <a:ext cx="3410712" cy="3291840"/>
          </a:xfrm>
          <a:prstGeom prst="roundRect">
            <a:avLst>
              <a:gd name="adj" fmla="val 3333"/>
            </a:avLst>
          </a:prstGeom>
          <a:solidFill>
            <a:srgbClr val="F5F6F9"/>
          </a:solidFill>
          <a:ln w="9525">
            <a:solidFill>
              <a:srgbClr val="E3E6ED"/>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8458200" y="1984248"/>
            <a:ext cx="292608" cy="292608"/>
          </a:xfrm>
          <a:prstGeom prst="rect">
            <a:avLst/>
          </a:prstGeom>
        </p:spPr>
      </p:pic>
      <p:sp>
        <p:nvSpPr>
          <p:cNvPr id="30" name="Text 24"/>
          <p:cNvSpPr txBox="1"/>
          <p:nvPr/>
        </p:nvSpPr>
        <p:spPr>
          <a:xfrm>
            <a:off x="8458200" y="2377440"/>
            <a:ext cx="3063240" cy="2606040"/>
          </a:xfrm>
          <a:prstGeom prst="rect">
            <a:avLst/>
          </a:prstGeom>
          <a:noFill/>
          <a:ln/>
        </p:spPr>
        <p:txBody>
          <a:bodyPr wrap="square" lIns="0" tIns="0" rIns="0" bIns="0" rtlCol="0" anchor="t"/>
          <a:lstStyle/>
          <a:p>
            <a:pPr marL="0" indent="0">
              <a:spcAft>
                <a:spcPts val="300"/>
              </a:spcAft>
              <a:buNone/>
            </a:pPr>
            <a:r>
              <a:rPr lang="en-US" sz="1600" b="1" dirty="0">
                <a:solidFill>
                  <a:srgbClr val="111111"/>
                </a:solidFill>
                <a:latin typeface="Calibri" pitchFamily="34" charset="0"/>
                <a:ea typeface="Calibri" pitchFamily="34" charset="-122"/>
                <a:cs typeface="Calibri" pitchFamily="34" charset="-120"/>
              </a:rPr>
              <a:t>Good biological drawings</a:t>
            </a:r>
            <a:endParaRPr lang="en-US" sz="1400" dirty="0"/>
          </a:p>
          <a:p>
            <a:pPr marL="342900" indent="-342900">
              <a:spcAft>
                <a:spcPts val="300"/>
              </a:spcAft>
              <a:buSzPct val="100000"/>
              <a:buChar char="•"/>
            </a:pPr>
            <a:r>
              <a:rPr lang="en-US" sz="1400" dirty="0">
                <a:solidFill>
                  <a:srgbClr val="111111"/>
                </a:solidFill>
                <a:latin typeface="Calibri" pitchFamily="34" charset="0"/>
                <a:ea typeface="Calibri" pitchFamily="34" charset="-122"/>
                <a:cs typeface="Calibri" pitchFamily="34" charset="-120"/>
              </a:rPr>
              <a:t>Use a sharp pencil.</a:t>
            </a:r>
            <a:endParaRPr lang="en-US" sz="1400" dirty="0"/>
          </a:p>
          <a:p>
            <a:pPr marL="342900" indent="-342900">
              <a:spcAft>
                <a:spcPts val="300"/>
              </a:spcAft>
              <a:buSzPct val="100000"/>
              <a:buChar char="•"/>
            </a:pPr>
            <a:r>
              <a:rPr lang="en-US" sz="1400" dirty="0">
                <a:solidFill>
                  <a:srgbClr val="111111"/>
                </a:solidFill>
                <a:latin typeface="Calibri" pitchFamily="34" charset="0"/>
                <a:ea typeface="Calibri" pitchFamily="34" charset="-122"/>
                <a:cs typeface="Calibri" pitchFamily="34" charset="-120"/>
              </a:rPr>
              <a:t>Clear single lines. No shading.</a:t>
            </a:r>
            <a:endParaRPr lang="en-US" sz="1400" dirty="0"/>
          </a:p>
          <a:p>
            <a:pPr marL="342900" indent="-342900">
              <a:spcAft>
                <a:spcPts val="300"/>
              </a:spcAft>
              <a:buSzPct val="100000"/>
              <a:buChar char="•"/>
            </a:pPr>
            <a:r>
              <a:rPr lang="en-US" sz="1400" dirty="0">
                <a:solidFill>
                  <a:srgbClr val="111111"/>
                </a:solidFill>
                <a:latin typeface="Calibri" pitchFamily="34" charset="0"/>
                <a:ea typeface="Calibri" pitchFamily="34" charset="-122"/>
                <a:cs typeface="Calibri" pitchFamily="34" charset="-120"/>
              </a:rPr>
              <a:t>Draw only what you see.</a:t>
            </a:r>
            <a:endParaRPr lang="en-US" sz="1400" dirty="0"/>
          </a:p>
          <a:p>
            <a:pPr marL="342900" indent="-342900">
              <a:spcAft>
                <a:spcPts val="300"/>
              </a:spcAft>
              <a:buSzPct val="100000"/>
              <a:buChar char="•"/>
            </a:pPr>
            <a:r>
              <a:rPr lang="en-US" sz="1400" dirty="0">
                <a:solidFill>
                  <a:srgbClr val="111111"/>
                </a:solidFill>
                <a:latin typeface="Calibri" pitchFamily="34" charset="0"/>
                <a:ea typeface="Calibri" pitchFamily="34" charset="-122"/>
                <a:cs typeface="Calibri" pitchFamily="34" charset="-120"/>
              </a:rPr>
              <a:t>Ruled label lines that do not cross.</a:t>
            </a:r>
            <a:endParaRPr lang="en-US" sz="1400" dirty="0"/>
          </a:p>
          <a:p>
            <a:pPr marL="342900" indent="-342900">
              <a:spcAft>
                <a:spcPts val="300"/>
              </a:spcAft>
              <a:buSzPct val="100000"/>
              <a:buChar char="•"/>
            </a:pPr>
            <a:r>
              <a:rPr lang="en-US" sz="1400" dirty="0">
                <a:solidFill>
                  <a:srgbClr val="111111"/>
                </a:solidFill>
                <a:latin typeface="Calibri" pitchFamily="34" charset="0"/>
                <a:ea typeface="Calibri" pitchFamily="34" charset="-122"/>
                <a:cs typeface="Calibri" pitchFamily="34" charset="-120"/>
              </a:rPr>
              <a:t>A title and the magnification.</a:t>
            </a:r>
            <a:endParaRPr lang="en-US" sz="1400" dirty="0"/>
          </a:p>
        </p:txBody>
      </p:sp>
      <p:sp>
        <p:nvSpPr>
          <p:cNvPr id="31" name="Shape 25"/>
          <p:cNvSpPr/>
          <p:nvPr/>
        </p:nvSpPr>
        <p:spPr>
          <a:xfrm>
            <a:off x="8229600" y="525780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32" name="Image 4" descr="preencoded.png"/>
          <p:cNvPicPr>
            <a:picLocks noChangeAspect="1"/>
          </p:cNvPicPr>
          <p:nvPr/>
        </p:nvPicPr>
        <p:blipFill>
          <a:blip r:embed="rId7"/>
          <a:stretch>
            <a:fillRect/>
          </a:stretch>
        </p:blipFill>
        <p:spPr>
          <a:xfrm>
            <a:off x="8412480" y="5413248"/>
            <a:ext cx="237744" cy="237744"/>
          </a:xfrm>
          <a:prstGeom prst="rect">
            <a:avLst/>
          </a:prstGeom>
        </p:spPr>
      </p:pic>
      <p:sp>
        <p:nvSpPr>
          <p:cNvPr id="33" name="Text 26"/>
          <p:cNvSpPr txBox="1"/>
          <p:nvPr/>
        </p:nvSpPr>
        <p:spPr>
          <a:xfrm>
            <a:off x="8732520" y="525780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25:00</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Back to your predictions</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783080"/>
            <a:ext cx="5486400" cy="3017520"/>
          </a:xfrm>
          <a:prstGeom prst="roundRect">
            <a:avLst>
              <a:gd name="adj" fmla="val 3636"/>
            </a:avLst>
          </a:prstGeom>
          <a:solidFill>
            <a:srgbClr val="FBE4F2"/>
          </a:solidFill>
          <a:ln w="9525">
            <a:solidFill>
              <a:srgbClr val="FBE4F2"/>
            </a:solidFill>
            <a:prstDash val="solid"/>
          </a:ln>
        </p:spPr>
        <p:txBody>
          <a:bodyPr/>
          <a:lstStyle/>
          <a:p>
            <a:endParaRPr lang="en-US"/>
          </a:p>
        </p:txBody>
      </p:sp>
      <p:sp>
        <p:nvSpPr>
          <p:cNvPr id="11" name="Text 7"/>
          <p:cNvSpPr txBox="1"/>
          <p:nvPr/>
        </p:nvSpPr>
        <p:spPr>
          <a:xfrm>
            <a:off x="822960" y="2011680"/>
            <a:ext cx="5029200" cy="2560320"/>
          </a:xfrm>
          <a:prstGeom prst="rect">
            <a:avLst/>
          </a:prstGeom>
          <a:noFill/>
          <a:ln/>
        </p:spPr>
        <p:txBody>
          <a:bodyPr wrap="square" lIns="0" tIns="0" rIns="0" bIns="0" rtlCol="0" anchor="t"/>
          <a:lstStyle/>
          <a:p>
            <a:pPr marL="0" indent="0">
              <a:spcAft>
                <a:spcPts val="600"/>
              </a:spcAft>
              <a:buNone/>
            </a:pPr>
            <a:r>
              <a:rPr lang="en-US" sz="2000" b="1" dirty="0">
                <a:solidFill>
                  <a:srgbClr val="111111"/>
                </a:solidFill>
                <a:latin typeface="Calibri" pitchFamily="34" charset="0"/>
                <a:ea typeface="Calibri" pitchFamily="34" charset="-122"/>
                <a:cs typeface="Calibri" pitchFamily="34" charset="-120"/>
              </a:rPr>
              <a:t>Take a different colour pen.</a:t>
            </a:r>
            <a:endParaRPr lang="en-US" sz="2000" dirty="0"/>
          </a:p>
          <a:p>
            <a:pPr marL="0" indent="0">
              <a:spcAft>
                <a:spcPts val="600"/>
              </a:spcAft>
              <a:buNone/>
            </a:pPr>
            <a:r>
              <a:rPr lang="en-US" sz="600" dirty="0">
                <a:solidFill>
                  <a:srgbClr val="111111"/>
                </a:solidFill>
                <a:latin typeface="Calibri" pitchFamily="34" charset="0"/>
                <a:ea typeface="Calibri" pitchFamily="34" charset="-122"/>
                <a:cs typeface="Calibri" pitchFamily="34" charset="-120"/>
              </a:rPr>
              <a:t> </a:t>
            </a:r>
            <a:endParaRPr lang="en-US" sz="2000" dirty="0"/>
          </a:p>
          <a:p>
            <a:pPr marL="0" indent="0">
              <a:spcAft>
                <a:spcPts val="600"/>
              </a:spcAft>
              <a:buNone/>
            </a:pPr>
            <a:r>
              <a:rPr lang="en-US" sz="2000" dirty="0">
                <a:solidFill>
                  <a:srgbClr val="111111"/>
                </a:solidFill>
                <a:latin typeface="Calibri" pitchFamily="34" charset="0"/>
                <a:ea typeface="Calibri" pitchFamily="34" charset="-122"/>
                <a:cs typeface="Calibri" pitchFamily="34" charset="-120"/>
              </a:rPr>
              <a:t>◯  Circle every prediction your microscope confirmed.</a:t>
            </a:r>
            <a:endParaRPr lang="en-US" sz="2000" dirty="0"/>
          </a:p>
          <a:p>
            <a:pPr marL="0" indent="0">
              <a:spcAft>
                <a:spcPts val="600"/>
              </a:spcAft>
              <a:buNone/>
            </a:pPr>
            <a:r>
              <a:rPr lang="en-US" sz="2000" dirty="0">
                <a:solidFill>
                  <a:srgbClr val="111111"/>
                </a:solidFill>
                <a:latin typeface="Calibri" pitchFamily="34" charset="0"/>
                <a:ea typeface="Calibri" pitchFamily="34" charset="-122"/>
                <a:cs typeface="Calibri" pitchFamily="34" charset="-120"/>
              </a:rPr>
              <a:t>✕  Cross out every prediction that was wrong.</a:t>
            </a:r>
            <a:endParaRPr lang="en-US" sz="2000" dirty="0"/>
          </a:p>
        </p:txBody>
      </p:sp>
      <p:sp>
        <p:nvSpPr>
          <p:cNvPr id="12" name="Shape 8"/>
          <p:cNvSpPr/>
          <p:nvPr/>
        </p:nvSpPr>
        <p:spPr>
          <a:xfrm>
            <a:off x="822960" y="406908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1005840" y="4224528"/>
            <a:ext cx="237744" cy="237744"/>
          </a:xfrm>
          <a:prstGeom prst="rect">
            <a:avLst/>
          </a:prstGeom>
        </p:spPr>
      </p:pic>
      <p:sp>
        <p:nvSpPr>
          <p:cNvPr id="14" name="Text 9"/>
          <p:cNvSpPr txBox="1"/>
          <p:nvPr/>
        </p:nvSpPr>
        <p:spPr>
          <a:xfrm>
            <a:off x="1325880" y="406908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2:00</a:t>
            </a:r>
            <a:endParaRPr lang="en-US" sz="2200" dirty="0"/>
          </a:p>
        </p:txBody>
      </p:sp>
      <p:sp>
        <p:nvSpPr>
          <p:cNvPr id="15" name="Shape 10"/>
          <p:cNvSpPr/>
          <p:nvPr/>
        </p:nvSpPr>
        <p:spPr>
          <a:xfrm>
            <a:off x="6309360" y="1783080"/>
            <a:ext cx="5330952" cy="3017520"/>
          </a:xfrm>
          <a:prstGeom prst="roundRect">
            <a:avLst>
              <a:gd name="adj" fmla="val 3636"/>
            </a:avLst>
          </a:prstGeom>
          <a:solidFill>
            <a:srgbClr val="FFFFFF"/>
          </a:solidFill>
          <a:ln w="9525">
            <a:solidFill>
              <a:srgbClr val="111111"/>
            </a:solidFill>
            <a:prstDash val="solid"/>
          </a:ln>
        </p:spPr>
        <p:txBody>
          <a:bodyPr/>
          <a:lstStyle/>
          <a:p>
            <a:endParaRPr lang="en-US"/>
          </a:p>
        </p:txBody>
      </p:sp>
      <p:sp>
        <p:nvSpPr>
          <p:cNvPr id="16" name="Text 11"/>
          <p:cNvSpPr txBox="1"/>
          <p:nvPr/>
        </p:nvSpPr>
        <p:spPr>
          <a:xfrm>
            <a:off x="6583680" y="2011680"/>
            <a:ext cx="4846320" cy="2560320"/>
          </a:xfrm>
          <a:prstGeom prst="rect">
            <a:avLst/>
          </a:prstGeom>
          <a:noFill/>
          <a:ln/>
        </p:spPr>
        <p:txBody>
          <a:bodyPr wrap="square" lIns="0" tIns="0" rIns="0" bIns="0" rtlCol="0" anchor="t"/>
          <a:lstStyle/>
          <a:p>
            <a:pPr marL="0" indent="0">
              <a:buNone/>
            </a:pPr>
            <a:r>
              <a:rPr lang="en-US" sz="1600" b="1" dirty="0">
                <a:solidFill>
                  <a:srgbClr val="5B6172"/>
                </a:solidFill>
                <a:latin typeface="Calibri" pitchFamily="34" charset="0"/>
                <a:ea typeface="Calibri" pitchFamily="34" charset="-122"/>
                <a:cs typeface="Calibri" pitchFamily="34" charset="-120"/>
              </a:rPr>
              <a:t>Show of hands</a:t>
            </a:r>
            <a:endParaRPr lang="en-US" sz="1600" dirty="0"/>
          </a:p>
          <a:p>
            <a:pPr marL="0" indent="0">
              <a:buNone/>
            </a:pPr>
            <a:r>
              <a:rPr lang="en-US" sz="2400" b="1" dirty="0">
                <a:solidFill>
                  <a:srgbClr val="111111"/>
                </a:solidFill>
                <a:latin typeface="Calibri" pitchFamily="34" charset="0"/>
                <a:ea typeface="Calibri" pitchFamily="34" charset="-122"/>
                <a:cs typeface="Calibri" pitchFamily="34" charset="-120"/>
              </a:rPr>
              <a:t>Who predicted chloroplasts?</a:t>
            </a:r>
            <a:endParaRPr lang="en-US" sz="1600" dirty="0"/>
          </a:p>
          <a:p>
            <a:pPr marL="0" indent="0">
              <a:buNone/>
            </a:pPr>
            <a:r>
              <a:rPr lang="en-US" sz="1000" dirty="0">
                <a:solidFill>
                  <a:srgbClr val="111111"/>
                </a:solidFill>
                <a:latin typeface="Calibri" pitchFamily="34" charset="0"/>
                <a:ea typeface="Calibri" pitchFamily="34" charset="-122"/>
                <a:cs typeface="Calibri" pitchFamily="34" charset="-120"/>
              </a:rPr>
              <a:t> </a:t>
            </a:r>
            <a:endParaRPr lang="en-US" sz="1600" dirty="0"/>
          </a:p>
          <a:p>
            <a:pPr marL="0" indent="0">
              <a:buNone/>
            </a:pPr>
            <a:r>
              <a:rPr lang="en-US" sz="2400" b="1" dirty="0">
                <a:solidFill>
                  <a:srgbClr val="CF128C"/>
                </a:solidFill>
                <a:latin typeface="Calibri" pitchFamily="34" charset="0"/>
                <a:ea typeface="Calibri" pitchFamily="34" charset="-122"/>
                <a:cs typeface="Calibri" pitchFamily="34" charset="-120"/>
              </a:rPr>
              <a:t>Who FOUND chloroplasts?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Why are there no chloroplasts in onion skin cells?</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783080"/>
            <a:ext cx="2651760" cy="2286000"/>
          </a:xfrm>
          <a:prstGeom prst="roundRect">
            <a:avLst>
              <a:gd name="adj" fmla="val 4800"/>
            </a:avLst>
          </a:prstGeom>
          <a:solidFill>
            <a:srgbClr val="F5F6F9"/>
          </a:solidFill>
          <a:ln w="9525">
            <a:solidFill>
              <a:srgbClr val="E3E6ED"/>
            </a:solidFill>
            <a:prstDash val="solid"/>
          </a:ln>
        </p:spPr>
        <p:txBody>
          <a:bodyPr/>
          <a:lstStyle/>
          <a:p>
            <a:endParaRPr lang="en-US"/>
          </a:p>
        </p:txBody>
      </p:sp>
      <p:sp>
        <p:nvSpPr>
          <p:cNvPr id="11" name="Text 7"/>
          <p:cNvSpPr txBox="1"/>
          <p:nvPr/>
        </p:nvSpPr>
        <p:spPr>
          <a:xfrm>
            <a:off x="731520" y="1920240"/>
            <a:ext cx="2286000" cy="109728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Where do the onion layers grow?</a:t>
            </a:r>
            <a:endParaRPr lang="en-US" sz="1700" dirty="0"/>
          </a:p>
        </p:txBody>
      </p:sp>
      <p:sp>
        <p:nvSpPr>
          <p:cNvPr id="12" name="Text 8"/>
          <p:cNvSpPr txBox="1"/>
          <p:nvPr/>
        </p:nvSpPr>
        <p:spPr>
          <a:xfrm>
            <a:off x="731520" y="3063240"/>
            <a:ext cx="2286000" cy="822960"/>
          </a:xfrm>
          <a:prstGeom prst="rect">
            <a:avLst/>
          </a:prstGeom>
          <a:noFill/>
          <a:ln/>
        </p:spPr>
        <p:txBody>
          <a:bodyPr wrap="square" lIns="0" tIns="0" rIns="0" bIns="0" rtlCol="0" anchor="t"/>
          <a:lstStyle/>
          <a:p>
            <a:pPr marL="0" indent="0">
              <a:buNone/>
            </a:pPr>
            <a:r>
              <a:rPr lang="en-US" sz="1500" i="1" dirty="0">
                <a:solidFill>
                  <a:srgbClr val="CF128C"/>
                </a:solidFill>
                <a:latin typeface="Calibri" pitchFamily="34" charset="0"/>
                <a:ea typeface="Calibri" pitchFamily="34" charset="-122"/>
                <a:cs typeface="Calibri" pitchFamily="34" charset="-120"/>
              </a:rPr>
              <a:t>Inside the bulb, often underground</a:t>
            </a:r>
            <a:endParaRPr lang="en-US" sz="1500" dirty="0"/>
          </a:p>
        </p:txBody>
      </p:sp>
      <p:sp>
        <p:nvSpPr>
          <p:cNvPr id="13" name="Shape 9"/>
          <p:cNvSpPr/>
          <p:nvPr/>
        </p:nvSpPr>
        <p:spPr>
          <a:xfrm>
            <a:off x="3218688" y="2743200"/>
            <a:ext cx="137160" cy="274320"/>
          </a:xfrm>
          <a:prstGeom prst="rightArrow">
            <a:avLst/>
          </a:prstGeom>
          <a:solidFill>
            <a:srgbClr val="B8BDC9"/>
          </a:solidFill>
          <a:ln w="12700">
            <a:solidFill>
              <a:srgbClr val="B8BDC9"/>
            </a:solidFill>
            <a:prstDash val="solid"/>
          </a:ln>
        </p:spPr>
        <p:txBody>
          <a:bodyPr/>
          <a:lstStyle/>
          <a:p>
            <a:endParaRPr lang="en-US"/>
          </a:p>
        </p:txBody>
      </p:sp>
      <p:sp>
        <p:nvSpPr>
          <p:cNvPr id="14" name="Shape 10"/>
          <p:cNvSpPr/>
          <p:nvPr/>
        </p:nvSpPr>
        <p:spPr>
          <a:xfrm>
            <a:off x="3364992" y="1783080"/>
            <a:ext cx="2651760" cy="2286000"/>
          </a:xfrm>
          <a:prstGeom prst="roundRect">
            <a:avLst>
              <a:gd name="adj" fmla="val 4800"/>
            </a:avLst>
          </a:prstGeom>
          <a:solidFill>
            <a:srgbClr val="F5F6F9"/>
          </a:solidFill>
          <a:ln w="9525">
            <a:solidFill>
              <a:srgbClr val="E3E6ED"/>
            </a:solidFill>
            <a:prstDash val="solid"/>
          </a:ln>
        </p:spPr>
        <p:txBody>
          <a:bodyPr/>
          <a:lstStyle/>
          <a:p>
            <a:endParaRPr lang="en-US"/>
          </a:p>
        </p:txBody>
      </p:sp>
      <p:sp>
        <p:nvSpPr>
          <p:cNvPr id="15" name="Text 11"/>
          <p:cNvSpPr txBox="1"/>
          <p:nvPr/>
        </p:nvSpPr>
        <p:spPr>
          <a:xfrm>
            <a:off x="3547872" y="1920240"/>
            <a:ext cx="2286000" cy="109728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Does light reach them?</a:t>
            </a:r>
            <a:endParaRPr lang="en-US" sz="1700" dirty="0"/>
          </a:p>
        </p:txBody>
      </p:sp>
      <p:sp>
        <p:nvSpPr>
          <p:cNvPr id="16" name="Text 12"/>
          <p:cNvSpPr txBox="1"/>
          <p:nvPr/>
        </p:nvSpPr>
        <p:spPr>
          <a:xfrm>
            <a:off x="3547872" y="3063240"/>
            <a:ext cx="2286000" cy="822960"/>
          </a:xfrm>
          <a:prstGeom prst="rect">
            <a:avLst/>
          </a:prstGeom>
          <a:noFill/>
          <a:ln/>
        </p:spPr>
        <p:txBody>
          <a:bodyPr wrap="square" lIns="0" tIns="0" rIns="0" bIns="0" rtlCol="0" anchor="t"/>
          <a:lstStyle/>
          <a:p>
            <a:pPr marL="0" indent="0">
              <a:buNone/>
            </a:pPr>
            <a:r>
              <a:rPr lang="en-US" sz="1500" i="1" dirty="0">
                <a:solidFill>
                  <a:srgbClr val="CF128C"/>
                </a:solidFill>
                <a:latin typeface="Calibri" pitchFamily="34" charset="0"/>
                <a:ea typeface="Calibri" pitchFamily="34" charset="-122"/>
                <a:cs typeface="Calibri" pitchFamily="34" charset="-120"/>
              </a:rPr>
              <a:t>No</a:t>
            </a:r>
            <a:endParaRPr lang="en-US" sz="1500" dirty="0"/>
          </a:p>
        </p:txBody>
      </p:sp>
      <p:sp>
        <p:nvSpPr>
          <p:cNvPr id="17" name="Shape 13"/>
          <p:cNvSpPr/>
          <p:nvPr/>
        </p:nvSpPr>
        <p:spPr>
          <a:xfrm>
            <a:off x="6035040" y="2743200"/>
            <a:ext cx="137160" cy="274320"/>
          </a:xfrm>
          <a:prstGeom prst="rightArrow">
            <a:avLst/>
          </a:prstGeom>
          <a:solidFill>
            <a:srgbClr val="B8BDC9"/>
          </a:solidFill>
          <a:ln w="12700">
            <a:solidFill>
              <a:srgbClr val="B8BDC9"/>
            </a:solidFill>
            <a:prstDash val="solid"/>
          </a:ln>
        </p:spPr>
        <p:txBody>
          <a:bodyPr/>
          <a:lstStyle/>
          <a:p>
            <a:endParaRPr lang="en-US"/>
          </a:p>
        </p:txBody>
      </p:sp>
      <p:sp>
        <p:nvSpPr>
          <p:cNvPr id="18" name="Shape 14"/>
          <p:cNvSpPr/>
          <p:nvPr/>
        </p:nvSpPr>
        <p:spPr>
          <a:xfrm>
            <a:off x="6181344" y="1783080"/>
            <a:ext cx="2651760" cy="2286000"/>
          </a:xfrm>
          <a:prstGeom prst="roundRect">
            <a:avLst>
              <a:gd name="adj" fmla="val 4800"/>
            </a:avLst>
          </a:prstGeom>
          <a:solidFill>
            <a:srgbClr val="F5F6F9"/>
          </a:solidFill>
          <a:ln w="9525">
            <a:solidFill>
              <a:srgbClr val="E3E6ED"/>
            </a:solidFill>
            <a:prstDash val="solid"/>
          </a:ln>
        </p:spPr>
        <p:txBody>
          <a:bodyPr/>
          <a:lstStyle/>
          <a:p>
            <a:endParaRPr lang="en-US"/>
          </a:p>
        </p:txBody>
      </p:sp>
      <p:sp>
        <p:nvSpPr>
          <p:cNvPr id="19" name="Text 15"/>
          <p:cNvSpPr txBox="1"/>
          <p:nvPr/>
        </p:nvSpPr>
        <p:spPr>
          <a:xfrm>
            <a:off x="6364224" y="1920240"/>
            <a:ext cx="2286000" cy="109728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What do chloroplasts do?</a:t>
            </a:r>
            <a:endParaRPr lang="en-US" sz="1700" dirty="0"/>
          </a:p>
        </p:txBody>
      </p:sp>
      <p:sp>
        <p:nvSpPr>
          <p:cNvPr id="20" name="Text 16"/>
          <p:cNvSpPr txBox="1"/>
          <p:nvPr/>
        </p:nvSpPr>
        <p:spPr>
          <a:xfrm>
            <a:off x="6364224" y="3063240"/>
            <a:ext cx="2286000" cy="822960"/>
          </a:xfrm>
          <a:prstGeom prst="rect">
            <a:avLst/>
          </a:prstGeom>
          <a:noFill/>
          <a:ln/>
        </p:spPr>
        <p:txBody>
          <a:bodyPr wrap="square" lIns="0" tIns="0" rIns="0" bIns="0" rtlCol="0" anchor="t"/>
          <a:lstStyle/>
          <a:p>
            <a:pPr marL="0" indent="0">
              <a:buNone/>
            </a:pPr>
            <a:r>
              <a:rPr lang="en-US" sz="1500" i="1" dirty="0">
                <a:solidFill>
                  <a:srgbClr val="CF128C"/>
                </a:solidFill>
                <a:latin typeface="Calibri" pitchFamily="34" charset="0"/>
                <a:ea typeface="Calibri" pitchFamily="34" charset="-122"/>
                <a:cs typeface="Calibri" pitchFamily="34" charset="-120"/>
              </a:rPr>
              <a:t>Capture light for photosynthesis</a:t>
            </a:r>
            <a:endParaRPr lang="en-US" sz="1500" dirty="0"/>
          </a:p>
        </p:txBody>
      </p:sp>
      <p:sp>
        <p:nvSpPr>
          <p:cNvPr id="21" name="Shape 17"/>
          <p:cNvSpPr/>
          <p:nvPr/>
        </p:nvSpPr>
        <p:spPr>
          <a:xfrm>
            <a:off x="8851392" y="2743200"/>
            <a:ext cx="137160" cy="274320"/>
          </a:xfrm>
          <a:prstGeom prst="rightArrow">
            <a:avLst/>
          </a:prstGeom>
          <a:solidFill>
            <a:srgbClr val="B8BDC9"/>
          </a:solidFill>
          <a:ln w="12700">
            <a:solidFill>
              <a:srgbClr val="B8BDC9"/>
            </a:solidFill>
            <a:prstDash val="solid"/>
          </a:ln>
        </p:spPr>
        <p:txBody>
          <a:bodyPr/>
          <a:lstStyle/>
          <a:p>
            <a:endParaRPr lang="en-US"/>
          </a:p>
        </p:txBody>
      </p:sp>
      <p:sp>
        <p:nvSpPr>
          <p:cNvPr id="22" name="Shape 18"/>
          <p:cNvSpPr/>
          <p:nvPr/>
        </p:nvSpPr>
        <p:spPr>
          <a:xfrm>
            <a:off x="8997696" y="1783080"/>
            <a:ext cx="2651760" cy="2286000"/>
          </a:xfrm>
          <a:prstGeom prst="roundRect">
            <a:avLst>
              <a:gd name="adj" fmla="val 4800"/>
            </a:avLst>
          </a:prstGeom>
          <a:solidFill>
            <a:srgbClr val="FBE4F2"/>
          </a:solidFill>
          <a:ln w="9525">
            <a:solidFill>
              <a:srgbClr val="FBE4F2"/>
            </a:solidFill>
            <a:prstDash val="solid"/>
          </a:ln>
        </p:spPr>
        <p:txBody>
          <a:bodyPr/>
          <a:lstStyle/>
          <a:p>
            <a:endParaRPr lang="en-US"/>
          </a:p>
        </p:txBody>
      </p:sp>
      <p:sp>
        <p:nvSpPr>
          <p:cNvPr id="23" name="Text 19"/>
          <p:cNvSpPr txBox="1"/>
          <p:nvPr/>
        </p:nvSpPr>
        <p:spPr>
          <a:xfrm>
            <a:off x="9180576" y="1920240"/>
            <a:ext cx="2286000" cy="109728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So would the cell build chloroplasts?</a:t>
            </a:r>
            <a:endParaRPr lang="en-US" sz="1700" dirty="0"/>
          </a:p>
        </p:txBody>
      </p:sp>
      <p:sp>
        <p:nvSpPr>
          <p:cNvPr id="24" name="Text 20"/>
          <p:cNvSpPr txBox="1"/>
          <p:nvPr/>
        </p:nvSpPr>
        <p:spPr>
          <a:xfrm>
            <a:off x="9180576" y="3063240"/>
            <a:ext cx="2286000" cy="822960"/>
          </a:xfrm>
          <a:prstGeom prst="rect">
            <a:avLst/>
          </a:prstGeom>
          <a:noFill/>
          <a:ln/>
        </p:spPr>
        <p:txBody>
          <a:bodyPr wrap="square" lIns="0" tIns="0" rIns="0" bIns="0" rtlCol="0" anchor="t"/>
          <a:lstStyle/>
          <a:p>
            <a:pPr marL="0" indent="0">
              <a:buNone/>
            </a:pPr>
            <a:r>
              <a:rPr lang="en-US" sz="1500" i="1" dirty="0">
                <a:solidFill>
                  <a:srgbClr val="CF128C"/>
                </a:solidFill>
                <a:latin typeface="Calibri" pitchFamily="34" charset="0"/>
                <a:ea typeface="Calibri" pitchFamily="34" charset="-122"/>
                <a:cs typeface="Calibri" pitchFamily="34" charset="-120"/>
              </a:rPr>
              <a:t>No — it would be a waste</a:t>
            </a:r>
            <a:endParaRPr lang="en-US" sz="1500" dirty="0"/>
          </a:p>
        </p:txBody>
      </p:sp>
      <p:sp>
        <p:nvSpPr>
          <p:cNvPr id="25" name="Shape 21"/>
          <p:cNvSpPr/>
          <p:nvPr/>
        </p:nvSpPr>
        <p:spPr>
          <a:xfrm>
            <a:off x="548640" y="4343400"/>
            <a:ext cx="11091672" cy="1188720"/>
          </a:xfrm>
          <a:prstGeom prst="roundRect">
            <a:avLst>
              <a:gd name="adj" fmla="val 9231"/>
            </a:avLst>
          </a:prstGeom>
          <a:solidFill>
            <a:srgbClr val="111111"/>
          </a:solidFill>
          <a:ln w="9525">
            <a:solidFill>
              <a:srgbClr val="111111"/>
            </a:solidFill>
            <a:prstDash val="solid"/>
          </a:ln>
        </p:spPr>
        <p:txBody>
          <a:bodyPr/>
          <a:lstStyle/>
          <a:p>
            <a:endParaRPr lang="en-US"/>
          </a:p>
        </p:txBody>
      </p:sp>
      <p:sp>
        <p:nvSpPr>
          <p:cNvPr id="26" name="Text 22"/>
          <p:cNvSpPr txBox="1"/>
          <p:nvPr/>
        </p:nvSpPr>
        <p:spPr>
          <a:xfrm>
            <a:off x="822960" y="4343400"/>
            <a:ext cx="10607040" cy="1188720"/>
          </a:xfrm>
          <a:prstGeom prst="rect">
            <a:avLst/>
          </a:prstGeom>
          <a:noFill/>
          <a:ln/>
        </p:spPr>
        <p:txBody>
          <a:bodyPr wrap="square" lIns="0" tIns="0" rIns="0" bIns="0" rtlCol="0" anchor="ctr"/>
          <a:lstStyle/>
          <a:p>
            <a:pPr marL="0" indent="0">
              <a:buNone/>
            </a:pPr>
            <a:r>
              <a:rPr lang="en-US" sz="1700" b="1" dirty="0">
                <a:solidFill>
                  <a:srgbClr val="F27BC6"/>
                </a:solidFill>
                <a:latin typeface="Calibri" pitchFamily="34" charset="0"/>
                <a:ea typeface="Calibri" pitchFamily="34" charset="-122"/>
                <a:cs typeface="Calibri" pitchFamily="34" charset="-120"/>
              </a:rPr>
              <a:t>This is CELL SPECIALISATION. </a:t>
            </a:r>
            <a:r>
              <a:rPr lang="en-US" sz="1700" dirty="0">
                <a:solidFill>
                  <a:srgbClr val="FFFFFF"/>
                </a:solidFill>
                <a:latin typeface="Calibri" pitchFamily="34" charset="0"/>
                <a:ea typeface="Calibri" pitchFamily="34" charset="-122"/>
                <a:cs typeface="Calibri" pitchFamily="34" charset="-120"/>
              </a:rPr>
              <a:t>Onion skin cells are specialised for protection and storage, not photosynthesis. Cells build only the parts they need for their job — just like the cells healing Amina’s finger.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Write your explanation: three sentences</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783080"/>
            <a:ext cx="3566160" cy="2926080"/>
          </a:xfrm>
          <a:prstGeom prst="roundRect">
            <a:avLst>
              <a:gd name="adj" fmla="val 3750"/>
            </a:avLst>
          </a:prstGeom>
          <a:solidFill>
            <a:srgbClr val="FBE4F2"/>
          </a:solidFill>
          <a:ln w="9525">
            <a:solidFill>
              <a:srgbClr val="FBE4F2"/>
            </a:solidFill>
            <a:prstDash val="solid"/>
          </a:ln>
        </p:spPr>
        <p:txBody>
          <a:bodyPr/>
          <a:lstStyle/>
          <a:p>
            <a:endParaRPr lang="en-US"/>
          </a:p>
        </p:txBody>
      </p:sp>
      <p:sp>
        <p:nvSpPr>
          <p:cNvPr id="14" name="Shape 9"/>
          <p:cNvSpPr/>
          <p:nvPr/>
        </p:nvSpPr>
        <p:spPr>
          <a:xfrm>
            <a:off x="822960" y="2011680"/>
            <a:ext cx="548640" cy="548640"/>
          </a:xfrm>
          <a:prstGeom prst="ellipse">
            <a:avLst/>
          </a:prstGeom>
          <a:solidFill>
            <a:srgbClr val="CF128C"/>
          </a:solidFill>
          <a:ln w="12700">
            <a:solidFill>
              <a:srgbClr val="CF128C"/>
            </a:solidFill>
            <a:prstDash val="solid"/>
          </a:ln>
        </p:spPr>
        <p:txBody>
          <a:bodyPr/>
          <a:lstStyle/>
          <a:p>
            <a:endParaRPr lang="en-US"/>
          </a:p>
        </p:txBody>
      </p:sp>
      <p:sp>
        <p:nvSpPr>
          <p:cNvPr id="15" name="Text 10"/>
          <p:cNvSpPr txBox="1"/>
          <p:nvPr/>
        </p:nvSpPr>
        <p:spPr>
          <a:xfrm>
            <a:off x="822960" y="2011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6" name="Text 11"/>
          <p:cNvSpPr txBox="1"/>
          <p:nvPr/>
        </p:nvSpPr>
        <p:spPr>
          <a:xfrm>
            <a:off x="822960" y="2697480"/>
            <a:ext cx="3017520" cy="45720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What I observed</a:t>
            </a:r>
            <a:endParaRPr lang="en-US" sz="2000" dirty="0"/>
          </a:p>
        </p:txBody>
      </p:sp>
      <p:sp>
        <p:nvSpPr>
          <p:cNvPr id="17" name="Text 12"/>
          <p:cNvSpPr txBox="1"/>
          <p:nvPr/>
        </p:nvSpPr>
        <p:spPr>
          <a:xfrm>
            <a:off x="822960" y="3200400"/>
            <a:ext cx="3017520" cy="1371600"/>
          </a:xfrm>
          <a:prstGeom prst="rect">
            <a:avLst/>
          </a:prstGeom>
          <a:noFill/>
          <a:ln/>
        </p:spPr>
        <p:txBody>
          <a:bodyPr wrap="square" lIns="0" tIns="0" rIns="0" bIns="0" rtlCol="0" anchor="t"/>
          <a:lstStyle/>
          <a:p>
            <a:pPr marL="0" indent="0">
              <a:buNone/>
            </a:pPr>
            <a:r>
              <a:rPr lang="en-US" sz="1600" i="1" dirty="0">
                <a:solidFill>
                  <a:srgbClr val="5B6172"/>
                </a:solidFill>
                <a:latin typeface="Calibri" pitchFamily="34" charset="0"/>
                <a:ea typeface="Calibri" pitchFamily="34" charset="-122"/>
                <a:cs typeface="Calibri" pitchFamily="34" charset="-120"/>
              </a:rPr>
              <a:t>Under the microscope, I saw… but I did not see…</a:t>
            </a:r>
            <a:endParaRPr lang="en-US" sz="1600" dirty="0"/>
          </a:p>
        </p:txBody>
      </p:sp>
      <p:sp>
        <p:nvSpPr>
          <p:cNvPr id="18" name="Shape 13"/>
          <p:cNvSpPr/>
          <p:nvPr/>
        </p:nvSpPr>
        <p:spPr>
          <a:xfrm>
            <a:off x="4297680" y="1783080"/>
            <a:ext cx="3566160" cy="2926080"/>
          </a:xfrm>
          <a:prstGeom prst="roundRect">
            <a:avLst>
              <a:gd name="adj" fmla="val 3750"/>
            </a:avLst>
          </a:prstGeom>
          <a:solidFill>
            <a:srgbClr val="FBE4F2"/>
          </a:solidFill>
          <a:ln w="9525">
            <a:solidFill>
              <a:srgbClr val="FBE4F2"/>
            </a:solidFill>
            <a:prstDash val="solid"/>
          </a:ln>
        </p:spPr>
        <p:txBody>
          <a:bodyPr/>
          <a:lstStyle/>
          <a:p>
            <a:endParaRPr lang="en-US"/>
          </a:p>
        </p:txBody>
      </p:sp>
      <p:sp>
        <p:nvSpPr>
          <p:cNvPr id="19" name="Shape 14"/>
          <p:cNvSpPr/>
          <p:nvPr/>
        </p:nvSpPr>
        <p:spPr>
          <a:xfrm>
            <a:off x="4572000" y="2011680"/>
            <a:ext cx="548640" cy="548640"/>
          </a:xfrm>
          <a:prstGeom prst="ellipse">
            <a:avLst/>
          </a:prstGeom>
          <a:solidFill>
            <a:srgbClr val="CF128C"/>
          </a:solidFill>
          <a:ln w="12700">
            <a:solidFill>
              <a:srgbClr val="CF128C"/>
            </a:solidFill>
            <a:prstDash val="solid"/>
          </a:ln>
        </p:spPr>
        <p:txBody>
          <a:bodyPr/>
          <a:lstStyle/>
          <a:p>
            <a:endParaRPr lang="en-US"/>
          </a:p>
        </p:txBody>
      </p:sp>
      <p:sp>
        <p:nvSpPr>
          <p:cNvPr id="20" name="Text 15"/>
          <p:cNvSpPr txBox="1"/>
          <p:nvPr/>
        </p:nvSpPr>
        <p:spPr>
          <a:xfrm>
            <a:off x="4572000" y="2011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6"/>
          <p:cNvSpPr txBox="1"/>
          <p:nvPr/>
        </p:nvSpPr>
        <p:spPr>
          <a:xfrm>
            <a:off x="4572000" y="2697480"/>
            <a:ext cx="3017520" cy="45720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Why it makes sense</a:t>
            </a:r>
            <a:endParaRPr lang="en-US" sz="2000" dirty="0"/>
          </a:p>
        </p:txBody>
      </p:sp>
      <p:sp>
        <p:nvSpPr>
          <p:cNvPr id="22" name="Text 17"/>
          <p:cNvSpPr txBox="1"/>
          <p:nvPr/>
        </p:nvSpPr>
        <p:spPr>
          <a:xfrm>
            <a:off x="4572000" y="3200400"/>
            <a:ext cx="3017520" cy="1371600"/>
          </a:xfrm>
          <a:prstGeom prst="rect">
            <a:avLst/>
          </a:prstGeom>
          <a:noFill/>
          <a:ln/>
        </p:spPr>
        <p:txBody>
          <a:bodyPr wrap="square" lIns="0" tIns="0" rIns="0" bIns="0" rtlCol="0" anchor="t"/>
          <a:lstStyle/>
          <a:p>
            <a:pPr marL="0" indent="0">
              <a:buNone/>
            </a:pPr>
            <a:r>
              <a:rPr lang="en-US" sz="1600" i="1" dirty="0">
                <a:solidFill>
                  <a:srgbClr val="5B6172"/>
                </a:solidFill>
                <a:latin typeface="Calibri" pitchFamily="34" charset="0"/>
                <a:ea typeface="Calibri" pitchFamily="34" charset="-122"/>
                <a:cs typeface="Calibri" pitchFamily="34" charset="-120"/>
              </a:rPr>
              <a:t>This makes sense because the onion…</a:t>
            </a:r>
            <a:endParaRPr lang="en-US" sz="1600" dirty="0"/>
          </a:p>
        </p:txBody>
      </p:sp>
      <p:sp>
        <p:nvSpPr>
          <p:cNvPr id="23" name="Shape 18"/>
          <p:cNvSpPr/>
          <p:nvPr/>
        </p:nvSpPr>
        <p:spPr>
          <a:xfrm>
            <a:off x="8046720" y="1783080"/>
            <a:ext cx="3566160" cy="2926080"/>
          </a:xfrm>
          <a:prstGeom prst="roundRect">
            <a:avLst>
              <a:gd name="adj" fmla="val 3750"/>
            </a:avLst>
          </a:prstGeom>
          <a:solidFill>
            <a:srgbClr val="FBE4F2"/>
          </a:solidFill>
          <a:ln w="9525">
            <a:solidFill>
              <a:srgbClr val="FBE4F2"/>
            </a:solidFill>
            <a:prstDash val="solid"/>
          </a:ln>
        </p:spPr>
        <p:txBody>
          <a:bodyPr/>
          <a:lstStyle/>
          <a:p>
            <a:endParaRPr lang="en-US"/>
          </a:p>
        </p:txBody>
      </p:sp>
      <p:sp>
        <p:nvSpPr>
          <p:cNvPr id="24" name="Shape 19"/>
          <p:cNvSpPr/>
          <p:nvPr/>
        </p:nvSpPr>
        <p:spPr>
          <a:xfrm>
            <a:off x="8321040" y="2011680"/>
            <a:ext cx="548640" cy="548640"/>
          </a:xfrm>
          <a:prstGeom prst="ellipse">
            <a:avLst/>
          </a:prstGeom>
          <a:solidFill>
            <a:srgbClr val="CF128C"/>
          </a:solidFill>
          <a:ln w="12700">
            <a:solidFill>
              <a:srgbClr val="CF128C"/>
            </a:solidFill>
            <a:prstDash val="solid"/>
          </a:ln>
        </p:spPr>
        <p:txBody>
          <a:bodyPr/>
          <a:lstStyle/>
          <a:p>
            <a:endParaRPr lang="en-US"/>
          </a:p>
        </p:txBody>
      </p:sp>
      <p:sp>
        <p:nvSpPr>
          <p:cNvPr id="25" name="Text 20"/>
          <p:cNvSpPr txBox="1"/>
          <p:nvPr/>
        </p:nvSpPr>
        <p:spPr>
          <a:xfrm>
            <a:off x="8321040" y="2011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6" name="Text 21"/>
          <p:cNvSpPr txBox="1"/>
          <p:nvPr/>
        </p:nvSpPr>
        <p:spPr>
          <a:xfrm>
            <a:off x="8321040" y="2697480"/>
            <a:ext cx="3017520" cy="45720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How it connects to Amina</a:t>
            </a:r>
            <a:endParaRPr lang="en-US" sz="2000" dirty="0"/>
          </a:p>
        </p:txBody>
      </p:sp>
      <p:sp>
        <p:nvSpPr>
          <p:cNvPr id="27" name="Text 22"/>
          <p:cNvSpPr txBox="1"/>
          <p:nvPr/>
        </p:nvSpPr>
        <p:spPr>
          <a:xfrm>
            <a:off x="8321040" y="3200400"/>
            <a:ext cx="3017520" cy="1371600"/>
          </a:xfrm>
          <a:prstGeom prst="rect">
            <a:avLst/>
          </a:prstGeom>
          <a:noFill/>
          <a:ln/>
        </p:spPr>
        <p:txBody>
          <a:bodyPr wrap="square" lIns="0" tIns="0" rIns="0" bIns="0" rtlCol="0" anchor="t"/>
          <a:lstStyle/>
          <a:p>
            <a:pPr marL="0" indent="0">
              <a:buNone/>
            </a:pPr>
            <a:r>
              <a:rPr lang="en-US" sz="1600" i="1" dirty="0">
                <a:solidFill>
                  <a:srgbClr val="5B6172"/>
                </a:solidFill>
                <a:latin typeface="Calibri" pitchFamily="34" charset="0"/>
                <a:ea typeface="Calibri" pitchFamily="34" charset="-122"/>
                <a:cs typeface="Calibri" pitchFamily="34" charset="-120"/>
              </a:rPr>
              <a:t>This is like the cells in Amina’s finger because…</a:t>
            </a:r>
            <a:endParaRPr lang="en-US" sz="1600" dirty="0"/>
          </a:p>
        </p:txBody>
      </p:sp>
      <p:sp>
        <p:nvSpPr>
          <p:cNvPr id="28" name="Shape 23"/>
          <p:cNvSpPr/>
          <p:nvPr/>
        </p:nvSpPr>
        <p:spPr>
          <a:xfrm>
            <a:off x="548640" y="498348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731520" y="5138928"/>
            <a:ext cx="237744" cy="237744"/>
          </a:xfrm>
          <a:prstGeom prst="rect">
            <a:avLst/>
          </a:prstGeom>
        </p:spPr>
      </p:pic>
      <p:sp>
        <p:nvSpPr>
          <p:cNvPr id="30" name="Text 24"/>
          <p:cNvSpPr txBox="1"/>
          <p:nvPr/>
        </p:nvSpPr>
        <p:spPr>
          <a:xfrm>
            <a:off x="1051560" y="498348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6:00</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Compare: what you probably saw at high power</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pic>
        <p:nvPicPr>
          <p:cNvPr id="10" name="Image 2" descr="preencoded.png"/>
          <p:cNvPicPr>
            <a:picLocks noChangeAspect="1"/>
          </p:cNvPicPr>
          <p:nvPr/>
        </p:nvPicPr>
        <p:blipFill>
          <a:blip r:embed="rId5"/>
          <a:stretch>
            <a:fillRect/>
          </a:stretch>
        </p:blipFill>
        <p:spPr>
          <a:xfrm>
            <a:off x="548640" y="1645920"/>
            <a:ext cx="7863840" cy="4502683"/>
          </a:xfrm>
          <a:prstGeom prst="rect">
            <a:avLst/>
          </a:prstGeom>
        </p:spPr>
      </p:pic>
      <p:sp>
        <p:nvSpPr>
          <p:cNvPr id="11" name="Shape 6"/>
          <p:cNvSpPr/>
          <p:nvPr/>
        </p:nvSpPr>
        <p:spPr>
          <a:xfrm>
            <a:off x="8686800" y="1783080"/>
            <a:ext cx="2953512" cy="3383280"/>
          </a:xfrm>
          <a:prstGeom prst="roundRect">
            <a:avLst>
              <a:gd name="adj" fmla="val 3715"/>
            </a:avLst>
          </a:prstGeom>
          <a:solidFill>
            <a:srgbClr val="F5F6F9"/>
          </a:solidFill>
          <a:ln w="9525">
            <a:solidFill>
              <a:srgbClr val="E3E6ED"/>
            </a:solidFill>
            <a:prstDash val="solid"/>
          </a:ln>
        </p:spPr>
        <p:txBody>
          <a:bodyPr/>
          <a:lstStyle/>
          <a:p>
            <a:endParaRPr lang="en-US"/>
          </a:p>
        </p:txBody>
      </p:sp>
      <p:sp>
        <p:nvSpPr>
          <p:cNvPr id="12" name="Text 7"/>
          <p:cNvSpPr txBox="1"/>
          <p:nvPr/>
        </p:nvSpPr>
        <p:spPr>
          <a:xfrm>
            <a:off x="8915400" y="1965960"/>
            <a:ext cx="2606040" cy="3108960"/>
          </a:xfrm>
          <a:prstGeom prst="rect">
            <a:avLst/>
          </a:prstGeom>
          <a:noFill/>
          <a:ln/>
        </p:spPr>
        <p:txBody>
          <a:bodyPr wrap="square" lIns="0" tIns="0" rIns="0" bIns="0" rtlCol="0" anchor="t"/>
          <a:lstStyle/>
          <a:p>
            <a:pPr marL="0" indent="0">
              <a:spcAft>
                <a:spcPts val="400"/>
              </a:spcAft>
              <a:buNone/>
            </a:pPr>
            <a:r>
              <a:rPr lang="en-US" sz="1600" b="1" dirty="0">
                <a:solidFill>
                  <a:srgbClr val="111111"/>
                </a:solidFill>
                <a:latin typeface="Calibri" pitchFamily="34" charset="0"/>
                <a:ea typeface="Calibri" pitchFamily="34" charset="-122"/>
                <a:cs typeface="Calibri" pitchFamily="34" charset="-120"/>
              </a:rPr>
              <a:t>Check your drawing</a:t>
            </a:r>
            <a:endParaRPr lang="en-US" sz="1500" dirty="0"/>
          </a:p>
          <a:p>
            <a:pPr marL="342900" indent="-342900">
              <a:spcAft>
                <a:spcPts val="400"/>
              </a:spcAft>
              <a:buSzPct val="100000"/>
              <a:buChar char="•"/>
            </a:pPr>
            <a:r>
              <a:rPr lang="en-US" sz="1500" dirty="0">
                <a:solidFill>
                  <a:srgbClr val="111111"/>
                </a:solidFill>
                <a:latin typeface="Calibri" pitchFamily="34" charset="0"/>
                <a:ea typeface="Calibri" pitchFamily="34" charset="-122"/>
                <a:cs typeface="Calibri" pitchFamily="34" charset="-120"/>
              </a:rPr>
              <a:t>Cells shaped like bricks in rows?</a:t>
            </a:r>
            <a:endParaRPr lang="en-US" sz="1500" dirty="0"/>
          </a:p>
          <a:p>
            <a:pPr marL="342900" indent="-342900">
              <a:spcAft>
                <a:spcPts val="400"/>
              </a:spcAft>
              <a:buSzPct val="100000"/>
              <a:buChar char="•"/>
            </a:pPr>
            <a:r>
              <a:rPr lang="en-US" sz="1500" dirty="0">
                <a:solidFill>
                  <a:srgbClr val="111111"/>
                </a:solidFill>
                <a:latin typeface="Calibri" pitchFamily="34" charset="0"/>
                <a:ea typeface="Calibri" pitchFamily="34" charset="-122"/>
                <a:cs typeface="Calibri" pitchFamily="34" charset="-120"/>
              </a:rPr>
              <a:t>A thick wall around each cell?</a:t>
            </a:r>
            <a:endParaRPr lang="en-US" sz="1500" dirty="0"/>
          </a:p>
          <a:p>
            <a:pPr marL="342900" indent="-342900">
              <a:spcAft>
                <a:spcPts val="400"/>
              </a:spcAft>
              <a:buSzPct val="100000"/>
              <a:buChar char="•"/>
            </a:pPr>
            <a:r>
              <a:rPr lang="en-US" sz="1500" dirty="0">
                <a:solidFill>
                  <a:srgbClr val="111111"/>
                </a:solidFill>
                <a:latin typeface="Calibri" pitchFamily="34" charset="0"/>
                <a:ea typeface="Calibri" pitchFamily="34" charset="-122"/>
                <a:cs typeface="Calibri" pitchFamily="34" charset="-120"/>
              </a:rPr>
              <a:t>One brown nucleus per cell?</a:t>
            </a:r>
            <a:endParaRPr lang="en-US" sz="1500" dirty="0"/>
          </a:p>
          <a:p>
            <a:pPr marL="342900" indent="-342900">
              <a:spcAft>
                <a:spcPts val="400"/>
              </a:spcAft>
              <a:buSzPct val="100000"/>
              <a:buChar char="•"/>
            </a:pPr>
            <a:r>
              <a:rPr lang="en-US" sz="1500" dirty="0">
                <a:solidFill>
                  <a:srgbClr val="111111"/>
                </a:solidFill>
                <a:latin typeface="Calibri" pitchFamily="34" charset="0"/>
                <a:ea typeface="Calibri" pitchFamily="34" charset="-122"/>
                <a:cs typeface="Calibri" pitchFamily="34" charset="-120"/>
              </a:rPr>
              <a:t>No green anywhere?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364992"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3364992"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DRIVING QUESTION BOARD</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What can we now say — with evidence?</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783080"/>
            <a:ext cx="3657600" cy="2743200"/>
          </a:xfrm>
          <a:prstGeom prst="rect">
            <a:avLst/>
          </a:prstGeom>
          <a:solidFill>
            <a:srgbClr val="B5E3A1"/>
          </a:solidFill>
          <a:ln w="12700">
            <a:solidFill>
              <a:srgbClr val="B5E3A1"/>
            </a:solidFill>
            <a:prstDash val="solid"/>
          </a:ln>
          <a:effectLst>
            <a:outerShdw blurRad="63500" dist="38100" dir="5400000" algn="bl" rotWithShape="0">
              <a:srgbClr val="000000">
                <a:alpha val="15000"/>
              </a:srgbClr>
            </a:outerShdw>
          </a:effectLst>
        </p:spPr>
        <p:txBody>
          <a:bodyPr/>
          <a:lstStyle/>
          <a:p>
            <a:endParaRPr lang="en-US"/>
          </a:p>
        </p:txBody>
      </p:sp>
      <p:pic>
        <p:nvPicPr>
          <p:cNvPr id="14" name="Image 3" descr="preencoded.png"/>
          <p:cNvPicPr>
            <a:picLocks noChangeAspect="1"/>
          </p:cNvPicPr>
          <p:nvPr/>
        </p:nvPicPr>
        <p:blipFill>
          <a:blip r:embed="rId3"/>
          <a:stretch>
            <a:fillRect/>
          </a:stretch>
        </p:blipFill>
        <p:spPr>
          <a:xfrm>
            <a:off x="822960" y="2011680"/>
            <a:ext cx="384048" cy="384048"/>
          </a:xfrm>
          <a:prstGeom prst="rect">
            <a:avLst/>
          </a:prstGeom>
        </p:spPr>
      </p:pic>
      <p:sp>
        <p:nvSpPr>
          <p:cNvPr id="15" name="Text 9"/>
          <p:cNvSpPr txBox="1"/>
          <p:nvPr/>
        </p:nvSpPr>
        <p:spPr>
          <a:xfrm>
            <a:off x="822960" y="2560320"/>
            <a:ext cx="3108960" cy="1828800"/>
          </a:xfrm>
          <a:prstGeom prst="rect">
            <a:avLst/>
          </a:prstGeom>
          <a:noFill/>
          <a:ln/>
        </p:spPr>
        <p:txBody>
          <a:bodyPr wrap="square" lIns="0" tIns="0" rIns="0" bIns="0" rtlCol="0" anchor="t"/>
          <a:lstStyle/>
          <a:p>
            <a:pPr marL="0" indent="0">
              <a:buNone/>
            </a:pPr>
            <a:r>
              <a:rPr lang="en-US" sz="2100" b="1" dirty="0">
                <a:solidFill>
                  <a:srgbClr val="111111"/>
                </a:solidFill>
                <a:latin typeface="Calibri" pitchFamily="34" charset="0"/>
                <a:ea typeface="Calibri" pitchFamily="34" charset="-122"/>
                <a:cs typeface="Calibri" pitchFamily="34" charset="-120"/>
              </a:rPr>
              <a:t>Evidence we now have</a:t>
            </a:r>
            <a:endParaRPr lang="en-US" sz="21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2100" dirty="0"/>
          </a:p>
          <a:p>
            <a:pPr marL="0" indent="0">
              <a:buNone/>
            </a:pPr>
            <a:r>
              <a:rPr lang="en-US" sz="1600" dirty="0">
                <a:solidFill>
                  <a:srgbClr val="111111"/>
                </a:solidFill>
                <a:latin typeface="Calibri" pitchFamily="34" charset="0"/>
                <a:ea typeface="Calibri" pitchFamily="34" charset="-122"/>
                <a:cs typeface="Calibri" pitchFamily="34" charset="-120"/>
              </a:rPr>
              <a:t>One thing YOUR microscope showed today that helps answer the driving question.</a:t>
            </a:r>
            <a:endParaRPr lang="en-US" sz="2100" dirty="0"/>
          </a:p>
        </p:txBody>
      </p:sp>
      <p:sp>
        <p:nvSpPr>
          <p:cNvPr id="16" name="Shape 10"/>
          <p:cNvSpPr/>
          <p:nvPr/>
        </p:nvSpPr>
        <p:spPr>
          <a:xfrm>
            <a:off x="4480560" y="1783080"/>
            <a:ext cx="3657600" cy="2743200"/>
          </a:xfrm>
          <a:prstGeom prst="rect">
            <a:avLst/>
          </a:prstGeom>
          <a:solidFill>
            <a:srgbClr val="FFE873"/>
          </a:solidFill>
          <a:ln w="12700">
            <a:solidFill>
              <a:srgbClr val="FFE873"/>
            </a:solidFill>
            <a:prstDash val="solid"/>
          </a:ln>
          <a:effectLst>
            <a:outerShdw blurRad="63500" dist="38100" dir="5400000" algn="bl" rotWithShape="0">
              <a:srgbClr val="000000">
                <a:alpha val="15000"/>
              </a:srgbClr>
            </a:outerShdw>
          </a:effectLst>
        </p:spPr>
        <p:txBody>
          <a:bodyPr/>
          <a:lstStyle/>
          <a:p>
            <a:endParaRPr lang="en-US"/>
          </a:p>
        </p:txBody>
      </p:sp>
      <p:pic>
        <p:nvPicPr>
          <p:cNvPr id="17" name="Image 4" descr="preencoded.png"/>
          <p:cNvPicPr>
            <a:picLocks noChangeAspect="1"/>
          </p:cNvPicPr>
          <p:nvPr/>
        </p:nvPicPr>
        <p:blipFill>
          <a:blip r:embed="rId6"/>
          <a:stretch>
            <a:fillRect/>
          </a:stretch>
        </p:blipFill>
        <p:spPr>
          <a:xfrm>
            <a:off x="4754880" y="2011680"/>
            <a:ext cx="384048" cy="384048"/>
          </a:xfrm>
          <a:prstGeom prst="rect">
            <a:avLst/>
          </a:prstGeom>
        </p:spPr>
      </p:pic>
      <p:sp>
        <p:nvSpPr>
          <p:cNvPr id="18" name="Text 11"/>
          <p:cNvSpPr txBox="1"/>
          <p:nvPr/>
        </p:nvSpPr>
        <p:spPr>
          <a:xfrm>
            <a:off x="4754880" y="2560320"/>
            <a:ext cx="3108960" cy="1828800"/>
          </a:xfrm>
          <a:prstGeom prst="rect">
            <a:avLst/>
          </a:prstGeom>
          <a:noFill/>
          <a:ln/>
        </p:spPr>
        <p:txBody>
          <a:bodyPr wrap="square" lIns="0" tIns="0" rIns="0" bIns="0" rtlCol="0" anchor="t"/>
          <a:lstStyle/>
          <a:p>
            <a:pPr marL="0" indent="0">
              <a:buNone/>
            </a:pPr>
            <a:r>
              <a:rPr lang="en-US" sz="2100" b="1" dirty="0">
                <a:solidFill>
                  <a:srgbClr val="111111"/>
                </a:solidFill>
                <a:latin typeface="Calibri" pitchFamily="34" charset="0"/>
                <a:ea typeface="Calibri" pitchFamily="34" charset="-122"/>
                <a:cs typeface="Calibri" pitchFamily="34" charset="-120"/>
              </a:rPr>
              <a:t>Questions we still need to answer</a:t>
            </a:r>
            <a:endParaRPr lang="en-US" sz="21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2100" dirty="0"/>
          </a:p>
          <a:p>
            <a:pPr marL="0" indent="0">
              <a:buNone/>
            </a:pPr>
            <a:r>
              <a:rPr lang="en-US" sz="1600" dirty="0">
                <a:solidFill>
                  <a:srgbClr val="111111"/>
                </a:solidFill>
                <a:latin typeface="Calibri" pitchFamily="34" charset="0"/>
                <a:ea typeface="Calibri" pitchFamily="34" charset="-122"/>
                <a:cs typeface="Calibri" pitchFamily="34" charset="-120"/>
              </a:rPr>
              <a:t>One new question today’s observation raised.</a:t>
            </a:r>
            <a:endParaRPr lang="en-US" sz="2100" dirty="0"/>
          </a:p>
        </p:txBody>
      </p:sp>
      <p:sp>
        <p:nvSpPr>
          <p:cNvPr id="19" name="Shape 12"/>
          <p:cNvSpPr/>
          <p:nvPr/>
        </p:nvSpPr>
        <p:spPr>
          <a:xfrm>
            <a:off x="8503920" y="1783080"/>
            <a:ext cx="3136392" cy="2743200"/>
          </a:xfrm>
          <a:prstGeom prst="roundRect">
            <a:avLst>
              <a:gd name="adj" fmla="val 4000"/>
            </a:avLst>
          </a:prstGeom>
          <a:solidFill>
            <a:srgbClr val="FFFFFF"/>
          </a:solidFill>
          <a:ln w="9525">
            <a:solidFill>
              <a:srgbClr val="111111"/>
            </a:solidFill>
            <a:prstDash val="solid"/>
          </a:ln>
        </p:spPr>
        <p:txBody>
          <a:bodyPr/>
          <a:lstStyle/>
          <a:p>
            <a:endParaRPr lang="en-US"/>
          </a:p>
        </p:txBody>
      </p:sp>
      <p:pic>
        <p:nvPicPr>
          <p:cNvPr id="20" name="Image 5" descr="preencoded.png"/>
          <p:cNvPicPr>
            <a:picLocks noChangeAspect="1"/>
          </p:cNvPicPr>
          <p:nvPr/>
        </p:nvPicPr>
        <p:blipFill>
          <a:blip r:embed="rId7"/>
          <a:stretch>
            <a:fillRect/>
          </a:stretch>
        </p:blipFill>
        <p:spPr>
          <a:xfrm>
            <a:off x="8732520" y="2011680"/>
            <a:ext cx="384048" cy="384048"/>
          </a:xfrm>
          <a:prstGeom prst="rect">
            <a:avLst/>
          </a:prstGeom>
        </p:spPr>
      </p:pic>
      <p:sp>
        <p:nvSpPr>
          <p:cNvPr id="21" name="Text 13"/>
          <p:cNvSpPr txBox="1"/>
          <p:nvPr/>
        </p:nvSpPr>
        <p:spPr>
          <a:xfrm>
            <a:off x="8732520" y="2560320"/>
            <a:ext cx="2743200" cy="1828800"/>
          </a:xfrm>
          <a:prstGeom prst="rect">
            <a:avLst/>
          </a:prstGeom>
          <a:noFill/>
          <a:ln/>
        </p:spPr>
        <p:txBody>
          <a:bodyPr wrap="square" lIns="0" tIns="0" rIns="0" bIns="0" rtlCol="0" anchor="t"/>
          <a:lstStyle/>
          <a:p>
            <a:pPr marL="0" indent="0">
              <a:buNone/>
            </a:pPr>
            <a:r>
              <a:rPr lang="en-US" sz="1800" b="1" dirty="0">
                <a:solidFill>
                  <a:srgbClr val="111111"/>
                </a:solidFill>
                <a:latin typeface="Calibri" pitchFamily="34" charset="0"/>
                <a:ea typeface="Calibri" pitchFamily="34" charset="-122"/>
                <a:cs typeface="Calibri" pitchFamily="34" charset="-120"/>
              </a:rPr>
              <a:t>Class vote</a:t>
            </a:r>
            <a:endParaRPr lang="en-US" sz="1800" dirty="0"/>
          </a:p>
          <a:p>
            <a:pPr marL="0" indent="0">
              <a:buNone/>
            </a:pPr>
            <a:r>
              <a:rPr lang="en-US" sz="1500" dirty="0">
                <a:solidFill>
                  <a:srgbClr val="111111"/>
                </a:solidFill>
                <a:latin typeface="Calibri" pitchFamily="34" charset="0"/>
                <a:ea typeface="Calibri" pitchFamily="34" charset="-122"/>
                <a:cs typeface="Calibri" pitchFamily="34" charset="-120"/>
              </a:rPr>
              <a:t>Does today’s evidence support this answer?</a:t>
            </a:r>
            <a:endParaRPr lang="en-US" sz="18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800" dirty="0"/>
          </a:p>
          <a:p>
            <a:pPr marL="0" indent="0">
              <a:buNone/>
            </a:pPr>
            <a:r>
              <a:rPr lang="en-US" sz="1500" b="1" dirty="0">
                <a:solidFill>
                  <a:srgbClr val="111111"/>
                </a:solidFill>
                <a:latin typeface="Calibri" pitchFamily="34" charset="0"/>
                <a:ea typeface="Calibri" pitchFamily="34" charset="-122"/>
                <a:cs typeface="Calibri" pitchFamily="34" charset="-120"/>
              </a:rPr>
              <a:t>Thumb UP = yes</a:t>
            </a:r>
            <a:endParaRPr lang="en-US" sz="1800" dirty="0"/>
          </a:p>
          <a:p>
            <a:pPr marL="0" indent="0">
              <a:buNone/>
            </a:pPr>
            <a:r>
              <a:rPr lang="en-US" sz="1500" b="1" dirty="0">
                <a:solidFill>
                  <a:srgbClr val="111111"/>
                </a:solidFill>
                <a:latin typeface="Calibri" pitchFamily="34" charset="0"/>
                <a:ea typeface="Calibri" pitchFamily="34" charset="-122"/>
                <a:cs typeface="Calibri" pitchFamily="34" charset="-120"/>
              </a:rPr>
              <a:t>Thumb SIDEWAYS = partly</a:t>
            </a:r>
            <a:endParaRPr lang="en-US" sz="1800" dirty="0"/>
          </a:p>
          <a:p>
            <a:pPr marL="0" indent="0">
              <a:buNone/>
            </a:pPr>
            <a:r>
              <a:rPr lang="en-US" sz="1500" b="1" dirty="0">
                <a:solidFill>
                  <a:srgbClr val="111111"/>
                </a:solidFill>
                <a:latin typeface="Calibri" pitchFamily="34" charset="0"/>
                <a:ea typeface="Calibri" pitchFamily="34" charset="-122"/>
                <a:cs typeface="Calibri" pitchFamily="34" charset="-120"/>
              </a:rPr>
              <a:t>Thumb DOWN = not sure yet</a:t>
            </a:r>
            <a:endParaRPr lang="en-US" sz="1800" dirty="0"/>
          </a:p>
        </p:txBody>
      </p:sp>
      <p:sp>
        <p:nvSpPr>
          <p:cNvPr id="22" name="Shape 14"/>
          <p:cNvSpPr/>
          <p:nvPr/>
        </p:nvSpPr>
        <p:spPr>
          <a:xfrm>
            <a:off x="548640" y="475488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3" name="Image 6" descr="preencoded.png"/>
          <p:cNvPicPr>
            <a:picLocks noChangeAspect="1"/>
          </p:cNvPicPr>
          <p:nvPr/>
        </p:nvPicPr>
        <p:blipFill>
          <a:blip r:embed="rId8"/>
          <a:stretch>
            <a:fillRect/>
          </a:stretch>
        </p:blipFill>
        <p:spPr>
          <a:xfrm>
            <a:off x="731520" y="4910328"/>
            <a:ext cx="237744" cy="237744"/>
          </a:xfrm>
          <a:prstGeom prst="rect">
            <a:avLst/>
          </a:prstGeom>
        </p:spPr>
      </p:pic>
      <p:sp>
        <p:nvSpPr>
          <p:cNvPr id="24" name="Text 15"/>
          <p:cNvSpPr txBox="1"/>
          <p:nvPr/>
        </p:nvSpPr>
        <p:spPr>
          <a:xfrm>
            <a:off x="1051560" y="475488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3:00</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E44145"/>
          </a:solidFill>
          <a:ln w="12700">
            <a:solidFill>
              <a:srgbClr val="E44145"/>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Revise your cell model — in a NEW colour</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783080"/>
            <a:ext cx="502920" cy="502920"/>
          </a:xfrm>
          <a:prstGeom prst="ellipse">
            <a:avLst/>
          </a:prstGeom>
          <a:solidFill>
            <a:srgbClr val="E44145"/>
          </a:solidFill>
          <a:ln w="12700">
            <a:solidFill>
              <a:srgbClr val="E44145"/>
            </a:solidFill>
            <a:prstDash val="solid"/>
          </a:ln>
        </p:spPr>
        <p:txBody>
          <a:bodyPr/>
          <a:lstStyle/>
          <a:p>
            <a:endParaRPr lang="en-US"/>
          </a:p>
        </p:txBody>
      </p:sp>
      <p:sp>
        <p:nvSpPr>
          <p:cNvPr id="14" name="Text 9"/>
          <p:cNvSpPr txBox="1"/>
          <p:nvPr/>
        </p:nvSpPr>
        <p:spPr>
          <a:xfrm>
            <a:off x="548640" y="17830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Text 10"/>
          <p:cNvSpPr txBox="1"/>
          <p:nvPr/>
        </p:nvSpPr>
        <p:spPr>
          <a:xfrm>
            <a:off x="1280160" y="1709928"/>
            <a:ext cx="6675120" cy="658368"/>
          </a:xfrm>
          <a:prstGeom prst="rect">
            <a:avLst/>
          </a:prstGeom>
          <a:noFill/>
          <a:ln/>
        </p:spPr>
        <p:txBody>
          <a:bodyPr wrap="square" lIns="0" tIns="0" rIns="0" bIns="0" rtlCol="0" anchor="ctr"/>
          <a:lstStyle/>
          <a:p>
            <a:pPr marL="0" indent="0">
              <a:buNone/>
            </a:pPr>
            <a:r>
              <a:rPr lang="en-US" sz="1700" dirty="0">
                <a:solidFill>
                  <a:srgbClr val="111111"/>
                </a:solidFill>
                <a:latin typeface="Calibri" pitchFamily="34" charset="0"/>
                <a:ea typeface="Calibri" pitchFamily="34" charset="-122"/>
                <a:cs typeface="Calibri" pitchFamily="34" charset="-120"/>
              </a:rPr>
              <a:t>Check your cell wall: thicker or thinner than you drew it?</a:t>
            </a:r>
            <a:endParaRPr lang="en-US" sz="1700" dirty="0"/>
          </a:p>
        </p:txBody>
      </p:sp>
      <p:sp>
        <p:nvSpPr>
          <p:cNvPr id="16" name="Shape 11"/>
          <p:cNvSpPr/>
          <p:nvPr/>
        </p:nvSpPr>
        <p:spPr>
          <a:xfrm>
            <a:off x="548640" y="2532888"/>
            <a:ext cx="502920" cy="502920"/>
          </a:xfrm>
          <a:prstGeom prst="ellipse">
            <a:avLst/>
          </a:prstGeom>
          <a:solidFill>
            <a:srgbClr val="E44145"/>
          </a:solidFill>
          <a:ln w="12700">
            <a:solidFill>
              <a:srgbClr val="E44145"/>
            </a:solidFill>
            <a:prstDash val="solid"/>
          </a:ln>
        </p:spPr>
        <p:txBody>
          <a:bodyPr/>
          <a:lstStyle/>
          <a:p>
            <a:endParaRPr lang="en-US"/>
          </a:p>
        </p:txBody>
      </p:sp>
      <p:sp>
        <p:nvSpPr>
          <p:cNvPr id="17" name="Text 12"/>
          <p:cNvSpPr txBox="1"/>
          <p:nvPr/>
        </p:nvSpPr>
        <p:spPr>
          <a:xfrm>
            <a:off x="548640" y="25328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8" name="Text 13"/>
          <p:cNvSpPr txBox="1"/>
          <p:nvPr/>
        </p:nvSpPr>
        <p:spPr>
          <a:xfrm>
            <a:off x="1280160" y="2459736"/>
            <a:ext cx="6675120" cy="658368"/>
          </a:xfrm>
          <a:prstGeom prst="rect">
            <a:avLst/>
          </a:prstGeom>
          <a:noFill/>
          <a:ln/>
        </p:spPr>
        <p:txBody>
          <a:bodyPr wrap="square" lIns="0" tIns="0" rIns="0" bIns="0" rtlCol="0" anchor="ctr"/>
          <a:lstStyle/>
          <a:p>
            <a:pPr marL="0" indent="0">
              <a:buNone/>
            </a:pPr>
            <a:r>
              <a:rPr lang="en-US" sz="1700" dirty="0">
                <a:solidFill>
                  <a:srgbClr val="111111"/>
                </a:solidFill>
                <a:latin typeface="Calibri" pitchFamily="34" charset="0"/>
                <a:ea typeface="Calibri" pitchFamily="34" charset="-122"/>
                <a:cs typeface="Calibri" pitchFamily="34" charset="-120"/>
              </a:rPr>
              <a:t>Add the large central vacuole if it is missing.</a:t>
            </a:r>
            <a:endParaRPr lang="en-US" sz="1700" dirty="0"/>
          </a:p>
        </p:txBody>
      </p:sp>
      <p:sp>
        <p:nvSpPr>
          <p:cNvPr id="19" name="Shape 14"/>
          <p:cNvSpPr/>
          <p:nvPr/>
        </p:nvSpPr>
        <p:spPr>
          <a:xfrm>
            <a:off x="548640" y="3282696"/>
            <a:ext cx="502920" cy="502920"/>
          </a:xfrm>
          <a:prstGeom prst="ellipse">
            <a:avLst/>
          </a:prstGeom>
          <a:solidFill>
            <a:srgbClr val="E44145"/>
          </a:solidFill>
          <a:ln w="12700">
            <a:solidFill>
              <a:srgbClr val="E44145"/>
            </a:solidFill>
            <a:prstDash val="solid"/>
          </a:ln>
        </p:spPr>
        <p:txBody>
          <a:bodyPr/>
          <a:lstStyle/>
          <a:p>
            <a:endParaRPr lang="en-US"/>
          </a:p>
        </p:txBody>
      </p:sp>
      <p:sp>
        <p:nvSpPr>
          <p:cNvPr id="20" name="Text 15"/>
          <p:cNvSpPr txBox="1"/>
          <p:nvPr/>
        </p:nvSpPr>
        <p:spPr>
          <a:xfrm>
            <a:off x="548640" y="328269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6"/>
          <p:cNvSpPr txBox="1"/>
          <p:nvPr/>
        </p:nvSpPr>
        <p:spPr>
          <a:xfrm>
            <a:off x="1280160" y="3209544"/>
            <a:ext cx="6675120" cy="658368"/>
          </a:xfrm>
          <a:prstGeom prst="rect">
            <a:avLst/>
          </a:prstGeom>
          <a:noFill/>
          <a:ln/>
        </p:spPr>
        <p:txBody>
          <a:bodyPr wrap="square" lIns="0" tIns="0" rIns="0" bIns="0" rtlCol="0" anchor="ctr"/>
          <a:lstStyle/>
          <a:p>
            <a:pPr marL="0" indent="0">
              <a:buNone/>
            </a:pPr>
            <a:r>
              <a:rPr lang="en-US" sz="1700" dirty="0">
                <a:solidFill>
                  <a:srgbClr val="111111"/>
                </a:solidFill>
                <a:latin typeface="Calibri" pitchFamily="34" charset="0"/>
                <a:ea typeface="Calibri" pitchFamily="34" charset="-122"/>
                <a:cs typeface="Calibri" pitchFamily="34" charset="-120"/>
              </a:rPr>
              <a:t>Add a note: “Chloroplasts only in cells that get light (e.g. leaf cells) — NOT in onion skin, NOT in human cells.”</a:t>
            </a:r>
            <a:endParaRPr lang="en-US" sz="1700" dirty="0"/>
          </a:p>
        </p:txBody>
      </p:sp>
      <p:sp>
        <p:nvSpPr>
          <p:cNvPr id="22" name="Shape 17"/>
          <p:cNvSpPr/>
          <p:nvPr/>
        </p:nvSpPr>
        <p:spPr>
          <a:xfrm>
            <a:off x="548640" y="4032504"/>
            <a:ext cx="502920" cy="502920"/>
          </a:xfrm>
          <a:prstGeom prst="ellipse">
            <a:avLst/>
          </a:prstGeom>
          <a:solidFill>
            <a:srgbClr val="E44145"/>
          </a:solidFill>
          <a:ln w="12700">
            <a:solidFill>
              <a:srgbClr val="E44145"/>
            </a:solidFill>
            <a:prstDash val="solid"/>
          </a:ln>
        </p:spPr>
        <p:txBody>
          <a:bodyPr/>
          <a:lstStyle/>
          <a:p>
            <a:endParaRPr lang="en-US"/>
          </a:p>
        </p:txBody>
      </p:sp>
      <p:sp>
        <p:nvSpPr>
          <p:cNvPr id="23" name="Text 18"/>
          <p:cNvSpPr txBox="1"/>
          <p:nvPr/>
        </p:nvSpPr>
        <p:spPr>
          <a:xfrm>
            <a:off x="548640" y="4032504"/>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19"/>
          <p:cNvSpPr txBox="1"/>
          <p:nvPr/>
        </p:nvSpPr>
        <p:spPr>
          <a:xfrm>
            <a:off x="1280160" y="3959352"/>
            <a:ext cx="6675120" cy="658368"/>
          </a:xfrm>
          <a:prstGeom prst="rect">
            <a:avLst/>
          </a:prstGeom>
          <a:noFill/>
          <a:ln/>
        </p:spPr>
        <p:txBody>
          <a:bodyPr wrap="square" lIns="0" tIns="0" rIns="0" bIns="0" rtlCol="0" anchor="ctr"/>
          <a:lstStyle/>
          <a:p>
            <a:pPr marL="0" indent="0">
              <a:buNone/>
            </a:pPr>
            <a:r>
              <a:rPr lang="en-US" sz="1700" dirty="0">
                <a:solidFill>
                  <a:srgbClr val="111111"/>
                </a:solidFill>
                <a:latin typeface="Calibri" pitchFamily="34" charset="0"/>
                <a:ea typeface="Calibri" pitchFamily="34" charset="-122"/>
                <a:cs typeface="Calibri" pitchFamily="34" charset="-120"/>
              </a:rPr>
              <a:t>Add a caption: “This model is based on evidence from: …” (list your sources so far).</a:t>
            </a:r>
            <a:endParaRPr lang="en-US" sz="1700" dirty="0"/>
          </a:p>
        </p:txBody>
      </p:sp>
      <p:sp>
        <p:nvSpPr>
          <p:cNvPr id="25" name="Shape 20"/>
          <p:cNvSpPr/>
          <p:nvPr/>
        </p:nvSpPr>
        <p:spPr>
          <a:xfrm>
            <a:off x="8229600" y="1783080"/>
            <a:ext cx="3410712" cy="2834640"/>
          </a:xfrm>
          <a:prstGeom prst="roundRect">
            <a:avLst>
              <a:gd name="adj" fmla="val 3871"/>
            </a:avLst>
          </a:prstGeom>
          <a:solidFill>
            <a:srgbClr val="FCE6E6"/>
          </a:solidFill>
          <a:ln w="9525">
            <a:solidFill>
              <a:srgbClr val="FCE6E6"/>
            </a:solidFill>
            <a:prstDash val="solid"/>
          </a:ln>
        </p:spPr>
        <p:txBody>
          <a:bodyPr/>
          <a:lstStyle/>
          <a:p>
            <a:endParaRPr lang="en-US"/>
          </a:p>
        </p:txBody>
      </p:sp>
      <p:sp>
        <p:nvSpPr>
          <p:cNvPr id="26" name="Text 21"/>
          <p:cNvSpPr txBox="1"/>
          <p:nvPr/>
        </p:nvSpPr>
        <p:spPr>
          <a:xfrm>
            <a:off x="8458200" y="1965960"/>
            <a:ext cx="3017520" cy="2560320"/>
          </a:xfrm>
          <a:prstGeom prst="rect">
            <a:avLst/>
          </a:prstGeom>
          <a:noFill/>
          <a:ln/>
        </p:spPr>
        <p:txBody>
          <a:bodyPr wrap="square" lIns="0" tIns="0" rIns="0" bIns="0" rtlCol="0" anchor="t"/>
          <a:lstStyle/>
          <a:p>
            <a:pPr marL="0" indent="0">
              <a:buNone/>
            </a:pPr>
            <a:r>
              <a:rPr lang="en-US" sz="1600" b="1" dirty="0">
                <a:solidFill>
                  <a:srgbClr val="C4262A"/>
                </a:solidFill>
                <a:latin typeface="Calibri" pitchFamily="34" charset="0"/>
                <a:ea typeface="Calibri" pitchFamily="34" charset="-122"/>
                <a:cs typeface="Calibri" pitchFamily="34" charset="-120"/>
              </a:rPr>
              <a:t>Last 60 seconds</a:t>
            </a:r>
            <a:endParaRPr lang="en-US" sz="1600" dirty="0"/>
          </a:p>
          <a:p>
            <a:pPr marL="0" indent="0">
              <a:buNone/>
            </a:pPr>
            <a:r>
              <a:rPr lang="en-US" sz="1600" dirty="0">
                <a:solidFill>
                  <a:srgbClr val="111111"/>
                </a:solidFill>
                <a:latin typeface="Calibri" pitchFamily="34" charset="0"/>
                <a:ea typeface="Calibri" pitchFamily="34" charset="-122"/>
                <a:cs typeface="Calibri" pitchFamily="34" charset="-120"/>
              </a:rPr>
              <a:t>Write one sentence: what will be DIFFERENT when we look at an animal cell next lesson?</a:t>
            </a:r>
            <a:endParaRPr lang="en-US" sz="16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600" dirty="0"/>
          </a:p>
          <a:p>
            <a:pPr marL="0" indent="0">
              <a:buNone/>
            </a:pPr>
            <a:r>
              <a:rPr lang="en-US" sz="1400" i="1" dirty="0">
                <a:solidFill>
                  <a:srgbClr val="5B6172"/>
                </a:solidFill>
                <a:latin typeface="Calibri" pitchFamily="34" charset="0"/>
                <a:ea typeface="Calibri" pitchFamily="34" charset="-122"/>
                <a:cs typeface="Calibri" pitchFamily="34" charset="-120"/>
              </a:rPr>
              <a:t>Think: platelets, neutrophils, fibroblasts.</a:t>
            </a:r>
            <a:endParaRPr lang="en-US" sz="1600" dirty="0"/>
          </a:p>
        </p:txBody>
      </p:sp>
      <p:sp>
        <p:nvSpPr>
          <p:cNvPr id="27" name="Shape 22"/>
          <p:cNvSpPr/>
          <p:nvPr/>
        </p:nvSpPr>
        <p:spPr>
          <a:xfrm>
            <a:off x="548640" y="489204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731520" y="5047488"/>
            <a:ext cx="237744" cy="237744"/>
          </a:xfrm>
          <a:prstGeom prst="rect">
            <a:avLst/>
          </a:prstGeom>
        </p:spPr>
      </p:pic>
      <p:sp>
        <p:nvSpPr>
          <p:cNvPr id="29" name="Text 23"/>
          <p:cNvSpPr txBox="1"/>
          <p:nvPr/>
        </p:nvSpPr>
        <p:spPr>
          <a:xfrm>
            <a:off x="1051560" y="489204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6:00</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3364992"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3364992"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DRIVING QUESTION BOARD</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Summary Table: Lesson 6</a:t>
            </a:r>
            <a:endParaRPr lang="en-US" sz="3400" dirty="0"/>
          </a:p>
        </p:txBody>
      </p:sp>
      <p:sp>
        <p:nvSpPr>
          <p:cNvPr id="5" name="Text 3"/>
          <p:cNvSpPr txBox="1"/>
          <p:nvPr/>
        </p:nvSpPr>
        <p:spPr>
          <a:xfrm>
            <a:off x="548640" y="1600200"/>
            <a:ext cx="10972800" cy="411480"/>
          </a:xfrm>
          <a:prstGeom prst="rect">
            <a:avLst/>
          </a:prstGeom>
          <a:noFill/>
          <a:ln/>
        </p:spPr>
        <p:txBody>
          <a:bodyPr wrap="square" lIns="0" tIns="0" rIns="0" bIns="0" rtlCol="0" anchor="ctr"/>
          <a:lstStyle/>
          <a:p>
            <a:pPr marL="0" indent="0">
              <a:buNone/>
            </a:pPr>
            <a:r>
              <a:rPr lang="en-US" sz="1700" dirty="0">
                <a:solidFill>
                  <a:srgbClr val="C8CBD2"/>
                </a:solidFill>
                <a:latin typeface="Calibri" pitchFamily="34" charset="0"/>
                <a:ea typeface="Calibri" pitchFamily="34" charset="-122"/>
                <a:cs typeface="Calibri" pitchFamily="34" charset="-120"/>
              </a:rPr>
              <a:t>Fill in the Lesson 6 row of your Summary Table.</a:t>
            </a:r>
            <a:endParaRPr lang="en-US" sz="1700" dirty="0"/>
          </a:p>
        </p:txBody>
      </p:sp>
      <p:sp>
        <p:nvSpPr>
          <p:cNvPr id="6" name="Shape 4"/>
          <p:cNvSpPr/>
          <p:nvPr/>
        </p:nvSpPr>
        <p:spPr>
          <a:xfrm>
            <a:off x="54864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7" name="Shape 5"/>
          <p:cNvSpPr/>
          <p:nvPr/>
        </p:nvSpPr>
        <p:spPr>
          <a:xfrm>
            <a:off x="822960" y="2487168"/>
            <a:ext cx="502920" cy="502920"/>
          </a:xfrm>
          <a:prstGeom prst="ellipse">
            <a:avLst/>
          </a:prstGeom>
          <a:solidFill>
            <a:srgbClr val="47C6E4"/>
          </a:solidFill>
          <a:ln w="12700">
            <a:solidFill>
              <a:srgbClr val="47C6E4"/>
            </a:solidFill>
            <a:prstDash val="solid"/>
          </a:ln>
        </p:spPr>
        <p:txBody>
          <a:bodyPr/>
          <a:lstStyle/>
          <a:p>
            <a:endParaRPr lang="en-US"/>
          </a:p>
        </p:txBody>
      </p:sp>
      <p:sp>
        <p:nvSpPr>
          <p:cNvPr id="8" name="Text 6"/>
          <p:cNvSpPr txBox="1"/>
          <p:nvPr/>
        </p:nvSpPr>
        <p:spPr>
          <a:xfrm>
            <a:off x="82296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82296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observe?</a:t>
            </a:r>
            <a:endParaRPr lang="en-US" sz="2000" dirty="0"/>
          </a:p>
        </p:txBody>
      </p:sp>
      <p:sp>
        <p:nvSpPr>
          <p:cNvPr id="10" name="Text 8"/>
          <p:cNvSpPr txBox="1"/>
          <p:nvPr/>
        </p:nvSpPr>
        <p:spPr>
          <a:xfrm>
            <a:off x="82296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What did the onion cells look like? What was missing?</a:t>
            </a:r>
            <a:endParaRPr lang="en-US" sz="1350" dirty="0"/>
          </a:p>
        </p:txBody>
      </p:sp>
      <p:sp>
        <p:nvSpPr>
          <p:cNvPr id="11" name="Shape 9"/>
          <p:cNvSpPr/>
          <p:nvPr/>
        </p:nvSpPr>
        <p:spPr>
          <a:xfrm>
            <a:off x="429768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2" name="Shape 10"/>
          <p:cNvSpPr/>
          <p:nvPr/>
        </p:nvSpPr>
        <p:spPr>
          <a:xfrm>
            <a:off x="4572000" y="2487168"/>
            <a:ext cx="502920" cy="502920"/>
          </a:xfrm>
          <a:prstGeom prst="ellipse">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457200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57200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learn?</a:t>
            </a:r>
            <a:endParaRPr lang="en-US" sz="2000" dirty="0"/>
          </a:p>
        </p:txBody>
      </p:sp>
      <p:sp>
        <p:nvSpPr>
          <p:cNvPr id="15" name="Text 13"/>
          <p:cNvSpPr txBox="1"/>
          <p:nvPr/>
        </p:nvSpPr>
        <p:spPr>
          <a:xfrm>
            <a:off x="457200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Why do onion skin cells have no chloroplasts? What is specialisation?</a:t>
            </a:r>
            <a:endParaRPr lang="en-US" sz="1350" dirty="0"/>
          </a:p>
        </p:txBody>
      </p:sp>
      <p:sp>
        <p:nvSpPr>
          <p:cNvPr id="16" name="Shape 14"/>
          <p:cNvSpPr/>
          <p:nvPr/>
        </p:nvSpPr>
        <p:spPr>
          <a:xfrm>
            <a:off x="804672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7" name="Shape 15"/>
          <p:cNvSpPr/>
          <p:nvPr/>
        </p:nvSpPr>
        <p:spPr>
          <a:xfrm>
            <a:off x="8321040" y="2487168"/>
            <a:ext cx="502920" cy="502920"/>
          </a:xfrm>
          <a:prstGeom prst="ellipse">
            <a:avLst/>
          </a:prstGeom>
          <a:solidFill>
            <a:srgbClr val="CF128C"/>
          </a:solidFill>
          <a:ln w="12700">
            <a:solidFill>
              <a:srgbClr val="CF128C"/>
            </a:solidFill>
            <a:prstDash val="solid"/>
          </a:ln>
        </p:spPr>
        <p:txBody>
          <a:bodyPr/>
          <a:lstStyle/>
          <a:p>
            <a:endParaRPr lang="en-US"/>
          </a:p>
        </p:txBody>
      </p:sp>
      <p:sp>
        <p:nvSpPr>
          <p:cNvPr id="18" name="Text 16"/>
          <p:cNvSpPr txBox="1"/>
          <p:nvPr/>
        </p:nvSpPr>
        <p:spPr>
          <a:xfrm>
            <a:off x="8321040" y="24871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32104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How does this explain the phenomenon?</a:t>
            </a:r>
            <a:endParaRPr lang="en-US" sz="2000" dirty="0"/>
          </a:p>
        </p:txBody>
      </p:sp>
      <p:sp>
        <p:nvSpPr>
          <p:cNvPr id="20" name="Text 18"/>
          <p:cNvSpPr txBox="1"/>
          <p:nvPr/>
        </p:nvSpPr>
        <p:spPr>
          <a:xfrm>
            <a:off x="832104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How is the onion cell like the cells healing Amina’s finger?</a:t>
            </a:r>
            <a:endParaRPr lang="en-US" sz="1350" dirty="0"/>
          </a:p>
        </p:txBody>
      </p:sp>
      <p:sp>
        <p:nvSpPr>
          <p:cNvPr id="21" name="Text 19"/>
          <p:cNvSpPr txBox="1"/>
          <p:nvPr/>
        </p:nvSpPr>
        <p:spPr>
          <a:xfrm>
            <a:off x="548640" y="5257800"/>
            <a:ext cx="10972800" cy="457200"/>
          </a:xfrm>
          <a:prstGeom prst="rect">
            <a:avLst/>
          </a:prstGeom>
          <a:noFill/>
          <a:ln/>
        </p:spPr>
        <p:txBody>
          <a:bodyPr wrap="square" lIns="0" tIns="0" rIns="0" bIns="0" rtlCol="0" anchor="ctr"/>
          <a:lstStyle/>
          <a:p>
            <a:pPr marL="0" indent="0">
              <a:buNone/>
            </a:pPr>
            <a:r>
              <a:rPr lang="en-US" sz="1800" b="1" dirty="0">
                <a:solidFill>
                  <a:srgbClr val="FCBA63"/>
                </a:solidFill>
                <a:latin typeface="Calibri" pitchFamily="34" charset="0"/>
                <a:ea typeface="Calibri" pitchFamily="34" charset="-122"/>
                <a:cs typeface="Calibri" pitchFamily="34" charset="-120"/>
              </a:rPr>
              <a:t>Next lesson: our own cheek cells under the microscope.</a:t>
            </a:r>
            <a:endParaRPr lang="en-US" sz="1800" dirty="0"/>
          </a:p>
        </p:txBody>
      </p:sp>
      <p:sp>
        <p:nvSpPr>
          <p:cNvPr id="22" name="Text 20"/>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6</a:t>
            </a:r>
            <a:endParaRPr lang="en-US" sz="900" dirty="0"/>
          </a:p>
        </p:txBody>
      </p:sp>
      <p:sp>
        <p:nvSpPr>
          <p:cNvPr id="23" name="Shape 21"/>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25" name="Shape 22"/>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5557</Words>
  <Application>Microsoft Office PowerPoint</Application>
  <PresentationFormat>Widescreen</PresentationFormat>
  <Paragraphs>315</Paragraphs>
  <Slides>17</Slides>
  <Notes>17</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G10 · Cell Structure · Lesson 6 · Onion Cells Practical</dc:title>
  <dc:subject>PptxGenJS Presentation</dc:subject>
  <dc:creator>SeaVuria &amp; ARES Education</dc:creator>
  <cp:lastModifiedBy>Mark Knittel</cp:lastModifiedBy>
  <cp:revision>1</cp:revision>
  <dcterms:created xsi:type="dcterms:W3CDTF">2026-10-10T02:13:13Z</dcterms:created>
  <dcterms:modified xsi:type="dcterms:W3CDTF">2026-10-17T17:52:59Z</dcterms:modified>
</cp:coreProperties>
</file>